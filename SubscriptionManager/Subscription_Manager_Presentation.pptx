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1"/>
  </p:sldMasterIdLst>
  <p:notesMasterIdLst>
    <p:notesMasterId r:id="rId23"/>
  </p:notesMasterIdLst>
  <p:handoutMasterIdLst>
    <p:handoutMasterId r:id="rId24"/>
  </p:handoutMasterIdLst>
  <p:sldIdLst>
    <p:sldId id="256" r:id="rId2"/>
    <p:sldId id="257" r:id="rId3"/>
    <p:sldId id="258" r:id="rId4"/>
    <p:sldId id="259" r:id="rId5"/>
    <p:sldId id="260" r:id="rId6"/>
    <p:sldId id="261" r:id="rId7"/>
    <p:sldId id="262" r:id="rId8"/>
    <p:sldId id="263" r:id="rId9"/>
    <p:sldId id="271" r:id="rId10"/>
    <p:sldId id="272" r:id="rId11"/>
    <p:sldId id="273" r:id="rId12"/>
    <p:sldId id="274" r:id="rId13"/>
    <p:sldId id="275" r:id="rId14"/>
    <p:sldId id="276" r:id="rId15"/>
    <p:sldId id="265" r:id="rId16"/>
    <p:sldId id="264" r:id="rId17"/>
    <p:sldId id="266" r:id="rId18"/>
    <p:sldId id="267" r:id="rId19"/>
    <p:sldId id="268" r:id="rId20"/>
    <p:sldId id="269" r:id="rId21"/>
    <p:sldId id="270" r:id="rId22"/>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9" d="100"/>
          <a:sy n="69" d="100"/>
        </p:scale>
        <p:origin x="54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75CD3D1-55FD-4430-A704-4CB8140FF006}"/>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4089542-AB63-48D5-9DB7-EE75145F6A04}"/>
              </a:ext>
            </a:extLst>
          </p:cNvPr>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69524EF8-1605-43FB-BFE1-3D6227744D2D}" type="datetimeFigureOut">
              <a:rPr lang="en-US" smtClean="0"/>
              <a:t>08/18/2026</a:t>
            </a:fld>
            <a:endParaRPr lang="en-US"/>
          </a:p>
        </p:txBody>
      </p:sp>
      <p:sp>
        <p:nvSpPr>
          <p:cNvPr id="4" name="Footer Placeholder 3">
            <a:extLst>
              <a:ext uri="{FF2B5EF4-FFF2-40B4-BE49-F238E27FC236}">
                <a16:creationId xmlns:a16="http://schemas.microsoft.com/office/drawing/2014/main" id="{D2C1DC3C-1125-4693-AB70-CA13159B3F4E}"/>
              </a:ext>
            </a:extLst>
          </p:cNvPr>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98149D8-5D6F-46BB-B4C0-1A0271DABED3}"/>
              </a:ext>
            </a:extLst>
          </p:cNvPr>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72F345C2-63A2-4AD0-8EDD-D3F5F532AA62}" type="slidenum">
              <a:rPr lang="en-US" smtClean="0"/>
              <a:t>‹#›</a:t>
            </a:fld>
            <a:endParaRPr lang="en-US"/>
          </a:p>
        </p:txBody>
      </p:sp>
    </p:spTree>
    <p:extLst>
      <p:ext uri="{BB962C8B-B14F-4D97-AF65-F5344CB8AC3E}">
        <p14:creationId xmlns:p14="http://schemas.microsoft.com/office/powerpoint/2010/main" val="32288158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625882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11930318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08/18/2026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740874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08/18/2026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660021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08/18/2026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839668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08/18/2026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707885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08/18/2026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991458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08/18/2026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496215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08/18/2026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018262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08/18/2026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359831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08/18/2026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865491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08/18/2026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7425026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08/18/2026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22F896-40B5-4ADD-8801-0D06FADFA095}"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34142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08/18/2026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596164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08/18/2026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054729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08/18/2026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5176965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08/18/2026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332533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08/18/2026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291218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06767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48A87A34-81AB-432B-8DAE-1953F412C126}" type="datetimeFigureOut">
              <a:rPr lang="en-US" smtClean="0"/>
              <a:pPr/>
              <a:t>08/18/2026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964467471"/>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7.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7.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7.xml"/><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7.xml"/><Relationship Id="rId5" Type="http://schemas.openxmlformats.org/officeDocument/2006/relationships/image" Target="../media/image32.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6" name="Text 3"/>
          <p:cNvSpPr/>
          <p:nvPr/>
        </p:nvSpPr>
        <p:spPr>
          <a:xfrm>
            <a:off x="594360" y="2331720"/>
            <a:ext cx="9144000" cy="365760"/>
          </a:xfrm>
          <a:prstGeom prst="rect">
            <a:avLst/>
          </a:prstGeom>
          <a:noFill/>
          <a:ln/>
        </p:spPr>
        <p:txBody>
          <a:bodyPr wrap="square" rtlCol="0" anchor="ctr"/>
          <a:lstStyle/>
          <a:p>
            <a:pPr marL="0" indent="0">
              <a:buNone/>
            </a:pPr>
            <a:r>
              <a:rPr lang="en-US" sz="1400" b="1" kern="0" spc="200" dirty="0">
                <a:solidFill>
                  <a:srgbClr val="3FC1B0"/>
                </a:solidFill>
                <a:latin typeface="Times New Roman" panose="02020603050405020304" pitchFamily="18" charset="0"/>
                <a:ea typeface="Calibri" pitchFamily="34" charset="-122"/>
                <a:cs typeface="Times New Roman" panose="02020603050405020304" pitchFamily="18" charset="0"/>
              </a:rPr>
              <a:t>JAVA GUI APPLICATION  •  THEORY PROJECT</a:t>
            </a:r>
            <a:endParaRPr lang="en-US" sz="1400" dirty="0">
              <a:latin typeface="Times New Roman" panose="02020603050405020304" pitchFamily="18" charset="0"/>
              <a:cs typeface="Times New Roman" panose="02020603050405020304" pitchFamily="18" charset="0"/>
            </a:endParaRPr>
          </a:p>
        </p:txBody>
      </p:sp>
      <p:sp>
        <p:nvSpPr>
          <p:cNvPr id="7" name="Text 4"/>
          <p:cNvSpPr/>
          <p:nvPr/>
        </p:nvSpPr>
        <p:spPr>
          <a:xfrm>
            <a:off x="548640" y="2697480"/>
            <a:ext cx="10515600" cy="1188720"/>
          </a:xfrm>
          <a:prstGeom prst="rect">
            <a:avLst/>
          </a:prstGeom>
          <a:noFill/>
          <a:ln/>
        </p:spPr>
        <p:txBody>
          <a:bodyPr wrap="square" rtlCol="0" anchor="ctr"/>
          <a:lstStyle/>
          <a:p>
            <a:pPr marL="0" indent="0">
              <a:buNone/>
            </a:pPr>
            <a:r>
              <a:rPr lang="en-US" sz="5400" b="1" dirty="0">
                <a:solidFill>
                  <a:srgbClr val="00B0F0"/>
                </a:solidFill>
                <a:latin typeface="Times New Roman" panose="02020603050405020304" pitchFamily="18" charset="0"/>
                <a:ea typeface="Cambria" pitchFamily="34" charset="-122"/>
                <a:cs typeface="Times New Roman" panose="02020603050405020304" pitchFamily="18" charset="0"/>
              </a:rPr>
              <a:t>Subscription Manager</a:t>
            </a:r>
            <a:endParaRPr lang="en-US" sz="5400" dirty="0">
              <a:solidFill>
                <a:srgbClr val="00B0F0"/>
              </a:solidFill>
              <a:latin typeface="Times New Roman" panose="02020603050405020304" pitchFamily="18" charset="0"/>
              <a:cs typeface="Times New Roman" panose="02020603050405020304" pitchFamily="18" charset="0"/>
            </a:endParaRPr>
          </a:p>
        </p:txBody>
      </p:sp>
      <p:sp>
        <p:nvSpPr>
          <p:cNvPr id="8" name="Text 5"/>
          <p:cNvSpPr/>
          <p:nvPr/>
        </p:nvSpPr>
        <p:spPr>
          <a:xfrm>
            <a:off x="594360" y="3794760"/>
            <a:ext cx="9601200" cy="548640"/>
          </a:xfrm>
          <a:prstGeom prst="rect">
            <a:avLst/>
          </a:prstGeom>
          <a:noFill/>
          <a:ln/>
        </p:spPr>
        <p:txBody>
          <a:bodyPr wrap="square" rtlCol="0" anchor="ctr"/>
          <a:lstStyle/>
          <a:p>
            <a:pPr marL="0" indent="0">
              <a:buNone/>
            </a:pPr>
            <a:r>
              <a:rPr lang="en-US" sz="1800" b="1" i="1" dirty="0">
                <a:solidFill>
                  <a:schemeClr val="accent5">
                    <a:lumMod val="75000"/>
                  </a:schemeClr>
                </a:solidFill>
                <a:latin typeface="Times New Roman" panose="02020603050405020304" pitchFamily="18" charset="0"/>
                <a:ea typeface="Calibri" pitchFamily="34" charset="-122"/>
                <a:cs typeface="Times New Roman" panose="02020603050405020304" pitchFamily="18" charset="0"/>
              </a:rPr>
              <a:t>Desktop Subscription Tracking and Budget Management System</a:t>
            </a:r>
            <a:endParaRPr lang="en-US" sz="1800" b="1"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9" name="Text 6"/>
          <p:cNvSpPr/>
          <p:nvPr/>
        </p:nvSpPr>
        <p:spPr>
          <a:xfrm>
            <a:off x="594360" y="5715000"/>
            <a:ext cx="10058400" cy="365760"/>
          </a:xfrm>
          <a:prstGeom prst="rect">
            <a:avLst/>
          </a:prstGeom>
          <a:noFill/>
          <a:ln/>
        </p:spPr>
        <p:txBody>
          <a:bodyPr wrap="square" rtlCol="0" anchor="ctr"/>
          <a:lstStyle/>
          <a:p>
            <a:pPr marL="0" indent="0">
              <a:buNone/>
            </a:pPr>
            <a:r>
              <a:rPr lang="en-US" sz="1400" b="1" dirty="0">
                <a:solidFill>
                  <a:srgbClr val="00B0F0"/>
                </a:solidFill>
                <a:latin typeface="Calibri" pitchFamily="34" charset="0"/>
                <a:ea typeface="Calibri" pitchFamily="34" charset="-122"/>
                <a:cs typeface="Calibri" pitchFamily="34" charset="-120"/>
              </a:rPr>
              <a:t>         </a:t>
            </a:r>
            <a:r>
              <a:rPr lang="en-US" sz="1400" b="1" dirty="0" err="1">
                <a:solidFill>
                  <a:srgbClr val="00B0F0"/>
                </a:solidFill>
                <a:latin typeface="Calibri" pitchFamily="34" charset="0"/>
                <a:ea typeface="Calibri" pitchFamily="34" charset="-122"/>
                <a:cs typeface="Calibri" pitchFamily="34" charset="-120"/>
              </a:rPr>
              <a:t>Raiyan</a:t>
            </a:r>
            <a:r>
              <a:rPr lang="en-US" sz="1400" b="1" dirty="0">
                <a:solidFill>
                  <a:srgbClr val="00B0F0"/>
                </a:solidFill>
                <a:latin typeface="Calibri" pitchFamily="34" charset="0"/>
                <a:ea typeface="Calibri" pitchFamily="34" charset="-122"/>
                <a:cs typeface="Calibri" pitchFamily="34" charset="-120"/>
              </a:rPr>
              <a:t> Choudhury   </a:t>
            </a:r>
            <a:r>
              <a:rPr lang="en-US" sz="1400" dirty="0">
                <a:solidFill>
                  <a:srgbClr val="00B0F0"/>
                </a:solidFill>
                <a:latin typeface="Calibri" pitchFamily="34" charset="0"/>
                <a:ea typeface="Calibri" pitchFamily="34" charset="-122"/>
                <a:cs typeface="Calibri" pitchFamily="34" charset="-120"/>
              </a:rPr>
              <a:t>•   </a:t>
            </a:r>
            <a:r>
              <a:rPr lang="en-US" sz="1400" b="1" dirty="0">
                <a:solidFill>
                  <a:srgbClr val="00B0F0"/>
                </a:solidFill>
                <a:latin typeface="Calibri" pitchFamily="34" charset="0"/>
                <a:ea typeface="Calibri" pitchFamily="34" charset="-122"/>
                <a:cs typeface="Calibri" pitchFamily="34" charset="-120"/>
              </a:rPr>
              <a:t>Tafsir Hasan   </a:t>
            </a:r>
            <a:r>
              <a:rPr lang="en-US" sz="1400" dirty="0">
                <a:solidFill>
                  <a:srgbClr val="00B0F0"/>
                </a:solidFill>
                <a:latin typeface="Calibri" pitchFamily="34" charset="0"/>
                <a:ea typeface="Calibri" pitchFamily="34" charset="-122"/>
                <a:cs typeface="Calibri" pitchFamily="34" charset="-120"/>
              </a:rPr>
              <a:t>•   </a:t>
            </a:r>
            <a:r>
              <a:rPr lang="en-US" sz="1400" b="1" dirty="0">
                <a:solidFill>
                  <a:srgbClr val="00B0F0"/>
                </a:solidFill>
                <a:latin typeface="Calibri" pitchFamily="34" charset="0"/>
                <a:ea typeface="Calibri" pitchFamily="34" charset="-122"/>
                <a:cs typeface="Calibri" pitchFamily="34" charset="-120"/>
              </a:rPr>
              <a:t>Hassan Shayer Palok</a:t>
            </a:r>
            <a:endParaRPr lang="en-US" sz="1400" dirty="0">
              <a:solidFill>
                <a:srgbClr val="00B0F0"/>
              </a:solidFill>
            </a:endParaRPr>
          </a:p>
        </p:txBody>
      </p:sp>
      <p:sp>
        <p:nvSpPr>
          <p:cNvPr id="10" name="Text 7"/>
          <p:cNvSpPr/>
          <p:nvPr/>
        </p:nvSpPr>
        <p:spPr>
          <a:xfrm>
            <a:off x="594360" y="6080760"/>
            <a:ext cx="10058400" cy="320040"/>
          </a:xfrm>
          <a:prstGeom prst="rect">
            <a:avLst/>
          </a:prstGeom>
          <a:noFill/>
          <a:ln/>
        </p:spPr>
        <p:txBody>
          <a:bodyPr wrap="square" rtlCol="0" anchor="ctr"/>
          <a:lstStyle/>
          <a:p>
            <a:pPr marL="0" indent="0">
              <a:buNone/>
            </a:pPr>
            <a:r>
              <a:rPr lang="en-US" sz="1200" b="1" dirty="0">
                <a:solidFill>
                  <a:schemeClr val="accent5">
                    <a:lumMod val="75000"/>
                  </a:schemeClr>
                </a:solidFill>
                <a:latin typeface="Calibri" pitchFamily="34" charset="0"/>
                <a:ea typeface="Calibri" pitchFamily="34" charset="-122"/>
                <a:cs typeface="Calibri" pitchFamily="34" charset="-120"/>
              </a:rPr>
              <a:t>               2531141042 |                   | 2523828642 |               2524003042   </a:t>
            </a:r>
            <a:endParaRPr lang="en-US" sz="1200" b="1" dirty="0">
              <a:solidFill>
                <a:schemeClr val="accent5">
                  <a:lumMod val="75000"/>
                </a:schemeClr>
              </a:solidFill>
            </a:endParaRPr>
          </a:p>
        </p:txBody>
      </p:sp>
      <p:sp>
        <p:nvSpPr>
          <p:cNvPr id="12" name="TextBox 11">
            <a:extLst>
              <a:ext uri="{FF2B5EF4-FFF2-40B4-BE49-F238E27FC236}">
                <a16:creationId xmlns:a16="http://schemas.microsoft.com/office/drawing/2014/main" id="{372FC9D8-815E-48FA-983C-7B1FA090AE5F}"/>
              </a:ext>
            </a:extLst>
          </p:cNvPr>
          <p:cNvSpPr txBox="1"/>
          <p:nvPr/>
        </p:nvSpPr>
        <p:spPr>
          <a:xfrm>
            <a:off x="708212" y="4343400"/>
            <a:ext cx="10515600" cy="1566198"/>
          </a:xfrm>
          <a:prstGeom prst="rect">
            <a:avLst/>
          </a:prstGeom>
          <a:noFill/>
        </p:spPr>
        <p:txBody>
          <a:bodyPr wrap="square" rtlCol="0">
            <a:spAutoFit/>
          </a:bodyPr>
          <a:lstStyle/>
          <a:p>
            <a:pPr marL="0" marR="0" algn="ctr">
              <a:lnSpc>
                <a:spcPct val="107000"/>
              </a:lnSpc>
              <a:spcBef>
                <a:spcPts val="0"/>
              </a:spcBef>
              <a:spcAft>
                <a:spcPts val="800"/>
              </a:spcAft>
            </a:pPr>
            <a:r>
              <a:rPr lang="en-US" sz="1800" b="1" u="sng" dirty="0">
                <a:solidFill>
                  <a:srgbClr val="2F5496"/>
                </a:solidFill>
                <a:effectLst/>
                <a:latin typeface="Times New Roman" panose="02020603050405020304" pitchFamily="18" charset="0"/>
                <a:ea typeface="Calibri" panose="020F0502020204030204" pitchFamily="34" charset="0"/>
                <a:cs typeface="Times New Roman" panose="02020603050405020304" pitchFamily="18" charset="0"/>
              </a:rPr>
              <a:t> Faculty: </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Dr. Shamim Al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Mamum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Professor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Department of Electrical and Computer Engineering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dirty="0"/>
              <a:t> </a:t>
            </a:r>
          </a:p>
        </p:txBody>
      </p:sp>
      <p:pic>
        <p:nvPicPr>
          <p:cNvPr id="15" name="Picture 14">
            <a:extLst>
              <a:ext uri="{FF2B5EF4-FFF2-40B4-BE49-F238E27FC236}">
                <a16:creationId xmlns:a16="http://schemas.microsoft.com/office/drawing/2014/main" id="{B91CD97D-561E-4365-B79F-AFB915D3E97F}"/>
              </a:ext>
            </a:extLst>
          </p:cNvPr>
          <p:cNvPicPr>
            <a:picLocks noChangeAspect="1"/>
          </p:cNvPicPr>
          <p:nvPr/>
        </p:nvPicPr>
        <p:blipFill>
          <a:blip r:embed="rId3"/>
          <a:stretch>
            <a:fillRect/>
          </a:stretch>
        </p:blipFill>
        <p:spPr>
          <a:xfrm>
            <a:off x="7652030" y="28005"/>
            <a:ext cx="2543530" cy="27245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OVERVIEW</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1554480" y="1938528"/>
            <a:ext cx="4343400" cy="713232"/>
          </a:xfrm>
          <a:prstGeom prst="roundRect">
            <a:avLst>
              <a:gd name="adj" fmla="val 5714"/>
            </a:avLst>
          </a:prstGeom>
          <a:solidFill>
            <a:schemeClr val="bg1"/>
          </a:solidFill>
          <a:ln/>
        </p:spPr>
        <p:txBody>
          <a:bodyPr/>
          <a:lstStyle/>
          <a:p>
            <a:endParaRPr lang="en-US"/>
          </a:p>
        </p:txBody>
      </p:sp>
      <p:sp>
        <p:nvSpPr>
          <p:cNvPr id="7" name="Text 4"/>
          <p:cNvSpPr/>
          <p:nvPr/>
        </p:nvSpPr>
        <p:spPr>
          <a:xfrm>
            <a:off x="1554480" y="1856232"/>
            <a:ext cx="4160520" cy="365760"/>
          </a:xfrm>
          <a:prstGeom prst="rect">
            <a:avLst/>
          </a:prstGeom>
          <a:noFill/>
          <a:ln/>
        </p:spPr>
        <p:txBody>
          <a:bodyPr wrap="square" rtlCol="0" anchor="ctr"/>
          <a:lstStyle/>
          <a:p>
            <a:pPr marL="0" indent="0">
              <a:buNone/>
            </a:pPr>
            <a:r>
              <a:rPr lang="en-US" sz="1500" b="1" dirty="0">
                <a:solidFill>
                  <a:srgbClr val="1B1F3B"/>
                </a:solidFill>
                <a:latin typeface="Times New Roman" panose="02020603050405020304" pitchFamily="18" charset="0"/>
                <a:ea typeface="Calibri" pitchFamily="34" charset="-122"/>
                <a:cs typeface="Times New Roman" panose="02020603050405020304" pitchFamily="18" charset="0"/>
              </a:rPr>
              <a:t>1. Problem &amp; Objectives</a:t>
            </a:r>
            <a:endParaRPr lang="en-US" sz="1500" dirty="0">
              <a:latin typeface="Times New Roman" panose="02020603050405020304" pitchFamily="18" charset="0"/>
              <a:cs typeface="Times New Roman" panose="02020603050405020304" pitchFamily="18" charset="0"/>
            </a:endParaRPr>
          </a:p>
        </p:txBody>
      </p:sp>
      <p:sp>
        <p:nvSpPr>
          <p:cNvPr id="8" name="Text 5"/>
          <p:cNvSpPr/>
          <p:nvPr/>
        </p:nvSpPr>
        <p:spPr>
          <a:xfrm>
            <a:off x="1554480" y="2221992"/>
            <a:ext cx="4160520" cy="594360"/>
          </a:xfrm>
          <a:prstGeom prst="rect">
            <a:avLst/>
          </a:prstGeom>
          <a:noFill/>
          <a:ln/>
        </p:spPr>
        <p:txBody>
          <a:bodyPr wrap="square" rtlCol="0" anchor="t"/>
          <a:lstStyle/>
          <a:p>
            <a:pPr marL="0" indent="0">
              <a:buNone/>
            </a:pPr>
            <a:r>
              <a:rPr lang="en-US" sz="1300" dirty="0">
                <a:solidFill>
                  <a:srgbClr val="5B6584"/>
                </a:solidFill>
                <a:latin typeface="Times New Roman" panose="02020603050405020304" pitchFamily="18" charset="0"/>
                <a:ea typeface="Calibri" pitchFamily="34" charset="-122"/>
                <a:cs typeface="Times New Roman" panose="02020603050405020304" pitchFamily="18" charset="0"/>
              </a:rPr>
              <a:t>Why the  GUI exists and what it set out to do</a:t>
            </a:r>
            <a:endParaRPr lang="en-US" sz="1300" dirty="0">
              <a:latin typeface="Times New Roman" panose="02020603050405020304" pitchFamily="18" charset="0"/>
              <a:cs typeface="Times New Roman" panose="02020603050405020304" pitchFamily="18" charset="0"/>
            </a:endParaRPr>
          </a:p>
        </p:txBody>
      </p:sp>
      <p:sp>
        <p:nvSpPr>
          <p:cNvPr id="9" name="Shape 6"/>
          <p:cNvSpPr/>
          <p:nvPr/>
        </p:nvSpPr>
        <p:spPr>
          <a:xfrm>
            <a:off x="6355080" y="1691640"/>
            <a:ext cx="5349240" cy="1280160"/>
          </a:xfrm>
          <a:prstGeom prst="roundRect">
            <a:avLst>
              <a:gd name="adj" fmla="val 5714"/>
            </a:avLst>
          </a:prstGeom>
          <a:solidFill>
            <a:schemeClr val="bg1"/>
          </a:solidFill>
          <a:ln/>
        </p:spPr>
        <p:txBody>
          <a:bodyPr/>
          <a:lstStyle/>
          <a:p>
            <a:endParaRPr lang="en-US"/>
          </a:p>
        </p:txBody>
      </p:sp>
      <p:sp>
        <p:nvSpPr>
          <p:cNvPr id="12" name="Text 8"/>
          <p:cNvSpPr/>
          <p:nvPr/>
        </p:nvSpPr>
        <p:spPr>
          <a:xfrm>
            <a:off x="7360920" y="1856232"/>
            <a:ext cx="4160520" cy="365760"/>
          </a:xfrm>
          <a:prstGeom prst="rect">
            <a:avLst/>
          </a:prstGeom>
          <a:noFill/>
          <a:ln/>
        </p:spPr>
        <p:txBody>
          <a:bodyPr wrap="square" rtlCol="0" anchor="ctr"/>
          <a:lstStyle/>
          <a:p>
            <a:pPr marL="0" indent="0">
              <a:buNone/>
            </a:pPr>
            <a:r>
              <a:rPr lang="en-US" sz="1500" b="1" dirty="0">
                <a:solidFill>
                  <a:srgbClr val="1B1F3B"/>
                </a:solidFill>
                <a:latin typeface="Times New Roman" panose="02020603050405020304" pitchFamily="18" charset="0"/>
                <a:ea typeface="Calibri" pitchFamily="34" charset="-122"/>
                <a:cs typeface="Times New Roman" panose="02020603050405020304" pitchFamily="18" charset="0"/>
              </a:rPr>
              <a:t>2. Architecture &amp; OOP Design</a:t>
            </a:r>
            <a:endParaRPr lang="en-US" sz="1500" dirty="0">
              <a:latin typeface="Times New Roman" panose="02020603050405020304" pitchFamily="18" charset="0"/>
              <a:cs typeface="Times New Roman" panose="02020603050405020304" pitchFamily="18" charset="0"/>
            </a:endParaRPr>
          </a:p>
        </p:txBody>
      </p:sp>
      <p:sp>
        <p:nvSpPr>
          <p:cNvPr id="13" name="Text 9"/>
          <p:cNvSpPr/>
          <p:nvPr/>
        </p:nvSpPr>
        <p:spPr>
          <a:xfrm>
            <a:off x="7360920" y="2221992"/>
            <a:ext cx="4160520" cy="594360"/>
          </a:xfrm>
          <a:prstGeom prst="rect">
            <a:avLst/>
          </a:prstGeom>
          <a:noFill/>
          <a:ln/>
        </p:spPr>
        <p:txBody>
          <a:bodyPr wrap="square" rtlCol="0" anchor="t"/>
          <a:lstStyle/>
          <a:p>
            <a:pPr marL="0" indent="0">
              <a:buNone/>
            </a:pPr>
            <a:r>
              <a:rPr lang="en-US" sz="1300" dirty="0">
                <a:solidFill>
                  <a:srgbClr val="5B6584"/>
                </a:solidFill>
                <a:latin typeface="Times New Roman" panose="02020603050405020304" pitchFamily="18" charset="0"/>
                <a:ea typeface="Calibri" pitchFamily="34" charset="-122"/>
                <a:cs typeface="Times New Roman" panose="02020603050405020304" pitchFamily="18" charset="0"/>
              </a:rPr>
              <a:t>How the codebase is structured</a:t>
            </a:r>
            <a:endParaRPr lang="en-US" sz="1300" dirty="0">
              <a:latin typeface="Times New Roman" panose="02020603050405020304" pitchFamily="18" charset="0"/>
              <a:cs typeface="Times New Roman" panose="02020603050405020304" pitchFamily="18" charset="0"/>
            </a:endParaRPr>
          </a:p>
        </p:txBody>
      </p:sp>
      <p:sp>
        <p:nvSpPr>
          <p:cNvPr id="14" name="Shape 10"/>
          <p:cNvSpPr/>
          <p:nvPr/>
        </p:nvSpPr>
        <p:spPr>
          <a:xfrm>
            <a:off x="1554480" y="3447288"/>
            <a:ext cx="4343400" cy="758952"/>
          </a:xfrm>
          <a:prstGeom prst="roundRect">
            <a:avLst>
              <a:gd name="adj" fmla="val 5714"/>
            </a:avLst>
          </a:prstGeom>
          <a:solidFill>
            <a:schemeClr val="bg1"/>
          </a:solidFill>
          <a:ln/>
        </p:spPr>
        <p:txBody>
          <a:bodyPr/>
          <a:lstStyle/>
          <a:p>
            <a:endParaRPr lang="en-US"/>
          </a:p>
        </p:txBody>
      </p:sp>
      <p:sp>
        <p:nvSpPr>
          <p:cNvPr id="17" name="Text 12"/>
          <p:cNvSpPr/>
          <p:nvPr/>
        </p:nvSpPr>
        <p:spPr>
          <a:xfrm>
            <a:off x="1554480" y="3410712"/>
            <a:ext cx="4160520" cy="365760"/>
          </a:xfrm>
          <a:prstGeom prst="rect">
            <a:avLst/>
          </a:prstGeom>
          <a:noFill/>
          <a:ln/>
        </p:spPr>
        <p:txBody>
          <a:bodyPr wrap="square" rtlCol="0" anchor="ctr"/>
          <a:lstStyle/>
          <a:p>
            <a:pPr marL="0" indent="0">
              <a:buNone/>
            </a:pPr>
            <a:r>
              <a:rPr lang="en-US" sz="1500" b="1" dirty="0">
                <a:solidFill>
                  <a:srgbClr val="1B1F3B"/>
                </a:solidFill>
                <a:latin typeface="Times New Roman" panose="02020603050405020304" pitchFamily="18" charset="0"/>
                <a:ea typeface="Calibri" pitchFamily="34" charset="-122"/>
                <a:cs typeface="Times New Roman" panose="02020603050405020304" pitchFamily="18" charset="0"/>
              </a:rPr>
              <a:t>3. Core Features &amp; Demo Flow</a:t>
            </a:r>
            <a:endParaRPr lang="en-US" sz="1500" dirty="0">
              <a:latin typeface="Times New Roman" panose="02020603050405020304" pitchFamily="18" charset="0"/>
              <a:cs typeface="Times New Roman" panose="02020603050405020304" pitchFamily="18" charset="0"/>
            </a:endParaRPr>
          </a:p>
        </p:txBody>
      </p:sp>
      <p:sp>
        <p:nvSpPr>
          <p:cNvPr id="18" name="Text 13"/>
          <p:cNvSpPr/>
          <p:nvPr/>
        </p:nvSpPr>
        <p:spPr>
          <a:xfrm>
            <a:off x="1554480" y="3776472"/>
            <a:ext cx="4160520" cy="594360"/>
          </a:xfrm>
          <a:prstGeom prst="rect">
            <a:avLst/>
          </a:prstGeom>
          <a:noFill/>
          <a:ln/>
        </p:spPr>
        <p:txBody>
          <a:bodyPr wrap="square" rtlCol="0" anchor="t"/>
          <a:lstStyle/>
          <a:p>
            <a:pPr marL="0" indent="0">
              <a:buNone/>
            </a:pPr>
            <a:r>
              <a:rPr lang="en-US" sz="1300" dirty="0">
                <a:solidFill>
                  <a:srgbClr val="5B6584"/>
                </a:solidFill>
                <a:latin typeface="Times New Roman" panose="02020603050405020304" pitchFamily="18" charset="0"/>
                <a:ea typeface="Calibri" pitchFamily="34" charset="-122"/>
                <a:cs typeface="Times New Roman" panose="02020603050405020304" pitchFamily="18" charset="0"/>
              </a:rPr>
              <a:t>Authentication, subscriptions, budgeting, admin</a:t>
            </a:r>
            <a:endParaRPr lang="en-US" sz="1300" dirty="0">
              <a:latin typeface="Times New Roman" panose="02020603050405020304" pitchFamily="18" charset="0"/>
              <a:cs typeface="Times New Roman" panose="02020603050405020304" pitchFamily="18" charset="0"/>
            </a:endParaRPr>
          </a:p>
        </p:txBody>
      </p:sp>
      <p:sp>
        <p:nvSpPr>
          <p:cNvPr id="19" name="Shape 14"/>
          <p:cNvSpPr/>
          <p:nvPr/>
        </p:nvSpPr>
        <p:spPr>
          <a:xfrm>
            <a:off x="6355080" y="3246120"/>
            <a:ext cx="5349240" cy="1280160"/>
          </a:xfrm>
          <a:prstGeom prst="roundRect">
            <a:avLst>
              <a:gd name="adj" fmla="val 5714"/>
            </a:avLst>
          </a:prstGeom>
          <a:solidFill>
            <a:schemeClr val="bg1"/>
          </a:solidFill>
          <a:ln/>
        </p:spPr>
        <p:txBody>
          <a:bodyPr/>
          <a:lstStyle/>
          <a:p>
            <a:endParaRPr lang="en-US"/>
          </a:p>
        </p:txBody>
      </p:sp>
      <p:sp>
        <p:nvSpPr>
          <p:cNvPr id="22" name="Text 16"/>
          <p:cNvSpPr/>
          <p:nvPr/>
        </p:nvSpPr>
        <p:spPr>
          <a:xfrm>
            <a:off x="7360920" y="3410712"/>
            <a:ext cx="4160520" cy="365760"/>
          </a:xfrm>
          <a:prstGeom prst="rect">
            <a:avLst/>
          </a:prstGeom>
          <a:noFill/>
          <a:ln/>
        </p:spPr>
        <p:txBody>
          <a:bodyPr wrap="square" rtlCol="0" anchor="ctr"/>
          <a:lstStyle/>
          <a:p>
            <a:pPr marL="0" indent="0">
              <a:buNone/>
            </a:pPr>
            <a:r>
              <a:rPr lang="en-US" sz="1500" b="1" dirty="0">
                <a:solidFill>
                  <a:srgbClr val="1B1F3B"/>
                </a:solidFill>
                <a:latin typeface="Times New Roman" panose="02020603050405020304" pitchFamily="18" charset="0"/>
                <a:ea typeface="Calibri" pitchFamily="34" charset="-122"/>
                <a:cs typeface="Times New Roman" panose="02020603050405020304" pitchFamily="18" charset="0"/>
              </a:rPr>
              <a:t>4. Security &amp; Validation</a:t>
            </a:r>
            <a:endParaRPr lang="en-US" sz="1500" dirty="0">
              <a:latin typeface="Times New Roman" panose="02020603050405020304" pitchFamily="18" charset="0"/>
              <a:cs typeface="Times New Roman" panose="02020603050405020304" pitchFamily="18" charset="0"/>
            </a:endParaRPr>
          </a:p>
        </p:txBody>
      </p:sp>
      <p:sp>
        <p:nvSpPr>
          <p:cNvPr id="23" name="Text 17"/>
          <p:cNvSpPr/>
          <p:nvPr/>
        </p:nvSpPr>
        <p:spPr>
          <a:xfrm>
            <a:off x="7360920" y="3776472"/>
            <a:ext cx="4160520" cy="594360"/>
          </a:xfrm>
          <a:prstGeom prst="rect">
            <a:avLst/>
          </a:prstGeom>
          <a:noFill/>
          <a:ln/>
        </p:spPr>
        <p:txBody>
          <a:bodyPr wrap="square" rtlCol="0" anchor="t"/>
          <a:lstStyle/>
          <a:p>
            <a:pPr marL="0" indent="0">
              <a:buNone/>
            </a:pPr>
            <a:r>
              <a:rPr lang="en-US" sz="1300" dirty="0">
                <a:solidFill>
                  <a:srgbClr val="5B6584"/>
                </a:solidFill>
                <a:latin typeface="Times New Roman" panose="02020603050405020304" pitchFamily="18" charset="0"/>
                <a:ea typeface="Calibri" pitchFamily="34" charset="-122"/>
                <a:cs typeface="Times New Roman" panose="02020603050405020304" pitchFamily="18" charset="0"/>
              </a:rPr>
              <a:t>Access control and exception handling</a:t>
            </a:r>
            <a:endParaRPr lang="en-US" sz="1300" dirty="0">
              <a:latin typeface="Times New Roman" panose="02020603050405020304" pitchFamily="18" charset="0"/>
              <a:cs typeface="Times New Roman" panose="02020603050405020304" pitchFamily="18" charset="0"/>
            </a:endParaRPr>
          </a:p>
        </p:txBody>
      </p:sp>
      <p:sp>
        <p:nvSpPr>
          <p:cNvPr id="24" name="Shape 18"/>
          <p:cNvSpPr/>
          <p:nvPr/>
        </p:nvSpPr>
        <p:spPr>
          <a:xfrm>
            <a:off x="1554480" y="5001768"/>
            <a:ext cx="4343400" cy="694944"/>
          </a:xfrm>
          <a:prstGeom prst="roundRect">
            <a:avLst>
              <a:gd name="adj" fmla="val 5714"/>
            </a:avLst>
          </a:prstGeom>
          <a:solidFill>
            <a:schemeClr val="bg1"/>
          </a:solidFill>
          <a:ln/>
        </p:spPr>
        <p:txBody>
          <a:bodyPr/>
          <a:lstStyle/>
          <a:p>
            <a:endParaRPr lang="en-US"/>
          </a:p>
        </p:txBody>
      </p:sp>
      <p:pic>
        <p:nvPicPr>
          <p:cNvPr id="26" name="Image 4" descr="/home/claude/deck/icon_alert.png"/>
          <p:cNvPicPr>
            <a:picLocks noChangeAspect="1"/>
          </p:cNvPicPr>
          <p:nvPr/>
        </p:nvPicPr>
        <p:blipFill>
          <a:blip r:embed="rId3"/>
          <a:stretch>
            <a:fillRect/>
          </a:stretch>
        </p:blipFill>
        <p:spPr>
          <a:xfrm>
            <a:off x="947318" y="5199278"/>
            <a:ext cx="263347" cy="263347"/>
          </a:xfrm>
          <a:prstGeom prst="rect">
            <a:avLst/>
          </a:prstGeom>
        </p:spPr>
      </p:pic>
      <p:sp>
        <p:nvSpPr>
          <p:cNvPr id="27" name="Text 20"/>
          <p:cNvSpPr/>
          <p:nvPr/>
        </p:nvSpPr>
        <p:spPr>
          <a:xfrm>
            <a:off x="1554480" y="4965192"/>
            <a:ext cx="4160520" cy="365760"/>
          </a:xfrm>
          <a:prstGeom prst="rect">
            <a:avLst/>
          </a:prstGeom>
          <a:noFill/>
          <a:ln/>
        </p:spPr>
        <p:txBody>
          <a:bodyPr wrap="square" rtlCol="0" anchor="ctr"/>
          <a:lstStyle/>
          <a:p>
            <a:pPr marL="0" indent="0">
              <a:buNone/>
            </a:pPr>
            <a:r>
              <a:rPr lang="en-US" sz="1500" b="1" dirty="0">
                <a:solidFill>
                  <a:srgbClr val="1B1F3B"/>
                </a:solidFill>
                <a:latin typeface="Times New Roman" panose="02020603050405020304" pitchFamily="18" charset="0"/>
                <a:ea typeface="Calibri" pitchFamily="34" charset="-122"/>
                <a:cs typeface="Times New Roman" panose="02020603050405020304" pitchFamily="18" charset="0"/>
              </a:rPr>
              <a:t>5. Challenges &amp; Improvements</a:t>
            </a:r>
            <a:endParaRPr lang="en-US" sz="1500" dirty="0">
              <a:latin typeface="Times New Roman" panose="02020603050405020304" pitchFamily="18" charset="0"/>
              <a:cs typeface="Times New Roman" panose="02020603050405020304" pitchFamily="18" charset="0"/>
            </a:endParaRPr>
          </a:p>
        </p:txBody>
      </p:sp>
      <p:sp>
        <p:nvSpPr>
          <p:cNvPr id="28" name="Text 21"/>
          <p:cNvSpPr/>
          <p:nvPr/>
        </p:nvSpPr>
        <p:spPr>
          <a:xfrm>
            <a:off x="1554480" y="5330952"/>
            <a:ext cx="4160520" cy="594360"/>
          </a:xfrm>
          <a:prstGeom prst="rect">
            <a:avLst/>
          </a:prstGeom>
          <a:noFill/>
          <a:ln/>
        </p:spPr>
        <p:txBody>
          <a:bodyPr wrap="square" rtlCol="0" anchor="t"/>
          <a:lstStyle/>
          <a:p>
            <a:pPr marL="0" indent="0">
              <a:buNone/>
            </a:pPr>
            <a:r>
              <a:rPr lang="en-US" sz="1300" dirty="0">
                <a:solidFill>
                  <a:srgbClr val="5B6584"/>
                </a:solidFill>
                <a:latin typeface="Times New Roman" panose="02020603050405020304" pitchFamily="18" charset="0"/>
                <a:ea typeface="Calibri" pitchFamily="34" charset="-122"/>
                <a:cs typeface="Times New Roman" panose="02020603050405020304" pitchFamily="18" charset="0"/>
              </a:rPr>
              <a:t>What new features or improvements can be added</a:t>
            </a:r>
            <a:endParaRPr lang="en-US" sz="1300" dirty="0">
              <a:latin typeface="Times New Roman" panose="02020603050405020304" pitchFamily="18" charset="0"/>
              <a:cs typeface="Times New Roman" panose="02020603050405020304" pitchFamily="18" charset="0"/>
            </a:endParaRPr>
          </a:p>
        </p:txBody>
      </p:sp>
      <p:sp>
        <p:nvSpPr>
          <p:cNvPr id="29" name="Shape 22"/>
          <p:cNvSpPr/>
          <p:nvPr/>
        </p:nvSpPr>
        <p:spPr>
          <a:xfrm>
            <a:off x="6355080" y="4800600"/>
            <a:ext cx="5349240" cy="1280160"/>
          </a:xfrm>
          <a:prstGeom prst="roundRect">
            <a:avLst>
              <a:gd name="adj" fmla="val 5714"/>
            </a:avLst>
          </a:prstGeom>
          <a:solidFill>
            <a:schemeClr val="bg1"/>
          </a:solidFill>
          <a:ln/>
        </p:spPr>
        <p:txBody>
          <a:bodyPr/>
          <a:lstStyle/>
          <a:p>
            <a:endParaRPr lang="en-US"/>
          </a:p>
        </p:txBody>
      </p:sp>
      <p:sp>
        <p:nvSpPr>
          <p:cNvPr id="32" name="Text 24"/>
          <p:cNvSpPr/>
          <p:nvPr/>
        </p:nvSpPr>
        <p:spPr>
          <a:xfrm>
            <a:off x="7360920" y="4965192"/>
            <a:ext cx="4160520" cy="365760"/>
          </a:xfrm>
          <a:prstGeom prst="rect">
            <a:avLst/>
          </a:prstGeom>
          <a:noFill/>
          <a:ln/>
        </p:spPr>
        <p:txBody>
          <a:bodyPr wrap="square" rtlCol="0" anchor="ctr"/>
          <a:lstStyle/>
          <a:p>
            <a:pPr marL="0" indent="0">
              <a:buNone/>
            </a:pPr>
            <a:r>
              <a:rPr lang="en-US" sz="1500" b="1" dirty="0">
                <a:solidFill>
                  <a:srgbClr val="1B1F3B"/>
                </a:solidFill>
                <a:latin typeface="Times New Roman" panose="02020603050405020304" pitchFamily="18" charset="0"/>
                <a:ea typeface="Calibri" pitchFamily="34" charset="-122"/>
                <a:cs typeface="Times New Roman" panose="02020603050405020304" pitchFamily="18" charset="0"/>
              </a:rPr>
              <a:t>6. Team &amp; Conclusion</a:t>
            </a:r>
            <a:endParaRPr lang="en-US" sz="1500" dirty="0">
              <a:latin typeface="Times New Roman" panose="02020603050405020304" pitchFamily="18" charset="0"/>
              <a:cs typeface="Times New Roman" panose="02020603050405020304" pitchFamily="18" charset="0"/>
            </a:endParaRPr>
          </a:p>
        </p:txBody>
      </p:sp>
      <p:sp>
        <p:nvSpPr>
          <p:cNvPr id="33" name="Text 25"/>
          <p:cNvSpPr/>
          <p:nvPr/>
        </p:nvSpPr>
        <p:spPr>
          <a:xfrm>
            <a:off x="7360920" y="5330952"/>
            <a:ext cx="4160520" cy="594360"/>
          </a:xfrm>
          <a:prstGeom prst="rect">
            <a:avLst/>
          </a:prstGeom>
          <a:noFill/>
          <a:ln/>
        </p:spPr>
        <p:txBody>
          <a:bodyPr wrap="square" rtlCol="0" anchor="t"/>
          <a:lstStyle/>
          <a:p>
            <a:pPr marL="0" indent="0">
              <a:buNone/>
            </a:pPr>
            <a:r>
              <a:rPr lang="en-US" sz="1300" dirty="0">
                <a:solidFill>
                  <a:srgbClr val="5B6584"/>
                </a:solidFill>
                <a:latin typeface="Times New Roman" panose="02020603050405020304" pitchFamily="18" charset="0"/>
                <a:ea typeface="Calibri" pitchFamily="34" charset="-122"/>
                <a:cs typeface="Times New Roman" panose="02020603050405020304" pitchFamily="18" charset="0"/>
              </a:rPr>
              <a:t>Contributions and final takeaways</a:t>
            </a:r>
            <a:endParaRPr lang="en-US" sz="1300" dirty="0">
              <a:latin typeface="Times New Roman" panose="02020603050405020304" pitchFamily="18" charset="0"/>
              <a:cs typeface="Times New Roman" panose="02020603050405020304" pitchFamily="18" charset="0"/>
            </a:endParaRPr>
          </a:p>
        </p:txBody>
      </p:sp>
      <p:sp>
        <p:nvSpPr>
          <p:cNvPr id="34" name="Text 26"/>
          <p:cNvSpPr/>
          <p:nvPr/>
        </p:nvSpPr>
        <p:spPr>
          <a:xfrm>
            <a:off x="457200" y="6473952"/>
            <a:ext cx="7315200" cy="274320"/>
          </a:xfrm>
          <a:prstGeom prst="rect">
            <a:avLst/>
          </a:prstGeom>
          <a:noFill/>
          <a:ln/>
        </p:spPr>
        <p:txBody>
          <a:bodyPr wrap="square" rtlCol="0" anchor="ctr"/>
          <a:lstStyle/>
          <a:p>
            <a:pPr marL="0" indent="0" algn="l">
              <a:buNone/>
            </a:pPr>
            <a:endParaRPr lang="en-US" sz="900" dirty="0"/>
          </a:p>
        </p:txBody>
      </p:sp>
      <p:sp>
        <p:nvSpPr>
          <p:cNvPr id="35" name="Text 27"/>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2</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MOTIVATION</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The Problem We're Solving</a:t>
            </a:r>
            <a:endParaRPr lang="en-US" sz="3000" dirty="0"/>
          </a:p>
        </p:txBody>
      </p:sp>
      <p:sp>
        <p:nvSpPr>
          <p:cNvPr id="4" name="Text 2"/>
          <p:cNvSpPr/>
          <p:nvPr/>
        </p:nvSpPr>
        <p:spPr>
          <a:xfrm>
            <a:off x="548640" y="1600200"/>
            <a:ext cx="6035040" cy="1737360"/>
          </a:xfrm>
          <a:prstGeom prst="rect">
            <a:avLst/>
          </a:prstGeom>
          <a:noFill/>
          <a:ln/>
        </p:spPr>
        <p:txBody>
          <a:bodyPr wrap="square" rtlCol="0" anchor="t"/>
          <a:lstStyle/>
          <a:p>
            <a:pPr marL="0" indent="0">
              <a:lnSpc>
                <a:spcPct val="125000"/>
              </a:lnSpc>
              <a:buNone/>
            </a:pPr>
            <a:r>
              <a:rPr lang="en-US" sz="1600" dirty="0">
                <a:solidFill>
                  <a:srgbClr val="1B1F3B"/>
                </a:solidFill>
                <a:latin typeface="Calibri" pitchFamily="34" charset="0"/>
                <a:ea typeface="Calibri" pitchFamily="34" charset="-122"/>
                <a:cs typeface="Calibri" pitchFamily="34" charset="-120"/>
              </a:rPr>
              <a:t>A Java programming language based a GUI with </a:t>
            </a:r>
            <a:r>
              <a:rPr lang="en-US" sz="1600" dirty="0" err="1">
                <a:solidFill>
                  <a:srgbClr val="1B1F3B"/>
                </a:solidFill>
                <a:latin typeface="Calibri" pitchFamily="34" charset="0"/>
                <a:ea typeface="Calibri" pitchFamily="34" charset="-122"/>
                <a:cs typeface="Calibri" pitchFamily="34" charset="-120"/>
              </a:rPr>
              <a:t>JSwing</a:t>
            </a:r>
            <a:r>
              <a:rPr lang="en-US" sz="1600" dirty="0">
                <a:solidFill>
                  <a:srgbClr val="1B1F3B"/>
                </a:solidFill>
                <a:latin typeface="Calibri" pitchFamily="34" charset="0"/>
                <a:ea typeface="Calibri" pitchFamily="34" charset="-122"/>
                <a:cs typeface="Calibri" pitchFamily="34" charset="-120"/>
              </a:rPr>
              <a:t> which allows user to keep track of multiple subscription’s validity to prevent auto renewal issues. It also allows it’s admin to have control over user and their subscriptions, making it viable for both admin and the user.</a:t>
            </a:r>
            <a:endParaRPr lang="en-US" sz="1600" dirty="0"/>
          </a:p>
        </p:txBody>
      </p:sp>
      <p:sp>
        <p:nvSpPr>
          <p:cNvPr id="6" name="Text 4"/>
          <p:cNvSpPr/>
          <p:nvPr/>
        </p:nvSpPr>
        <p:spPr>
          <a:xfrm>
            <a:off x="868680" y="3584448"/>
            <a:ext cx="5669280" cy="365760"/>
          </a:xfrm>
          <a:prstGeom prst="rect">
            <a:avLst/>
          </a:prstGeom>
          <a:noFill/>
          <a:ln/>
        </p:spPr>
        <p:txBody>
          <a:bodyPr wrap="square" rtlCol="0" anchor="ctr"/>
          <a:lstStyle/>
          <a:p>
            <a:pPr marL="0" indent="0">
              <a:buNone/>
            </a:pPr>
            <a:endParaRPr lang="en-US" sz="1400" dirty="0"/>
          </a:p>
        </p:txBody>
      </p:sp>
      <p:sp>
        <p:nvSpPr>
          <p:cNvPr id="8" name="Text 6"/>
          <p:cNvSpPr/>
          <p:nvPr/>
        </p:nvSpPr>
        <p:spPr>
          <a:xfrm>
            <a:off x="868680" y="4041648"/>
            <a:ext cx="5669280" cy="365760"/>
          </a:xfrm>
          <a:prstGeom prst="rect">
            <a:avLst/>
          </a:prstGeom>
          <a:noFill/>
          <a:ln/>
        </p:spPr>
        <p:txBody>
          <a:bodyPr wrap="square" rtlCol="0" anchor="ctr"/>
          <a:lstStyle/>
          <a:p>
            <a:pPr marL="0" indent="0">
              <a:buNone/>
            </a:pPr>
            <a:endParaRPr lang="en-US" sz="1400" dirty="0"/>
          </a:p>
        </p:txBody>
      </p:sp>
      <p:sp>
        <p:nvSpPr>
          <p:cNvPr id="10" name="Text 8"/>
          <p:cNvSpPr/>
          <p:nvPr/>
        </p:nvSpPr>
        <p:spPr>
          <a:xfrm>
            <a:off x="868680" y="4498848"/>
            <a:ext cx="5669280" cy="365760"/>
          </a:xfrm>
          <a:prstGeom prst="rect">
            <a:avLst/>
          </a:prstGeom>
          <a:noFill/>
          <a:ln/>
        </p:spPr>
        <p:txBody>
          <a:bodyPr wrap="square" rtlCol="0" anchor="ctr"/>
          <a:lstStyle/>
          <a:p>
            <a:pPr marL="0" indent="0">
              <a:buNone/>
            </a:pPr>
            <a:endParaRPr lang="en-US" sz="1400" dirty="0"/>
          </a:p>
        </p:txBody>
      </p:sp>
      <p:sp>
        <p:nvSpPr>
          <p:cNvPr id="14" name="Text 11"/>
          <p:cNvSpPr/>
          <p:nvPr/>
        </p:nvSpPr>
        <p:spPr>
          <a:xfrm>
            <a:off x="7452360" y="2880360"/>
            <a:ext cx="4206240" cy="365760"/>
          </a:xfrm>
          <a:prstGeom prst="rect">
            <a:avLst/>
          </a:prstGeom>
          <a:noFill/>
          <a:ln/>
        </p:spPr>
        <p:txBody>
          <a:bodyPr wrap="square" rtlCol="0" anchor="ctr"/>
          <a:lstStyle/>
          <a:p>
            <a:pPr marL="0" indent="0">
              <a:buNone/>
            </a:pPr>
            <a:endParaRPr lang="en-US" sz="1400" dirty="0"/>
          </a:p>
        </p:txBody>
      </p:sp>
      <p:sp>
        <p:nvSpPr>
          <p:cNvPr id="15" name="Text 12"/>
          <p:cNvSpPr/>
          <p:nvPr/>
        </p:nvSpPr>
        <p:spPr>
          <a:xfrm>
            <a:off x="7452360" y="3291840"/>
            <a:ext cx="3794760" cy="2468880"/>
          </a:xfrm>
          <a:prstGeom prst="rect">
            <a:avLst/>
          </a:prstGeom>
          <a:noFill/>
          <a:ln/>
        </p:spPr>
        <p:txBody>
          <a:bodyPr wrap="square" rtlCol="0" anchor="t"/>
          <a:lstStyle/>
          <a:p>
            <a:pPr marL="0" indent="0">
              <a:lnSpc>
                <a:spcPct val="130000"/>
              </a:lnSpc>
              <a:buNone/>
            </a:pPr>
            <a:endParaRPr lang="en-US" sz="1450" dirty="0"/>
          </a:p>
        </p:txBody>
      </p:sp>
      <p:sp>
        <p:nvSpPr>
          <p:cNvPr id="16" name="Text 13"/>
          <p:cNvSpPr/>
          <p:nvPr/>
        </p:nvSpPr>
        <p:spPr>
          <a:xfrm>
            <a:off x="457200" y="6473952"/>
            <a:ext cx="7315200" cy="274320"/>
          </a:xfrm>
          <a:prstGeom prst="rect">
            <a:avLst/>
          </a:prstGeom>
          <a:noFill/>
          <a:ln/>
        </p:spPr>
        <p:txBody>
          <a:bodyPr wrap="square" rtlCol="0" anchor="ctr"/>
          <a:lstStyle/>
          <a:p>
            <a:pPr marL="0" indent="0" algn="l">
              <a:buNone/>
            </a:pPr>
            <a:endParaRPr lang="en-US" sz="900" dirty="0"/>
          </a:p>
        </p:txBody>
      </p:sp>
      <p:sp>
        <p:nvSpPr>
          <p:cNvPr id="17" name="Text 14"/>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3</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GOALS</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Project Objectives</a:t>
            </a:r>
            <a:endParaRPr lang="en-US" sz="3000" dirty="0"/>
          </a:p>
        </p:txBody>
      </p:sp>
      <p:sp>
        <p:nvSpPr>
          <p:cNvPr id="4" name="Shape 2"/>
          <p:cNvSpPr/>
          <p:nvPr/>
        </p:nvSpPr>
        <p:spPr>
          <a:xfrm>
            <a:off x="777240" y="1855694"/>
            <a:ext cx="3108960" cy="1664746"/>
          </a:xfrm>
          <a:prstGeom prst="roundRect">
            <a:avLst>
              <a:gd name="adj" fmla="val 3478"/>
            </a:avLst>
          </a:prstGeom>
          <a:solidFill>
            <a:schemeClr val="bg1"/>
          </a:solidFill>
          <a:ln/>
        </p:spPr>
        <p:txBody>
          <a:bodyPr/>
          <a:lstStyle/>
          <a:p>
            <a:endParaRPr lang="en-US"/>
          </a:p>
        </p:txBody>
      </p:sp>
      <p:sp>
        <p:nvSpPr>
          <p:cNvPr id="5" name="Shape 3"/>
          <p:cNvSpPr/>
          <p:nvPr/>
        </p:nvSpPr>
        <p:spPr>
          <a:xfrm>
            <a:off x="777240" y="1920240"/>
            <a:ext cx="502920" cy="502920"/>
          </a:xfrm>
          <a:prstGeom prst="ellipse">
            <a:avLst/>
          </a:prstGeom>
          <a:solidFill>
            <a:srgbClr val="3FC1B0"/>
          </a:solidFill>
          <a:ln/>
        </p:spPr>
        <p:txBody>
          <a:bodyPr/>
          <a:lstStyle/>
          <a:p>
            <a:r>
              <a:rPr lang="en-US" dirty="0">
                <a:solidFill>
                  <a:schemeClr val="bg1"/>
                </a:solidFill>
                <a:latin typeface="Times New Roman" panose="02020603050405020304" pitchFamily="18" charset="0"/>
                <a:cs typeface="Times New Roman" panose="02020603050405020304" pitchFamily="18" charset="0"/>
              </a:rPr>
              <a:t>1</a:t>
            </a:r>
          </a:p>
        </p:txBody>
      </p:sp>
      <p:sp>
        <p:nvSpPr>
          <p:cNvPr id="7" name="Text 4"/>
          <p:cNvSpPr/>
          <p:nvPr/>
        </p:nvSpPr>
        <p:spPr>
          <a:xfrm>
            <a:off x="777240" y="2560320"/>
            <a:ext cx="3108960" cy="640080"/>
          </a:xfrm>
          <a:prstGeom prst="rect">
            <a:avLst/>
          </a:prstGeom>
          <a:noFill/>
          <a:ln/>
        </p:spPr>
        <p:txBody>
          <a:bodyPr wrap="square" rtlCol="0" anchor="t"/>
          <a:lstStyle/>
          <a:p>
            <a:pPr marL="0" indent="0">
              <a:buNone/>
            </a:pPr>
            <a:r>
              <a:rPr lang="en-US" sz="1500" b="1" dirty="0">
                <a:solidFill>
                  <a:srgbClr val="1B1F3B"/>
                </a:solidFill>
                <a:latin typeface="Times New Roman" panose="02020603050405020304" pitchFamily="18" charset="0"/>
                <a:ea typeface="Calibri" pitchFamily="34" charset="-122"/>
                <a:cs typeface="Times New Roman" panose="02020603050405020304" pitchFamily="18" charset="0"/>
              </a:rPr>
              <a:t>Model subscriptions with reusable OOP classes</a:t>
            </a:r>
            <a:endParaRPr lang="en-US" sz="1500" dirty="0">
              <a:latin typeface="Times New Roman" panose="02020603050405020304" pitchFamily="18" charset="0"/>
              <a:cs typeface="Times New Roman" panose="02020603050405020304" pitchFamily="18" charset="0"/>
            </a:endParaRPr>
          </a:p>
        </p:txBody>
      </p:sp>
      <p:sp>
        <p:nvSpPr>
          <p:cNvPr id="8" name="Text 5"/>
          <p:cNvSpPr/>
          <p:nvPr/>
        </p:nvSpPr>
        <p:spPr>
          <a:xfrm>
            <a:off x="777240" y="3154680"/>
            <a:ext cx="3108960" cy="548640"/>
          </a:xfrm>
          <a:prstGeom prst="rect">
            <a:avLst/>
          </a:prstGeom>
          <a:noFill/>
          <a:ln/>
        </p:spPr>
        <p:txBody>
          <a:bodyPr wrap="square" rtlCol="0" anchor="t"/>
          <a:lstStyle/>
          <a:p>
            <a:pPr marL="0" indent="0">
              <a:buNone/>
            </a:pPr>
            <a:r>
              <a:rPr lang="en-US" sz="1250" dirty="0">
                <a:solidFill>
                  <a:srgbClr val="5B6584"/>
                </a:solidFill>
                <a:latin typeface="Times New Roman" panose="02020603050405020304" pitchFamily="18" charset="0"/>
                <a:ea typeface="Calibri" pitchFamily="34" charset="-122"/>
                <a:cs typeface="Times New Roman" panose="02020603050405020304" pitchFamily="18" charset="0"/>
              </a:rPr>
              <a:t>Monthly and annual plans share a common abstract design.</a:t>
            </a:r>
            <a:endParaRPr lang="en-US" sz="1250" dirty="0">
              <a:latin typeface="Times New Roman" panose="02020603050405020304" pitchFamily="18" charset="0"/>
              <a:cs typeface="Times New Roman" panose="02020603050405020304" pitchFamily="18" charset="0"/>
            </a:endParaRPr>
          </a:p>
        </p:txBody>
      </p:sp>
      <p:sp>
        <p:nvSpPr>
          <p:cNvPr id="9" name="Shape 6"/>
          <p:cNvSpPr/>
          <p:nvPr/>
        </p:nvSpPr>
        <p:spPr>
          <a:xfrm>
            <a:off x="4370832" y="1691640"/>
            <a:ext cx="3566160" cy="2103120"/>
          </a:xfrm>
          <a:prstGeom prst="roundRect">
            <a:avLst>
              <a:gd name="adj" fmla="val 3478"/>
            </a:avLst>
          </a:prstGeom>
          <a:solidFill>
            <a:schemeClr val="bg1"/>
          </a:solidFill>
          <a:ln/>
        </p:spPr>
        <p:txBody>
          <a:bodyPr/>
          <a:lstStyle/>
          <a:p>
            <a:endParaRPr lang="en-US"/>
          </a:p>
        </p:txBody>
      </p:sp>
      <p:sp>
        <p:nvSpPr>
          <p:cNvPr id="10" name="Shape 7"/>
          <p:cNvSpPr/>
          <p:nvPr/>
        </p:nvSpPr>
        <p:spPr>
          <a:xfrm>
            <a:off x="4599432" y="1920240"/>
            <a:ext cx="502920" cy="502920"/>
          </a:xfrm>
          <a:prstGeom prst="ellipse">
            <a:avLst/>
          </a:prstGeom>
          <a:solidFill>
            <a:srgbClr val="3FC1B0"/>
          </a:solidFill>
          <a:ln/>
        </p:spPr>
        <p:txBody>
          <a:bodyPr/>
          <a:lstStyle/>
          <a:p>
            <a:r>
              <a:rPr lang="en-US" dirty="0">
                <a:solidFill>
                  <a:schemeClr val="bg1"/>
                </a:solidFill>
                <a:latin typeface="Times New Roman" panose="02020603050405020304" pitchFamily="18" charset="0"/>
                <a:cs typeface="Times New Roman" panose="02020603050405020304" pitchFamily="18" charset="0"/>
              </a:rPr>
              <a:t>2</a:t>
            </a:r>
          </a:p>
        </p:txBody>
      </p:sp>
      <p:sp>
        <p:nvSpPr>
          <p:cNvPr id="12" name="Text 8"/>
          <p:cNvSpPr/>
          <p:nvPr/>
        </p:nvSpPr>
        <p:spPr>
          <a:xfrm>
            <a:off x="4599432" y="2560320"/>
            <a:ext cx="3108960" cy="640080"/>
          </a:xfrm>
          <a:prstGeom prst="rect">
            <a:avLst/>
          </a:prstGeom>
          <a:noFill/>
          <a:ln/>
        </p:spPr>
        <p:txBody>
          <a:bodyPr wrap="square" rtlCol="0" anchor="t"/>
          <a:lstStyle/>
          <a:p>
            <a:pPr marL="0" indent="0">
              <a:buNone/>
            </a:pPr>
            <a:r>
              <a:rPr lang="en-US" sz="1500" b="1" dirty="0">
                <a:solidFill>
                  <a:srgbClr val="1B1F3B"/>
                </a:solidFill>
                <a:latin typeface="Times New Roman" panose="02020603050405020304" pitchFamily="18" charset="0"/>
                <a:ea typeface="Calibri" pitchFamily="34" charset="-122"/>
                <a:cs typeface="Times New Roman" panose="02020603050405020304" pitchFamily="18" charset="0"/>
              </a:rPr>
              <a:t>Provide active, expired &amp; searchable views</a:t>
            </a:r>
            <a:endParaRPr lang="en-US" sz="1500" dirty="0">
              <a:latin typeface="Times New Roman" panose="02020603050405020304" pitchFamily="18" charset="0"/>
              <a:cs typeface="Times New Roman" panose="02020603050405020304" pitchFamily="18" charset="0"/>
            </a:endParaRPr>
          </a:p>
        </p:txBody>
      </p:sp>
      <p:sp>
        <p:nvSpPr>
          <p:cNvPr id="13" name="Text 9"/>
          <p:cNvSpPr/>
          <p:nvPr/>
        </p:nvSpPr>
        <p:spPr>
          <a:xfrm>
            <a:off x="4599432" y="3154680"/>
            <a:ext cx="3108960" cy="548640"/>
          </a:xfrm>
          <a:prstGeom prst="rect">
            <a:avLst/>
          </a:prstGeom>
          <a:noFill/>
          <a:ln/>
        </p:spPr>
        <p:txBody>
          <a:bodyPr wrap="square" rtlCol="0" anchor="t"/>
          <a:lstStyle/>
          <a:p>
            <a:pPr marL="0" indent="0">
              <a:buNone/>
            </a:pPr>
            <a:r>
              <a:rPr lang="en-US" sz="1250" dirty="0">
                <a:solidFill>
                  <a:srgbClr val="5B6584"/>
                </a:solidFill>
                <a:latin typeface="Times New Roman" panose="02020603050405020304" pitchFamily="18" charset="0"/>
                <a:ea typeface="Calibri" pitchFamily="34" charset="-122"/>
                <a:cs typeface="Times New Roman" panose="02020603050405020304" pitchFamily="18" charset="0"/>
              </a:rPr>
              <a:t>Users can browse, filter, and search their subscriptions.</a:t>
            </a:r>
            <a:endParaRPr lang="en-US" sz="1250" dirty="0">
              <a:latin typeface="Times New Roman" panose="02020603050405020304" pitchFamily="18" charset="0"/>
              <a:cs typeface="Times New Roman" panose="02020603050405020304" pitchFamily="18" charset="0"/>
            </a:endParaRPr>
          </a:p>
        </p:txBody>
      </p:sp>
      <p:sp>
        <p:nvSpPr>
          <p:cNvPr id="14" name="Shape 10"/>
          <p:cNvSpPr/>
          <p:nvPr/>
        </p:nvSpPr>
        <p:spPr>
          <a:xfrm>
            <a:off x="8193024" y="1691640"/>
            <a:ext cx="3566160" cy="2103120"/>
          </a:xfrm>
          <a:prstGeom prst="roundRect">
            <a:avLst>
              <a:gd name="adj" fmla="val 3478"/>
            </a:avLst>
          </a:prstGeom>
          <a:solidFill>
            <a:schemeClr val="bg1"/>
          </a:solidFill>
          <a:ln/>
        </p:spPr>
        <p:txBody>
          <a:bodyPr/>
          <a:lstStyle/>
          <a:p>
            <a:endParaRPr lang="en-US"/>
          </a:p>
        </p:txBody>
      </p:sp>
      <p:sp>
        <p:nvSpPr>
          <p:cNvPr id="15" name="Shape 11"/>
          <p:cNvSpPr/>
          <p:nvPr/>
        </p:nvSpPr>
        <p:spPr>
          <a:xfrm>
            <a:off x="8421624" y="1920240"/>
            <a:ext cx="502920" cy="502920"/>
          </a:xfrm>
          <a:prstGeom prst="ellipse">
            <a:avLst/>
          </a:prstGeom>
          <a:solidFill>
            <a:srgbClr val="3FC1B0"/>
          </a:solidFill>
          <a:ln/>
        </p:spPr>
        <p:txBody>
          <a:bodyPr/>
          <a:lstStyle/>
          <a:p>
            <a:r>
              <a:rPr lang="en-US" dirty="0">
                <a:solidFill>
                  <a:schemeClr val="bg1"/>
                </a:solidFill>
              </a:rPr>
              <a:t>3</a:t>
            </a:r>
          </a:p>
        </p:txBody>
      </p:sp>
      <p:sp>
        <p:nvSpPr>
          <p:cNvPr id="17" name="Text 12"/>
          <p:cNvSpPr/>
          <p:nvPr/>
        </p:nvSpPr>
        <p:spPr>
          <a:xfrm>
            <a:off x="8421624" y="2560320"/>
            <a:ext cx="3108960" cy="640080"/>
          </a:xfrm>
          <a:prstGeom prst="rect">
            <a:avLst/>
          </a:prstGeom>
          <a:noFill/>
          <a:ln/>
        </p:spPr>
        <p:txBody>
          <a:bodyPr wrap="square" rtlCol="0" anchor="t"/>
          <a:lstStyle/>
          <a:p>
            <a:pPr marL="0" indent="0">
              <a:buNone/>
            </a:pPr>
            <a:r>
              <a:rPr lang="en-US" sz="1300" b="1" dirty="0">
                <a:solidFill>
                  <a:srgbClr val="1B1F3B"/>
                </a:solidFill>
                <a:latin typeface="Calibri" pitchFamily="34" charset="0"/>
                <a:ea typeface="Calibri" pitchFamily="34" charset="-122"/>
                <a:cs typeface="Calibri" pitchFamily="34" charset="-120"/>
              </a:rPr>
              <a:t>Calculate spend against editable budgets</a:t>
            </a:r>
            <a:endParaRPr lang="en-US" sz="1300" dirty="0"/>
          </a:p>
        </p:txBody>
      </p:sp>
      <p:sp>
        <p:nvSpPr>
          <p:cNvPr id="18" name="Text 13"/>
          <p:cNvSpPr/>
          <p:nvPr/>
        </p:nvSpPr>
        <p:spPr>
          <a:xfrm>
            <a:off x="8421624" y="3154680"/>
            <a:ext cx="3108960" cy="548640"/>
          </a:xfrm>
          <a:prstGeom prst="rect">
            <a:avLst/>
          </a:prstGeom>
          <a:noFill/>
          <a:ln/>
        </p:spPr>
        <p:txBody>
          <a:bodyPr wrap="square" rtlCol="0" anchor="t"/>
          <a:lstStyle/>
          <a:p>
            <a:pPr marL="0" indent="0">
              <a:buNone/>
            </a:pPr>
            <a:r>
              <a:rPr lang="en-US" sz="1250" dirty="0">
                <a:solidFill>
                  <a:srgbClr val="5B6584"/>
                </a:solidFill>
                <a:latin typeface="Times New Roman" panose="02020603050405020304" pitchFamily="18" charset="0"/>
                <a:ea typeface="Calibri" pitchFamily="34" charset="-122"/>
                <a:cs typeface="Times New Roman" panose="02020603050405020304" pitchFamily="18" charset="0"/>
              </a:rPr>
              <a:t>Live monthly / annual totals compared to user-set limits.</a:t>
            </a:r>
            <a:endParaRPr lang="en-US" sz="1250" dirty="0">
              <a:latin typeface="Times New Roman" panose="02020603050405020304" pitchFamily="18" charset="0"/>
              <a:cs typeface="Times New Roman" panose="02020603050405020304" pitchFamily="18" charset="0"/>
            </a:endParaRPr>
          </a:p>
        </p:txBody>
      </p:sp>
      <p:sp>
        <p:nvSpPr>
          <p:cNvPr id="19" name="Shape 14"/>
          <p:cNvSpPr/>
          <p:nvPr/>
        </p:nvSpPr>
        <p:spPr>
          <a:xfrm>
            <a:off x="777240" y="4251960"/>
            <a:ext cx="2871395" cy="1627632"/>
          </a:xfrm>
          <a:prstGeom prst="roundRect">
            <a:avLst>
              <a:gd name="adj" fmla="val 3478"/>
            </a:avLst>
          </a:prstGeom>
          <a:solidFill>
            <a:schemeClr val="bg1"/>
          </a:solidFill>
          <a:ln/>
        </p:spPr>
        <p:txBody>
          <a:bodyPr/>
          <a:lstStyle/>
          <a:p>
            <a:endParaRPr lang="en-US"/>
          </a:p>
        </p:txBody>
      </p:sp>
      <p:sp>
        <p:nvSpPr>
          <p:cNvPr id="20" name="Shape 15"/>
          <p:cNvSpPr/>
          <p:nvPr/>
        </p:nvSpPr>
        <p:spPr>
          <a:xfrm>
            <a:off x="777240" y="4251960"/>
            <a:ext cx="502920" cy="502920"/>
          </a:xfrm>
          <a:prstGeom prst="ellipse">
            <a:avLst/>
          </a:prstGeom>
          <a:solidFill>
            <a:srgbClr val="3FC1B0"/>
          </a:solidFill>
          <a:ln/>
        </p:spPr>
        <p:txBody>
          <a:bodyPr/>
          <a:lstStyle/>
          <a:p>
            <a:r>
              <a:rPr lang="en-US" dirty="0">
                <a:solidFill>
                  <a:schemeClr val="bg1"/>
                </a:solidFill>
                <a:latin typeface="Times New Roman" panose="02020603050405020304" pitchFamily="18" charset="0"/>
                <a:cs typeface="Times New Roman" panose="02020603050405020304" pitchFamily="18" charset="0"/>
              </a:rPr>
              <a:t>4</a:t>
            </a:r>
          </a:p>
        </p:txBody>
      </p:sp>
      <p:sp>
        <p:nvSpPr>
          <p:cNvPr id="22" name="Text 16"/>
          <p:cNvSpPr/>
          <p:nvPr/>
        </p:nvSpPr>
        <p:spPr>
          <a:xfrm>
            <a:off x="777240" y="4892040"/>
            <a:ext cx="3108960" cy="640080"/>
          </a:xfrm>
          <a:prstGeom prst="rect">
            <a:avLst/>
          </a:prstGeom>
          <a:noFill/>
          <a:ln/>
        </p:spPr>
        <p:txBody>
          <a:bodyPr wrap="square" rtlCol="0" anchor="t"/>
          <a:lstStyle/>
          <a:p>
            <a:pPr marL="0" indent="0">
              <a:buNone/>
            </a:pPr>
            <a:r>
              <a:rPr lang="en-US" sz="1500" b="1" dirty="0">
                <a:solidFill>
                  <a:srgbClr val="1B1F3B"/>
                </a:solidFill>
                <a:latin typeface="Times New Roman" panose="02020603050405020304" pitchFamily="18" charset="0"/>
                <a:ea typeface="Calibri" pitchFamily="34" charset="-122"/>
                <a:cs typeface="Times New Roman" panose="02020603050405020304" pitchFamily="18" charset="0"/>
              </a:rPr>
              <a:t>Persist data between runs</a:t>
            </a:r>
            <a:endParaRPr lang="en-US" sz="1500" dirty="0">
              <a:latin typeface="Times New Roman" panose="02020603050405020304" pitchFamily="18" charset="0"/>
              <a:cs typeface="Times New Roman" panose="02020603050405020304" pitchFamily="18" charset="0"/>
            </a:endParaRPr>
          </a:p>
        </p:txBody>
      </p:sp>
      <p:sp>
        <p:nvSpPr>
          <p:cNvPr id="23" name="Text 17"/>
          <p:cNvSpPr/>
          <p:nvPr/>
        </p:nvSpPr>
        <p:spPr>
          <a:xfrm>
            <a:off x="777240" y="5431536"/>
            <a:ext cx="3108960" cy="548640"/>
          </a:xfrm>
          <a:prstGeom prst="rect">
            <a:avLst/>
          </a:prstGeom>
          <a:noFill/>
          <a:ln/>
        </p:spPr>
        <p:txBody>
          <a:bodyPr wrap="square" rtlCol="0" anchor="t"/>
          <a:lstStyle/>
          <a:p>
            <a:pPr marL="0" indent="0">
              <a:buNone/>
            </a:pPr>
            <a:r>
              <a:rPr lang="en-US" sz="1250" dirty="0">
                <a:solidFill>
                  <a:srgbClr val="5B6584"/>
                </a:solidFill>
                <a:latin typeface="Times New Roman" panose="02020603050405020304" pitchFamily="18" charset="0"/>
                <a:ea typeface="Calibri" pitchFamily="34" charset="-122"/>
                <a:cs typeface="Times New Roman" panose="02020603050405020304" pitchFamily="18" charset="0"/>
              </a:rPr>
              <a:t>Credentials and subscriptions saved to local files.</a:t>
            </a:r>
            <a:endParaRPr lang="en-US" sz="1250" dirty="0">
              <a:latin typeface="Times New Roman" panose="02020603050405020304" pitchFamily="18" charset="0"/>
              <a:cs typeface="Times New Roman" panose="02020603050405020304" pitchFamily="18" charset="0"/>
            </a:endParaRPr>
          </a:p>
        </p:txBody>
      </p:sp>
      <p:sp>
        <p:nvSpPr>
          <p:cNvPr id="24" name="Shape 18"/>
          <p:cNvSpPr/>
          <p:nvPr/>
        </p:nvSpPr>
        <p:spPr>
          <a:xfrm>
            <a:off x="4370832" y="4023360"/>
            <a:ext cx="3566160" cy="2103120"/>
          </a:xfrm>
          <a:prstGeom prst="roundRect">
            <a:avLst>
              <a:gd name="adj" fmla="val 3478"/>
            </a:avLst>
          </a:prstGeom>
          <a:solidFill>
            <a:schemeClr val="bg1"/>
          </a:solidFill>
          <a:ln/>
        </p:spPr>
        <p:txBody>
          <a:bodyPr/>
          <a:lstStyle/>
          <a:p>
            <a:endParaRPr lang="en-US"/>
          </a:p>
        </p:txBody>
      </p:sp>
      <p:sp>
        <p:nvSpPr>
          <p:cNvPr id="25" name="Shape 19"/>
          <p:cNvSpPr/>
          <p:nvPr/>
        </p:nvSpPr>
        <p:spPr>
          <a:xfrm>
            <a:off x="4599432" y="4251960"/>
            <a:ext cx="502920" cy="502920"/>
          </a:xfrm>
          <a:prstGeom prst="ellipse">
            <a:avLst/>
          </a:prstGeom>
          <a:solidFill>
            <a:srgbClr val="3FC1B0"/>
          </a:solidFill>
          <a:ln/>
        </p:spPr>
        <p:txBody>
          <a:bodyPr/>
          <a:lstStyle/>
          <a:p>
            <a:r>
              <a:rPr lang="en-US" dirty="0">
                <a:solidFill>
                  <a:schemeClr val="bg1"/>
                </a:solidFill>
                <a:latin typeface="Times New Roman" panose="02020603050405020304" pitchFamily="18" charset="0"/>
                <a:cs typeface="Times New Roman" panose="02020603050405020304" pitchFamily="18" charset="0"/>
              </a:rPr>
              <a:t>5</a:t>
            </a:r>
          </a:p>
        </p:txBody>
      </p:sp>
      <p:sp>
        <p:nvSpPr>
          <p:cNvPr id="27" name="Text 20"/>
          <p:cNvSpPr/>
          <p:nvPr/>
        </p:nvSpPr>
        <p:spPr>
          <a:xfrm>
            <a:off x="4599432" y="4892040"/>
            <a:ext cx="3108960" cy="640080"/>
          </a:xfrm>
          <a:prstGeom prst="rect">
            <a:avLst/>
          </a:prstGeom>
          <a:noFill/>
          <a:ln/>
        </p:spPr>
        <p:txBody>
          <a:bodyPr wrap="square" rtlCol="0" anchor="t"/>
          <a:lstStyle/>
          <a:p>
            <a:pPr marL="0" indent="0">
              <a:buNone/>
            </a:pPr>
            <a:r>
              <a:rPr lang="en-US" sz="1500" b="1" dirty="0">
                <a:solidFill>
                  <a:srgbClr val="1B1F3B"/>
                </a:solidFill>
                <a:latin typeface="Times New Roman" panose="02020603050405020304" pitchFamily="18" charset="0"/>
                <a:ea typeface="Calibri" pitchFamily="34" charset="-122"/>
                <a:cs typeface="Times New Roman" panose="02020603050405020304" pitchFamily="18" charset="0"/>
              </a:rPr>
              <a:t>Secure registration, login &amp; recovery</a:t>
            </a:r>
            <a:endParaRPr lang="en-US" sz="1500" dirty="0">
              <a:latin typeface="Times New Roman" panose="02020603050405020304" pitchFamily="18" charset="0"/>
              <a:cs typeface="Times New Roman" panose="02020603050405020304" pitchFamily="18" charset="0"/>
            </a:endParaRPr>
          </a:p>
        </p:txBody>
      </p:sp>
      <p:sp>
        <p:nvSpPr>
          <p:cNvPr id="28" name="Text 21"/>
          <p:cNvSpPr/>
          <p:nvPr/>
        </p:nvSpPr>
        <p:spPr>
          <a:xfrm>
            <a:off x="4599432" y="5486400"/>
            <a:ext cx="3108960" cy="548640"/>
          </a:xfrm>
          <a:prstGeom prst="rect">
            <a:avLst/>
          </a:prstGeom>
          <a:noFill/>
          <a:ln/>
        </p:spPr>
        <p:txBody>
          <a:bodyPr wrap="square" rtlCol="0" anchor="t"/>
          <a:lstStyle/>
          <a:p>
            <a:pPr marL="0" indent="0">
              <a:buNone/>
            </a:pPr>
            <a:r>
              <a:rPr lang="en-US" sz="1250" dirty="0">
                <a:solidFill>
                  <a:srgbClr val="5B6584"/>
                </a:solidFill>
                <a:latin typeface="Times New Roman" panose="02020603050405020304" pitchFamily="18" charset="0"/>
                <a:ea typeface="Calibri" pitchFamily="34" charset="-122"/>
                <a:cs typeface="Times New Roman" panose="02020603050405020304" pitchFamily="18" charset="0"/>
              </a:rPr>
              <a:t>Attempt limits, safe-pass checks, phone-verified recovery.</a:t>
            </a:r>
            <a:endParaRPr lang="en-US" sz="1250" dirty="0">
              <a:latin typeface="Times New Roman" panose="02020603050405020304" pitchFamily="18" charset="0"/>
              <a:cs typeface="Times New Roman" panose="02020603050405020304" pitchFamily="18" charset="0"/>
            </a:endParaRPr>
          </a:p>
        </p:txBody>
      </p:sp>
      <p:sp>
        <p:nvSpPr>
          <p:cNvPr id="29" name="Shape 22"/>
          <p:cNvSpPr/>
          <p:nvPr/>
        </p:nvSpPr>
        <p:spPr>
          <a:xfrm>
            <a:off x="8193024" y="4023360"/>
            <a:ext cx="3566160" cy="2103120"/>
          </a:xfrm>
          <a:prstGeom prst="roundRect">
            <a:avLst>
              <a:gd name="adj" fmla="val 3478"/>
            </a:avLst>
          </a:prstGeom>
          <a:solidFill>
            <a:schemeClr val="bg1"/>
          </a:solidFill>
          <a:ln/>
        </p:spPr>
        <p:txBody>
          <a:bodyPr/>
          <a:lstStyle/>
          <a:p>
            <a:endParaRPr lang="en-US"/>
          </a:p>
        </p:txBody>
      </p:sp>
      <p:sp>
        <p:nvSpPr>
          <p:cNvPr id="30" name="Shape 23"/>
          <p:cNvSpPr/>
          <p:nvPr/>
        </p:nvSpPr>
        <p:spPr>
          <a:xfrm>
            <a:off x="8421624" y="4251960"/>
            <a:ext cx="502920" cy="502920"/>
          </a:xfrm>
          <a:prstGeom prst="ellipse">
            <a:avLst/>
          </a:prstGeom>
          <a:solidFill>
            <a:srgbClr val="3FC1B0"/>
          </a:solidFill>
          <a:ln/>
        </p:spPr>
        <p:txBody>
          <a:bodyPr/>
          <a:lstStyle/>
          <a:p>
            <a:r>
              <a:rPr lang="en-US" dirty="0">
                <a:solidFill>
                  <a:schemeClr val="bg1"/>
                </a:solidFill>
                <a:latin typeface="Times New Roman" panose="02020603050405020304" pitchFamily="18" charset="0"/>
                <a:cs typeface="Times New Roman" panose="02020603050405020304" pitchFamily="18" charset="0"/>
              </a:rPr>
              <a:t>6</a:t>
            </a:r>
          </a:p>
        </p:txBody>
      </p:sp>
      <p:sp>
        <p:nvSpPr>
          <p:cNvPr id="32" name="Text 24"/>
          <p:cNvSpPr/>
          <p:nvPr/>
        </p:nvSpPr>
        <p:spPr>
          <a:xfrm>
            <a:off x="8421624" y="4892040"/>
            <a:ext cx="3108960" cy="640080"/>
          </a:xfrm>
          <a:prstGeom prst="rect">
            <a:avLst/>
          </a:prstGeom>
          <a:noFill/>
          <a:ln/>
        </p:spPr>
        <p:txBody>
          <a:bodyPr wrap="square" rtlCol="0" anchor="t"/>
          <a:lstStyle/>
          <a:p>
            <a:pPr marL="0" indent="0">
              <a:buNone/>
            </a:pPr>
            <a:r>
              <a:rPr lang="en-US" sz="1500" b="1" dirty="0">
                <a:solidFill>
                  <a:srgbClr val="1B1F3B"/>
                </a:solidFill>
                <a:latin typeface="Times New Roman" panose="02020603050405020304" pitchFamily="18" charset="0"/>
                <a:ea typeface="Calibri" pitchFamily="34" charset="-122"/>
                <a:cs typeface="Times New Roman" panose="02020603050405020304" pitchFamily="18" charset="0"/>
              </a:rPr>
              <a:t>Give admins user &amp; subscription oversight</a:t>
            </a:r>
            <a:endParaRPr lang="en-US" sz="1500" dirty="0">
              <a:latin typeface="Times New Roman" panose="02020603050405020304" pitchFamily="18" charset="0"/>
              <a:cs typeface="Times New Roman" panose="02020603050405020304" pitchFamily="18" charset="0"/>
            </a:endParaRPr>
          </a:p>
        </p:txBody>
      </p:sp>
      <p:sp>
        <p:nvSpPr>
          <p:cNvPr id="33" name="Text 25"/>
          <p:cNvSpPr/>
          <p:nvPr/>
        </p:nvSpPr>
        <p:spPr>
          <a:xfrm>
            <a:off x="8421624" y="5486400"/>
            <a:ext cx="3108960" cy="548640"/>
          </a:xfrm>
          <a:prstGeom prst="rect">
            <a:avLst/>
          </a:prstGeom>
          <a:noFill/>
          <a:ln/>
        </p:spPr>
        <p:txBody>
          <a:bodyPr wrap="square" rtlCol="0" anchor="t"/>
          <a:lstStyle/>
          <a:p>
            <a:pPr marL="0" indent="0">
              <a:buNone/>
            </a:pPr>
            <a:r>
              <a:rPr lang="en-US" sz="1250" dirty="0">
                <a:solidFill>
                  <a:srgbClr val="5B6584"/>
                </a:solidFill>
                <a:latin typeface="Times New Roman" panose="02020603050405020304" pitchFamily="18" charset="0"/>
                <a:ea typeface="Calibri" pitchFamily="34" charset="-122"/>
                <a:cs typeface="Times New Roman" panose="02020603050405020304" pitchFamily="18" charset="0"/>
              </a:rPr>
              <a:t>A dedicated admin view to manage accounts and records.</a:t>
            </a:r>
            <a:endParaRPr lang="en-US" sz="1250" dirty="0">
              <a:latin typeface="Times New Roman" panose="02020603050405020304" pitchFamily="18" charset="0"/>
              <a:cs typeface="Times New Roman" panose="02020603050405020304" pitchFamily="18" charset="0"/>
            </a:endParaRPr>
          </a:p>
        </p:txBody>
      </p:sp>
      <p:sp>
        <p:nvSpPr>
          <p:cNvPr id="34" name="Text 26"/>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B6584"/>
                </a:solidFill>
                <a:latin typeface="Calibri" pitchFamily="34" charset="0"/>
                <a:ea typeface="Calibri" pitchFamily="34" charset="-122"/>
                <a:cs typeface="Calibri" pitchFamily="34" charset="-120"/>
              </a:rPr>
              <a:t>Subscription Manager — Java Project Presentation</a:t>
            </a:r>
            <a:endParaRPr lang="en-US" sz="900" dirty="0"/>
          </a:p>
        </p:txBody>
      </p:sp>
      <p:sp>
        <p:nvSpPr>
          <p:cNvPr id="35" name="Text 27"/>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4</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500" b="1" kern="0" spc="200" dirty="0">
                <a:solidFill>
                  <a:srgbClr val="3FC1B0"/>
                </a:solidFill>
                <a:latin typeface="Times New Roman" panose="02020603050405020304" pitchFamily="18" charset="0"/>
                <a:ea typeface="Calibri" pitchFamily="34" charset="-122"/>
                <a:cs typeface="Times New Roman" panose="02020603050405020304" pitchFamily="18" charset="0"/>
              </a:rPr>
              <a:t> SOFTWARES &amp; FILES</a:t>
            </a:r>
            <a:endParaRPr lang="en-US" sz="1500" dirty="0">
              <a:latin typeface="Times New Roman" panose="02020603050405020304" pitchFamily="18" charset="0"/>
              <a:cs typeface="Times New Roman" panose="02020603050405020304" pitchFamily="18" charset="0"/>
            </a:endParaRPr>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Technology Stack</a:t>
            </a:r>
            <a:endParaRPr lang="en-US" sz="3000" dirty="0"/>
          </a:p>
        </p:txBody>
      </p:sp>
      <p:sp>
        <p:nvSpPr>
          <p:cNvPr id="4" name="Shape 2"/>
          <p:cNvSpPr/>
          <p:nvPr/>
        </p:nvSpPr>
        <p:spPr>
          <a:xfrm>
            <a:off x="1005840" y="2377440"/>
            <a:ext cx="1737360" cy="2069054"/>
          </a:xfrm>
          <a:prstGeom prst="roundRect">
            <a:avLst>
              <a:gd name="adj" fmla="val 3509"/>
            </a:avLst>
          </a:prstGeom>
          <a:solidFill>
            <a:schemeClr val="bg1"/>
          </a:solidFill>
          <a:ln/>
        </p:spPr>
        <p:txBody>
          <a:bodyPr/>
          <a:lstStyle/>
          <a:p>
            <a:endParaRPr lang="en-US"/>
          </a:p>
        </p:txBody>
      </p:sp>
      <p:sp>
        <p:nvSpPr>
          <p:cNvPr id="5" name="Shape 3"/>
          <p:cNvSpPr/>
          <p:nvPr/>
        </p:nvSpPr>
        <p:spPr>
          <a:xfrm>
            <a:off x="1531620" y="2697480"/>
            <a:ext cx="731520" cy="731520"/>
          </a:xfrm>
          <a:prstGeom prst="ellipse">
            <a:avLst/>
          </a:prstGeom>
          <a:solidFill>
            <a:srgbClr val="3FC1B0"/>
          </a:solidFill>
          <a:ln/>
        </p:spPr>
        <p:txBody>
          <a:bodyPr/>
          <a:lstStyle/>
          <a:p>
            <a:endParaRPr lang="en-US"/>
          </a:p>
        </p:txBody>
      </p:sp>
      <p:pic>
        <p:nvPicPr>
          <p:cNvPr id="6" name="Image 0" descr="/home/claude/deck/icon_code.png"/>
          <p:cNvPicPr>
            <a:picLocks noChangeAspect="1"/>
          </p:cNvPicPr>
          <p:nvPr/>
        </p:nvPicPr>
        <p:blipFill>
          <a:blip r:embed="rId3"/>
          <a:stretch>
            <a:fillRect/>
          </a:stretch>
        </p:blipFill>
        <p:spPr>
          <a:xfrm>
            <a:off x="1721815" y="2887675"/>
            <a:ext cx="351130" cy="351130"/>
          </a:xfrm>
          <a:prstGeom prst="rect">
            <a:avLst/>
          </a:prstGeom>
        </p:spPr>
      </p:pic>
      <p:sp>
        <p:nvSpPr>
          <p:cNvPr id="7" name="Text 4"/>
          <p:cNvSpPr/>
          <p:nvPr/>
        </p:nvSpPr>
        <p:spPr>
          <a:xfrm>
            <a:off x="731520" y="3611880"/>
            <a:ext cx="2331720" cy="411480"/>
          </a:xfrm>
          <a:prstGeom prst="rect">
            <a:avLst/>
          </a:prstGeom>
          <a:noFill/>
          <a:ln/>
        </p:spPr>
        <p:txBody>
          <a:bodyPr wrap="square" rtlCol="0" anchor="ctr"/>
          <a:lstStyle/>
          <a:p>
            <a:pPr marL="0" indent="0" algn="ctr">
              <a:buNone/>
            </a:pPr>
            <a:r>
              <a:rPr lang="en-US" sz="1500" b="1" dirty="0">
                <a:latin typeface="Times New Roman" panose="02020603050405020304" pitchFamily="18" charset="0"/>
                <a:ea typeface="Calibri" pitchFamily="34" charset="-122"/>
                <a:cs typeface="Times New Roman" panose="02020603050405020304" pitchFamily="18" charset="0"/>
              </a:rPr>
              <a:t>Java</a:t>
            </a:r>
            <a:endParaRPr lang="en-US" sz="1500" dirty="0">
              <a:latin typeface="Times New Roman" panose="02020603050405020304" pitchFamily="18" charset="0"/>
              <a:cs typeface="Times New Roman" panose="02020603050405020304" pitchFamily="18" charset="0"/>
            </a:endParaRPr>
          </a:p>
        </p:txBody>
      </p:sp>
      <p:sp>
        <p:nvSpPr>
          <p:cNvPr id="8" name="Text 5"/>
          <p:cNvSpPr/>
          <p:nvPr/>
        </p:nvSpPr>
        <p:spPr>
          <a:xfrm>
            <a:off x="731520" y="4069080"/>
            <a:ext cx="2331720" cy="960120"/>
          </a:xfrm>
          <a:prstGeom prst="rect">
            <a:avLst/>
          </a:prstGeom>
          <a:noFill/>
          <a:ln/>
        </p:spPr>
        <p:txBody>
          <a:bodyPr wrap="square" rtlCol="0" anchor="t"/>
          <a:lstStyle/>
          <a:p>
            <a:pPr marL="0" indent="0" algn="ctr">
              <a:buNone/>
            </a:pPr>
            <a:r>
              <a:rPr lang="en-US" sz="1300" dirty="0">
                <a:latin typeface="Times New Roman" panose="02020603050405020304" pitchFamily="18" charset="0"/>
                <a:ea typeface="Calibri" pitchFamily="34" charset="-122"/>
                <a:cs typeface="Times New Roman" panose="02020603050405020304" pitchFamily="18" charset="0"/>
              </a:rPr>
              <a:t>Core language — JDK 8+</a:t>
            </a:r>
            <a:endParaRPr lang="en-US" sz="1300" dirty="0">
              <a:latin typeface="Times New Roman" panose="02020603050405020304" pitchFamily="18" charset="0"/>
              <a:cs typeface="Times New Roman" panose="02020603050405020304" pitchFamily="18" charset="0"/>
            </a:endParaRPr>
          </a:p>
        </p:txBody>
      </p:sp>
      <p:sp>
        <p:nvSpPr>
          <p:cNvPr id="9" name="Shape 6"/>
          <p:cNvSpPr/>
          <p:nvPr/>
        </p:nvSpPr>
        <p:spPr>
          <a:xfrm>
            <a:off x="3474720" y="2377440"/>
            <a:ext cx="2606040" cy="2834640"/>
          </a:xfrm>
          <a:prstGeom prst="roundRect">
            <a:avLst>
              <a:gd name="adj" fmla="val 3509"/>
            </a:avLst>
          </a:prstGeom>
          <a:solidFill>
            <a:schemeClr val="bg1"/>
          </a:solidFill>
          <a:ln/>
        </p:spPr>
        <p:txBody>
          <a:bodyPr/>
          <a:lstStyle/>
          <a:p>
            <a:endParaRPr lang="en-US"/>
          </a:p>
        </p:txBody>
      </p:sp>
      <p:sp>
        <p:nvSpPr>
          <p:cNvPr id="10" name="Shape 7"/>
          <p:cNvSpPr/>
          <p:nvPr/>
        </p:nvSpPr>
        <p:spPr>
          <a:xfrm>
            <a:off x="4411980" y="2697480"/>
            <a:ext cx="731520" cy="731520"/>
          </a:xfrm>
          <a:prstGeom prst="ellipse">
            <a:avLst/>
          </a:prstGeom>
          <a:solidFill>
            <a:srgbClr val="3FC1B0"/>
          </a:solidFill>
          <a:ln/>
        </p:spPr>
        <p:txBody>
          <a:bodyPr/>
          <a:lstStyle/>
          <a:p>
            <a:endParaRPr lang="en-US"/>
          </a:p>
        </p:txBody>
      </p:sp>
      <p:pic>
        <p:nvPicPr>
          <p:cNvPr id="11" name="Image 1" descr="/home/claude/deck/icon_monitor.png"/>
          <p:cNvPicPr>
            <a:picLocks noChangeAspect="1"/>
          </p:cNvPicPr>
          <p:nvPr/>
        </p:nvPicPr>
        <p:blipFill>
          <a:blip r:embed="rId4"/>
          <a:stretch>
            <a:fillRect/>
          </a:stretch>
        </p:blipFill>
        <p:spPr>
          <a:xfrm>
            <a:off x="4602175" y="2887675"/>
            <a:ext cx="351130" cy="351130"/>
          </a:xfrm>
          <a:prstGeom prst="rect">
            <a:avLst/>
          </a:prstGeom>
        </p:spPr>
      </p:pic>
      <p:sp>
        <p:nvSpPr>
          <p:cNvPr id="12" name="Text 8"/>
          <p:cNvSpPr/>
          <p:nvPr/>
        </p:nvSpPr>
        <p:spPr>
          <a:xfrm>
            <a:off x="3611880" y="3611880"/>
            <a:ext cx="2331720" cy="411480"/>
          </a:xfrm>
          <a:prstGeom prst="rect">
            <a:avLst/>
          </a:prstGeom>
          <a:noFill/>
          <a:ln/>
        </p:spPr>
        <p:txBody>
          <a:bodyPr wrap="square" rtlCol="0" anchor="ctr"/>
          <a:lstStyle/>
          <a:p>
            <a:pPr marL="0" indent="0" algn="ctr">
              <a:buNone/>
            </a:pPr>
            <a:r>
              <a:rPr lang="en-US" sz="1500" b="1" dirty="0">
                <a:latin typeface="Calibri" pitchFamily="34" charset="0"/>
                <a:ea typeface="Calibri" pitchFamily="34" charset="-122"/>
                <a:cs typeface="Calibri" pitchFamily="34" charset="-120"/>
              </a:rPr>
              <a:t>Java Swing</a:t>
            </a:r>
            <a:endParaRPr lang="en-US" sz="1500" dirty="0"/>
          </a:p>
        </p:txBody>
      </p:sp>
      <p:sp>
        <p:nvSpPr>
          <p:cNvPr id="13" name="Text 9"/>
          <p:cNvSpPr/>
          <p:nvPr/>
        </p:nvSpPr>
        <p:spPr>
          <a:xfrm>
            <a:off x="3611880" y="4069080"/>
            <a:ext cx="2331720" cy="960120"/>
          </a:xfrm>
          <a:prstGeom prst="rect">
            <a:avLst/>
          </a:prstGeom>
          <a:noFill/>
          <a:ln/>
        </p:spPr>
        <p:txBody>
          <a:bodyPr wrap="square" rtlCol="0" anchor="t"/>
          <a:lstStyle/>
          <a:p>
            <a:pPr marL="0" indent="0" algn="ctr">
              <a:buNone/>
            </a:pPr>
            <a:r>
              <a:rPr lang="en-US" sz="1300" dirty="0">
                <a:latin typeface="Times New Roman" panose="02020603050405020304" pitchFamily="18" charset="0"/>
                <a:ea typeface="Calibri" pitchFamily="34" charset="-122"/>
                <a:cs typeface="Times New Roman" panose="02020603050405020304" pitchFamily="18" charset="0"/>
              </a:rPr>
              <a:t>Entire GUI: windows, dialogs, tables</a:t>
            </a:r>
            <a:endParaRPr lang="en-US" sz="1300" dirty="0">
              <a:latin typeface="Times New Roman" panose="02020603050405020304" pitchFamily="18" charset="0"/>
              <a:cs typeface="Times New Roman" panose="02020603050405020304" pitchFamily="18" charset="0"/>
            </a:endParaRPr>
          </a:p>
        </p:txBody>
      </p:sp>
      <p:sp>
        <p:nvSpPr>
          <p:cNvPr id="14" name="Shape 10"/>
          <p:cNvSpPr/>
          <p:nvPr/>
        </p:nvSpPr>
        <p:spPr>
          <a:xfrm>
            <a:off x="6355080" y="2377440"/>
            <a:ext cx="2606040" cy="2834640"/>
          </a:xfrm>
          <a:prstGeom prst="roundRect">
            <a:avLst>
              <a:gd name="adj" fmla="val 3509"/>
            </a:avLst>
          </a:prstGeom>
          <a:solidFill>
            <a:schemeClr val="bg1"/>
          </a:solidFill>
          <a:ln/>
        </p:spPr>
        <p:txBody>
          <a:bodyPr/>
          <a:lstStyle/>
          <a:p>
            <a:endParaRPr lang="en-US"/>
          </a:p>
        </p:txBody>
      </p:sp>
      <p:sp>
        <p:nvSpPr>
          <p:cNvPr id="15" name="Shape 11"/>
          <p:cNvSpPr/>
          <p:nvPr/>
        </p:nvSpPr>
        <p:spPr>
          <a:xfrm>
            <a:off x="7292340" y="2697480"/>
            <a:ext cx="731520" cy="731520"/>
          </a:xfrm>
          <a:prstGeom prst="ellipse">
            <a:avLst/>
          </a:prstGeom>
          <a:solidFill>
            <a:srgbClr val="3FC1B0"/>
          </a:solidFill>
          <a:ln/>
        </p:spPr>
        <p:txBody>
          <a:bodyPr/>
          <a:lstStyle/>
          <a:p>
            <a:endParaRPr lang="en-US"/>
          </a:p>
        </p:txBody>
      </p:sp>
      <p:pic>
        <p:nvPicPr>
          <p:cNvPr id="16" name="Image 2" descr="/home/claude/deck/icon_database.png"/>
          <p:cNvPicPr>
            <a:picLocks noChangeAspect="1"/>
          </p:cNvPicPr>
          <p:nvPr/>
        </p:nvPicPr>
        <p:blipFill>
          <a:blip r:embed="rId5"/>
          <a:stretch>
            <a:fillRect/>
          </a:stretch>
        </p:blipFill>
        <p:spPr>
          <a:xfrm>
            <a:off x="7482535" y="2887675"/>
            <a:ext cx="351130" cy="351130"/>
          </a:xfrm>
          <a:prstGeom prst="rect">
            <a:avLst/>
          </a:prstGeom>
        </p:spPr>
      </p:pic>
      <p:sp>
        <p:nvSpPr>
          <p:cNvPr id="17" name="Text 12"/>
          <p:cNvSpPr/>
          <p:nvPr/>
        </p:nvSpPr>
        <p:spPr>
          <a:xfrm>
            <a:off x="6492240" y="3611880"/>
            <a:ext cx="2331720" cy="411480"/>
          </a:xfrm>
          <a:prstGeom prst="rect">
            <a:avLst/>
          </a:prstGeom>
          <a:noFill/>
          <a:ln/>
        </p:spPr>
        <p:txBody>
          <a:bodyPr wrap="square" rtlCol="0" anchor="ctr"/>
          <a:lstStyle/>
          <a:p>
            <a:pPr marL="0" indent="0" algn="ctr">
              <a:buNone/>
            </a:pPr>
            <a:r>
              <a:rPr lang="en-US" sz="1500" b="1" dirty="0">
                <a:latin typeface="Calibri" pitchFamily="34" charset="0"/>
                <a:ea typeface="Calibri" pitchFamily="34" charset="-122"/>
                <a:cs typeface="Calibri" pitchFamily="34" charset="-120"/>
              </a:rPr>
              <a:t>Local Text Files</a:t>
            </a:r>
            <a:endParaRPr lang="en-US" sz="1500" dirty="0"/>
          </a:p>
        </p:txBody>
      </p:sp>
      <p:sp>
        <p:nvSpPr>
          <p:cNvPr id="18" name="Text 13"/>
          <p:cNvSpPr/>
          <p:nvPr/>
        </p:nvSpPr>
        <p:spPr>
          <a:xfrm>
            <a:off x="6492240" y="4069080"/>
            <a:ext cx="2331720" cy="960120"/>
          </a:xfrm>
          <a:prstGeom prst="rect">
            <a:avLst/>
          </a:prstGeom>
          <a:noFill/>
          <a:ln/>
        </p:spPr>
        <p:txBody>
          <a:bodyPr wrap="square" rtlCol="0" anchor="t"/>
          <a:lstStyle/>
          <a:p>
            <a:pPr marL="0" indent="0" algn="ctr">
              <a:buNone/>
            </a:pPr>
            <a:r>
              <a:rPr lang="en-US" sz="1300" dirty="0">
                <a:latin typeface="Calibri" pitchFamily="34" charset="0"/>
                <a:ea typeface="Calibri" pitchFamily="34" charset="-122"/>
                <a:cs typeface="Calibri" pitchFamily="34" charset="-120"/>
              </a:rPr>
              <a:t>Credentials &amp; per-user subscription data</a:t>
            </a:r>
            <a:endParaRPr lang="en-US" sz="1300" dirty="0"/>
          </a:p>
        </p:txBody>
      </p:sp>
      <p:sp>
        <p:nvSpPr>
          <p:cNvPr id="19" name="Shape 14"/>
          <p:cNvSpPr/>
          <p:nvPr/>
        </p:nvSpPr>
        <p:spPr>
          <a:xfrm>
            <a:off x="9235440" y="2377440"/>
            <a:ext cx="2606040" cy="2834640"/>
          </a:xfrm>
          <a:prstGeom prst="roundRect">
            <a:avLst>
              <a:gd name="adj" fmla="val 3509"/>
            </a:avLst>
          </a:prstGeom>
          <a:solidFill>
            <a:schemeClr val="bg1"/>
          </a:solidFill>
          <a:ln/>
        </p:spPr>
        <p:txBody>
          <a:bodyPr/>
          <a:lstStyle/>
          <a:p>
            <a:endParaRPr lang="en-US"/>
          </a:p>
        </p:txBody>
      </p:sp>
      <p:sp>
        <p:nvSpPr>
          <p:cNvPr id="20" name="Shape 15"/>
          <p:cNvSpPr/>
          <p:nvPr/>
        </p:nvSpPr>
        <p:spPr>
          <a:xfrm>
            <a:off x="10172700" y="2697480"/>
            <a:ext cx="731520" cy="731520"/>
          </a:xfrm>
          <a:prstGeom prst="ellipse">
            <a:avLst/>
          </a:prstGeom>
          <a:solidFill>
            <a:srgbClr val="3FC1B0"/>
          </a:solidFill>
          <a:ln/>
        </p:spPr>
        <p:txBody>
          <a:bodyPr/>
          <a:lstStyle/>
          <a:p>
            <a:endParaRPr lang="en-US"/>
          </a:p>
        </p:txBody>
      </p:sp>
      <p:pic>
        <p:nvPicPr>
          <p:cNvPr id="21" name="Image 3" descr="/home/claude/deck/icon_lock.png"/>
          <p:cNvPicPr>
            <a:picLocks noChangeAspect="1"/>
          </p:cNvPicPr>
          <p:nvPr/>
        </p:nvPicPr>
        <p:blipFill>
          <a:blip r:embed="rId6"/>
          <a:stretch>
            <a:fillRect/>
          </a:stretch>
        </p:blipFill>
        <p:spPr>
          <a:xfrm>
            <a:off x="10362895" y="2887675"/>
            <a:ext cx="351130" cy="351130"/>
          </a:xfrm>
          <a:prstGeom prst="rect">
            <a:avLst/>
          </a:prstGeom>
        </p:spPr>
      </p:pic>
      <p:sp>
        <p:nvSpPr>
          <p:cNvPr id="22" name="Text 16"/>
          <p:cNvSpPr/>
          <p:nvPr/>
        </p:nvSpPr>
        <p:spPr>
          <a:xfrm>
            <a:off x="9372600" y="3611880"/>
            <a:ext cx="2331720" cy="411480"/>
          </a:xfrm>
          <a:prstGeom prst="rect">
            <a:avLst/>
          </a:prstGeom>
          <a:noFill/>
          <a:ln/>
        </p:spPr>
        <p:txBody>
          <a:bodyPr wrap="square" rtlCol="0" anchor="ctr"/>
          <a:lstStyle/>
          <a:p>
            <a:pPr marL="0" indent="0" algn="ctr">
              <a:buNone/>
            </a:pPr>
            <a:r>
              <a:rPr lang="en-US" sz="1500" b="1" dirty="0">
                <a:latin typeface="Calibri" pitchFamily="34" charset="0"/>
                <a:ea typeface="Calibri" pitchFamily="34" charset="-122"/>
                <a:cs typeface="Calibri" pitchFamily="34" charset="-120"/>
              </a:rPr>
              <a:t>EncryptionUtils</a:t>
            </a:r>
            <a:endParaRPr lang="en-US" sz="1500" dirty="0"/>
          </a:p>
        </p:txBody>
      </p:sp>
      <p:sp>
        <p:nvSpPr>
          <p:cNvPr id="23" name="Text 17"/>
          <p:cNvSpPr/>
          <p:nvPr/>
        </p:nvSpPr>
        <p:spPr>
          <a:xfrm>
            <a:off x="9372600" y="4069080"/>
            <a:ext cx="2331720" cy="960120"/>
          </a:xfrm>
          <a:prstGeom prst="rect">
            <a:avLst/>
          </a:prstGeom>
          <a:noFill/>
          <a:ln/>
        </p:spPr>
        <p:txBody>
          <a:bodyPr wrap="square" rtlCol="0" anchor="t"/>
          <a:lstStyle/>
          <a:p>
            <a:pPr marL="0" indent="0" algn="ctr">
              <a:buNone/>
            </a:pPr>
            <a:r>
              <a:rPr lang="en-US" sz="1300" dirty="0">
                <a:latin typeface="Calibri" pitchFamily="34" charset="0"/>
                <a:ea typeface="Calibri" pitchFamily="34" charset="-122"/>
                <a:cs typeface="Calibri" pitchFamily="34" charset="-120"/>
              </a:rPr>
              <a:t>XOR + Base64 credential transformation</a:t>
            </a:r>
            <a:endParaRPr lang="en-US" sz="1300" dirty="0"/>
          </a:p>
        </p:txBody>
      </p:sp>
      <p:sp>
        <p:nvSpPr>
          <p:cNvPr id="24" name="Text 18"/>
          <p:cNvSpPr/>
          <p:nvPr/>
        </p:nvSpPr>
        <p:spPr>
          <a:xfrm>
            <a:off x="1005840" y="5532120"/>
            <a:ext cx="10972800" cy="365760"/>
          </a:xfrm>
          <a:prstGeom prst="rect">
            <a:avLst/>
          </a:prstGeom>
          <a:noFill/>
          <a:ln/>
        </p:spPr>
        <p:txBody>
          <a:bodyPr wrap="square" rtlCol="0" anchor="ctr"/>
          <a:lstStyle/>
          <a:p>
            <a:pPr marL="0" indent="0">
              <a:buNone/>
            </a:pPr>
            <a:endParaRPr lang="en-US" sz="1300" dirty="0"/>
          </a:p>
        </p:txBody>
      </p:sp>
      <p:sp>
        <p:nvSpPr>
          <p:cNvPr id="25" name="Text 19"/>
          <p:cNvSpPr/>
          <p:nvPr/>
        </p:nvSpPr>
        <p:spPr>
          <a:xfrm>
            <a:off x="457200" y="6473952"/>
            <a:ext cx="7315200" cy="274320"/>
          </a:xfrm>
          <a:prstGeom prst="rect">
            <a:avLst/>
          </a:prstGeom>
          <a:noFill/>
          <a:ln/>
        </p:spPr>
        <p:txBody>
          <a:bodyPr wrap="square" rtlCol="0" anchor="ctr"/>
          <a:lstStyle/>
          <a:p>
            <a:pPr marL="0" indent="0" algn="l">
              <a:buNone/>
            </a:pPr>
            <a:endParaRPr lang="en-US" sz="900" dirty="0"/>
          </a:p>
        </p:txBody>
      </p:sp>
      <p:sp>
        <p:nvSpPr>
          <p:cNvPr id="26" name="Text 20"/>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8892C4"/>
                </a:solidFill>
                <a:latin typeface="Calibri" pitchFamily="34" charset="0"/>
                <a:ea typeface="Calibri" pitchFamily="34" charset="-122"/>
                <a:cs typeface="Calibri" pitchFamily="34" charset="-120"/>
              </a:rPr>
              <a:t>5</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DESIGN</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Architecture &amp; Startup Flow</a:t>
            </a:r>
            <a:endParaRPr lang="en-US" sz="3000" dirty="0"/>
          </a:p>
        </p:txBody>
      </p:sp>
      <p:sp>
        <p:nvSpPr>
          <p:cNvPr id="4" name="Shape 2"/>
          <p:cNvSpPr/>
          <p:nvPr/>
        </p:nvSpPr>
        <p:spPr>
          <a:xfrm>
            <a:off x="548640" y="1691640"/>
            <a:ext cx="5394960" cy="658368"/>
          </a:xfrm>
          <a:prstGeom prst="roundRect">
            <a:avLst>
              <a:gd name="adj" fmla="val 8333"/>
            </a:avLst>
          </a:prstGeom>
          <a:solidFill>
            <a:srgbClr val="CADCFC"/>
          </a:solidFill>
          <a:ln/>
        </p:spPr>
        <p:txBody>
          <a:bodyPr/>
          <a:lstStyle/>
          <a:p>
            <a:endParaRPr lang="en-US"/>
          </a:p>
        </p:txBody>
      </p:sp>
      <p:sp>
        <p:nvSpPr>
          <p:cNvPr id="5" name="Text 3"/>
          <p:cNvSpPr/>
          <p:nvPr/>
        </p:nvSpPr>
        <p:spPr>
          <a:xfrm>
            <a:off x="731520" y="1691640"/>
            <a:ext cx="1828800" cy="658368"/>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Presentation</a:t>
            </a:r>
            <a:endParaRPr lang="en-US" sz="1250" dirty="0"/>
          </a:p>
        </p:txBody>
      </p:sp>
      <p:sp>
        <p:nvSpPr>
          <p:cNvPr id="6" name="Text 4"/>
          <p:cNvSpPr/>
          <p:nvPr/>
        </p:nvSpPr>
        <p:spPr>
          <a:xfrm>
            <a:off x="2606040" y="1691640"/>
            <a:ext cx="3246120" cy="658368"/>
          </a:xfrm>
          <a:prstGeom prst="rect">
            <a:avLst/>
          </a:prstGeom>
          <a:noFill/>
          <a:ln/>
        </p:spPr>
        <p:txBody>
          <a:bodyPr wrap="square" rtlCol="0" anchor="ctr"/>
          <a:lstStyle/>
          <a:p>
            <a:pPr marL="0" indent="0">
              <a:buNone/>
            </a:pPr>
            <a:r>
              <a:rPr lang="en-US" sz="1050" dirty="0">
                <a:solidFill>
                  <a:srgbClr val="5B6584"/>
                </a:solidFill>
                <a:latin typeface="Calibri" pitchFamily="34" charset="0"/>
                <a:ea typeface="Calibri" pitchFamily="34" charset="-122"/>
                <a:cs typeface="Calibri" pitchFamily="34" charset="-120"/>
              </a:rPr>
              <a:t>LoginManager, SubscriptionManager, SubscriptionWindow</a:t>
            </a:r>
            <a:endParaRPr lang="en-US" sz="1050" dirty="0"/>
          </a:p>
        </p:txBody>
      </p:sp>
      <p:sp>
        <p:nvSpPr>
          <p:cNvPr id="7" name="Shape 5"/>
          <p:cNvSpPr/>
          <p:nvPr/>
        </p:nvSpPr>
        <p:spPr>
          <a:xfrm>
            <a:off x="548640" y="2468880"/>
            <a:ext cx="5394960" cy="658368"/>
          </a:xfrm>
          <a:prstGeom prst="roundRect">
            <a:avLst>
              <a:gd name="adj" fmla="val 8333"/>
            </a:avLst>
          </a:prstGeom>
          <a:solidFill>
            <a:srgbClr val="F4F7FD"/>
          </a:solidFill>
          <a:ln/>
        </p:spPr>
        <p:txBody>
          <a:bodyPr/>
          <a:lstStyle/>
          <a:p>
            <a:endParaRPr lang="en-US"/>
          </a:p>
        </p:txBody>
      </p:sp>
      <p:sp>
        <p:nvSpPr>
          <p:cNvPr id="8" name="Text 6"/>
          <p:cNvSpPr/>
          <p:nvPr/>
        </p:nvSpPr>
        <p:spPr>
          <a:xfrm>
            <a:off x="731520" y="2468880"/>
            <a:ext cx="1828800" cy="658368"/>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Application Control</a:t>
            </a:r>
            <a:endParaRPr lang="en-US" sz="1250" dirty="0"/>
          </a:p>
        </p:txBody>
      </p:sp>
      <p:sp>
        <p:nvSpPr>
          <p:cNvPr id="9" name="Text 7"/>
          <p:cNvSpPr/>
          <p:nvPr/>
        </p:nvSpPr>
        <p:spPr>
          <a:xfrm>
            <a:off x="2606040" y="2468880"/>
            <a:ext cx="3246120" cy="658368"/>
          </a:xfrm>
          <a:prstGeom prst="rect">
            <a:avLst/>
          </a:prstGeom>
          <a:noFill/>
          <a:ln/>
        </p:spPr>
        <p:txBody>
          <a:bodyPr wrap="square" rtlCol="0" anchor="ctr"/>
          <a:lstStyle/>
          <a:p>
            <a:pPr marL="0" indent="0">
              <a:buNone/>
            </a:pPr>
            <a:r>
              <a:rPr lang="en-US" sz="1050" dirty="0">
                <a:solidFill>
                  <a:srgbClr val="5B6584"/>
                </a:solidFill>
                <a:latin typeface="Calibri" pitchFamily="34" charset="0"/>
                <a:ea typeface="Calibri" pitchFamily="34" charset="-122"/>
                <a:cs typeface="Calibri" pitchFamily="34" charset="-120"/>
              </a:rPr>
              <a:t>Main, SubscriptionManager</a:t>
            </a:r>
            <a:endParaRPr lang="en-US" sz="1050" dirty="0"/>
          </a:p>
        </p:txBody>
      </p:sp>
      <p:sp>
        <p:nvSpPr>
          <p:cNvPr id="10" name="Shape 8"/>
          <p:cNvSpPr/>
          <p:nvPr/>
        </p:nvSpPr>
        <p:spPr>
          <a:xfrm>
            <a:off x="548640" y="3246120"/>
            <a:ext cx="5394960" cy="658368"/>
          </a:xfrm>
          <a:prstGeom prst="roundRect">
            <a:avLst>
              <a:gd name="adj" fmla="val 8333"/>
            </a:avLst>
          </a:prstGeom>
          <a:solidFill>
            <a:srgbClr val="CADCFC"/>
          </a:solidFill>
          <a:ln/>
        </p:spPr>
        <p:txBody>
          <a:bodyPr/>
          <a:lstStyle/>
          <a:p>
            <a:endParaRPr lang="en-US"/>
          </a:p>
        </p:txBody>
      </p:sp>
      <p:sp>
        <p:nvSpPr>
          <p:cNvPr id="11" name="Text 9"/>
          <p:cNvSpPr/>
          <p:nvPr/>
        </p:nvSpPr>
        <p:spPr>
          <a:xfrm>
            <a:off x="731520" y="3246120"/>
            <a:ext cx="1828800" cy="658368"/>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Domain Model</a:t>
            </a:r>
            <a:endParaRPr lang="en-US" sz="1250" dirty="0"/>
          </a:p>
        </p:txBody>
      </p:sp>
      <p:sp>
        <p:nvSpPr>
          <p:cNvPr id="12" name="Text 10"/>
          <p:cNvSpPr/>
          <p:nvPr/>
        </p:nvSpPr>
        <p:spPr>
          <a:xfrm>
            <a:off x="2606040" y="3246120"/>
            <a:ext cx="3246120" cy="658368"/>
          </a:xfrm>
          <a:prstGeom prst="rect">
            <a:avLst/>
          </a:prstGeom>
          <a:noFill/>
          <a:ln/>
        </p:spPr>
        <p:txBody>
          <a:bodyPr wrap="square" rtlCol="0" anchor="ctr"/>
          <a:lstStyle/>
          <a:p>
            <a:pPr marL="0" indent="0">
              <a:buNone/>
            </a:pPr>
            <a:r>
              <a:rPr lang="en-US" sz="1050" dirty="0">
                <a:solidFill>
                  <a:srgbClr val="5B6584"/>
                </a:solidFill>
                <a:latin typeface="Calibri" pitchFamily="34" charset="0"/>
                <a:ea typeface="Calibri" pitchFamily="34" charset="-122"/>
                <a:cs typeface="Calibri" pitchFamily="34" charset="-120"/>
              </a:rPr>
              <a:t>Subscription, MonthlySubscription, AnnualSubscription, Cancelable</a:t>
            </a:r>
            <a:endParaRPr lang="en-US" sz="1050" dirty="0"/>
          </a:p>
        </p:txBody>
      </p:sp>
      <p:sp>
        <p:nvSpPr>
          <p:cNvPr id="13" name="Shape 11"/>
          <p:cNvSpPr/>
          <p:nvPr/>
        </p:nvSpPr>
        <p:spPr>
          <a:xfrm>
            <a:off x="548640" y="4023360"/>
            <a:ext cx="5394960" cy="658368"/>
          </a:xfrm>
          <a:prstGeom prst="roundRect">
            <a:avLst>
              <a:gd name="adj" fmla="val 8333"/>
            </a:avLst>
          </a:prstGeom>
          <a:solidFill>
            <a:srgbClr val="F4F7FD"/>
          </a:solidFill>
          <a:ln/>
        </p:spPr>
        <p:txBody>
          <a:bodyPr/>
          <a:lstStyle/>
          <a:p>
            <a:endParaRPr lang="en-US"/>
          </a:p>
        </p:txBody>
      </p:sp>
      <p:sp>
        <p:nvSpPr>
          <p:cNvPr id="14" name="Text 12"/>
          <p:cNvSpPr/>
          <p:nvPr/>
        </p:nvSpPr>
        <p:spPr>
          <a:xfrm>
            <a:off x="731520" y="4023360"/>
            <a:ext cx="1828800" cy="658368"/>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Persistence</a:t>
            </a:r>
            <a:endParaRPr lang="en-US" sz="1250" dirty="0"/>
          </a:p>
        </p:txBody>
      </p:sp>
      <p:sp>
        <p:nvSpPr>
          <p:cNvPr id="15" name="Text 13"/>
          <p:cNvSpPr/>
          <p:nvPr/>
        </p:nvSpPr>
        <p:spPr>
          <a:xfrm>
            <a:off x="2606040" y="4023360"/>
            <a:ext cx="3246120" cy="658368"/>
          </a:xfrm>
          <a:prstGeom prst="rect">
            <a:avLst/>
          </a:prstGeom>
          <a:noFill/>
          <a:ln/>
        </p:spPr>
        <p:txBody>
          <a:bodyPr wrap="square" rtlCol="0" anchor="ctr"/>
          <a:lstStyle/>
          <a:p>
            <a:pPr marL="0" indent="0">
              <a:buNone/>
            </a:pPr>
            <a:r>
              <a:rPr lang="en-US" sz="1050" dirty="0">
                <a:solidFill>
                  <a:srgbClr val="5B6584"/>
                </a:solidFill>
                <a:latin typeface="Calibri" pitchFamily="34" charset="0"/>
                <a:ea typeface="Calibri" pitchFamily="34" charset="-122"/>
                <a:cs typeface="Calibri" pitchFamily="34" charset="-120"/>
              </a:rPr>
              <a:t>FileManager</a:t>
            </a:r>
            <a:endParaRPr lang="en-US" sz="1050" dirty="0"/>
          </a:p>
        </p:txBody>
      </p:sp>
      <p:sp>
        <p:nvSpPr>
          <p:cNvPr id="16" name="Shape 14"/>
          <p:cNvSpPr/>
          <p:nvPr/>
        </p:nvSpPr>
        <p:spPr>
          <a:xfrm>
            <a:off x="548640" y="4800600"/>
            <a:ext cx="5394960" cy="658368"/>
          </a:xfrm>
          <a:prstGeom prst="roundRect">
            <a:avLst>
              <a:gd name="adj" fmla="val 8333"/>
            </a:avLst>
          </a:prstGeom>
          <a:solidFill>
            <a:srgbClr val="CADCFC"/>
          </a:solidFill>
          <a:ln/>
        </p:spPr>
        <p:txBody>
          <a:bodyPr/>
          <a:lstStyle/>
          <a:p>
            <a:endParaRPr lang="en-US"/>
          </a:p>
        </p:txBody>
      </p:sp>
      <p:sp>
        <p:nvSpPr>
          <p:cNvPr id="17" name="Text 15"/>
          <p:cNvSpPr/>
          <p:nvPr/>
        </p:nvSpPr>
        <p:spPr>
          <a:xfrm>
            <a:off x="731520" y="4800600"/>
            <a:ext cx="1828800" cy="658368"/>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Protection</a:t>
            </a:r>
            <a:endParaRPr lang="en-US" sz="1250" dirty="0"/>
          </a:p>
        </p:txBody>
      </p:sp>
      <p:sp>
        <p:nvSpPr>
          <p:cNvPr id="18" name="Text 16"/>
          <p:cNvSpPr/>
          <p:nvPr/>
        </p:nvSpPr>
        <p:spPr>
          <a:xfrm>
            <a:off x="2606040" y="4800600"/>
            <a:ext cx="3246120" cy="658368"/>
          </a:xfrm>
          <a:prstGeom prst="rect">
            <a:avLst/>
          </a:prstGeom>
          <a:noFill/>
          <a:ln/>
        </p:spPr>
        <p:txBody>
          <a:bodyPr wrap="square" rtlCol="0" anchor="ctr"/>
          <a:lstStyle/>
          <a:p>
            <a:pPr marL="0" indent="0">
              <a:buNone/>
            </a:pPr>
            <a:r>
              <a:rPr lang="en-US" sz="1050" dirty="0">
                <a:solidFill>
                  <a:srgbClr val="5B6584"/>
                </a:solidFill>
                <a:latin typeface="Calibri" pitchFamily="34" charset="0"/>
                <a:ea typeface="Calibri" pitchFamily="34" charset="-122"/>
                <a:cs typeface="Calibri" pitchFamily="34" charset="-120"/>
              </a:rPr>
              <a:t>EncryptionUtils</a:t>
            </a:r>
            <a:endParaRPr lang="en-US" sz="1050" dirty="0"/>
          </a:p>
        </p:txBody>
      </p:sp>
      <p:sp>
        <p:nvSpPr>
          <p:cNvPr id="19" name="Shape 17"/>
          <p:cNvSpPr/>
          <p:nvPr/>
        </p:nvSpPr>
        <p:spPr>
          <a:xfrm>
            <a:off x="6263640" y="1691640"/>
            <a:ext cx="5394960" cy="3977640"/>
          </a:xfrm>
          <a:prstGeom prst="roundRect">
            <a:avLst>
              <a:gd name="adj" fmla="val 2299"/>
            </a:avLst>
          </a:prstGeom>
          <a:solidFill>
            <a:schemeClr val="bg1">
              <a:lumMod val="95000"/>
            </a:schemeClr>
          </a:solidFill>
          <a:ln/>
        </p:spPr>
        <p:txBody>
          <a:bodyPr/>
          <a:lstStyle/>
          <a:p>
            <a:endParaRPr lang="en-US"/>
          </a:p>
        </p:txBody>
      </p:sp>
      <p:sp>
        <p:nvSpPr>
          <p:cNvPr id="20" name="Text 18"/>
          <p:cNvSpPr/>
          <p:nvPr/>
        </p:nvSpPr>
        <p:spPr>
          <a:xfrm>
            <a:off x="6537960" y="1874520"/>
            <a:ext cx="4846320" cy="365760"/>
          </a:xfrm>
          <a:prstGeom prst="rect">
            <a:avLst/>
          </a:prstGeom>
          <a:noFill/>
          <a:ln/>
        </p:spPr>
        <p:txBody>
          <a:bodyPr wrap="square" rtlCol="0" anchor="ctr"/>
          <a:lstStyle/>
          <a:p>
            <a:pPr marL="0" indent="0">
              <a:buNone/>
            </a:pPr>
            <a:r>
              <a:rPr lang="en-US" sz="1400" b="1" dirty="0">
                <a:solidFill>
                  <a:srgbClr val="3FC1B0"/>
                </a:solidFill>
                <a:latin typeface="Calibri" pitchFamily="34" charset="0"/>
                <a:ea typeface="Calibri" pitchFamily="34" charset="-122"/>
                <a:cs typeface="Calibri" pitchFamily="34" charset="-120"/>
              </a:rPr>
              <a:t>Startup Sequence</a:t>
            </a:r>
            <a:endParaRPr lang="en-US" sz="1400" dirty="0"/>
          </a:p>
        </p:txBody>
      </p:sp>
      <p:sp>
        <p:nvSpPr>
          <p:cNvPr id="21" name="Shape 19"/>
          <p:cNvSpPr/>
          <p:nvPr/>
        </p:nvSpPr>
        <p:spPr>
          <a:xfrm>
            <a:off x="6537960" y="2377440"/>
            <a:ext cx="4846320" cy="457200"/>
          </a:xfrm>
          <a:prstGeom prst="roundRect">
            <a:avLst>
              <a:gd name="adj" fmla="val 50000"/>
            </a:avLst>
          </a:prstGeom>
          <a:solidFill>
            <a:schemeClr val="bg1"/>
          </a:solidFill>
          <a:ln/>
        </p:spPr>
        <p:txBody>
          <a:bodyPr/>
          <a:lstStyle/>
          <a:p>
            <a:endParaRPr lang="en-US"/>
          </a:p>
        </p:txBody>
      </p:sp>
      <p:sp>
        <p:nvSpPr>
          <p:cNvPr id="22" name="Text 20"/>
          <p:cNvSpPr/>
          <p:nvPr/>
        </p:nvSpPr>
        <p:spPr>
          <a:xfrm>
            <a:off x="6675120" y="2377440"/>
            <a:ext cx="365760" cy="457200"/>
          </a:xfrm>
          <a:prstGeom prst="rect">
            <a:avLst/>
          </a:prstGeom>
          <a:noFill/>
          <a:ln/>
        </p:spPr>
        <p:txBody>
          <a:bodyPr wrap="square" rtlCol="0" anchor="ctr"/>
          <a:lstStyle/>
          <a:p>
            <a:pPr marL="0" indent="0">
              <a:buNone/>
            </a:pPr>
            <a:r>
              <a:rPr lang="en-US" sz="1200" b="1" dirty="0">
                <a:solidFill>
                  <a:srgbClr val="3FC1B0"/>
                </a:solidFill>
                <a:latin typeface="Calibri" pitchFamily="34" charset="0"/>
                <a:ea typeface="Calibri" pitchFamily="34" charset="-122"/>
                <a:cs typeface="Calibri" pitchFamily="34" charset="-120"/>
              </a:rPr>
              <a:t>1</a:t>
            </a:r>
            <a:endParaRPr lang="en-US" sz="1200" dirty="0"/>
          </a:p>
        </p:txBody>
      </p:sp>
      <p:sp>
        <p:nvSpPr>
          <p:cNvPr id="23" name="Text 21"/>
          <p:cNvSpPr/>
          <p:nvPr/>
        </p:nvSpPr>
        <p:spPr>
          <a:xfrm>
            <a:off x="7086600" y="2377440"/>
            <a:ext cx="4114800" cy="457200"/>
          </a:xfrm>
          <a:prstGeom prst="rect">
            <a:avLst/>
          </a:prstGeom>
          <a:noFill/>
          <a:ln/>
        </p:spPr>
        <p:txBody>
          <a:bodyPr wrap="square" rtlCol="0" anchor="ctr"/>
          <a:lstStyle/>
          <a:p>
            <a:pPr marL="0" indent="0">
              <a:buNone/>
            </a:pPr>
            <a:r>
              <a:rPr lang="en-US" sz="1250" dirty="0">
                <a:latin typeface="Calibri" pitchFamily="34" charset="0"/>
                <a:ea typeface="Calibri" pitchFamily="34" charset="-122"/>
                <a:cs typeface="Calibri" pitchFamily="34" charset="-120"/>
              </a:rPr>
              <a:t>Main.main()</a:t>
            </a:r>
            <a:endParaRPr lang="en-US" sz="1250" dirty="0"/>
          </a:p>
        </p:txBody>
      </p:sp>
      <p:sp>
        <p:nvSpPr>
          <p:cNvPr id="24" name="Shape 22"/>
          <p:cNvSpPr/>
          <p:nvPr/>
        </p:nvSpPr>
        <p:spPr>
          <a:xfrm>
            <a:off x="6537960" y="2944368"/>
            <a:ext cx="4846320" cy="457200"/>
          </a:xfrm>
          <a:prstGeom prst="roundRect">
            <a:avLst>
              <a:gd name="adj" fmla="val 50000"/>
            </a:avLst>
          </a:prstGeom>
          <a:solidFill>
            <a:schemeClr val="bg1"/>
          </a:solidFill>
          <a:ln/>
        </p:spPr>
        <p:txBody>
          <a:bodyPr/>
          <a:lstStyle/>
          <a:p>
            <a:endParaRPr lang="en-US"/>
          </a:p>
        </p:txBody>
      </p:sp>
      <p:sp>
        <p:nvSpPr>
          <p:cNvPr id="25" name="Text 23"/>
          <p:cNvSpPr/>
          <p:nvPr/>
        </p:nvSpPr>
        <p:spPr>
          <a:xfrm>
            <a:off x="6675120" y="2944368"/>
            <a:ext cx="365760" cy="457200"/>
          </a:xfrm>
          <a:prstGeom prst="rect">
            <a:avLst/>
          </a:prstGeom>
          <a:noFill/>
          <a:ln/>
        </p:spPr>
        <p:txBody>
          <a:bodyPr wrap="square" rtlCol="0" anchor="ctr"/>
          <a:lstStyle/>
          <a:p>
            <a:pPr marL="0" indent="0">
              <a:buNone/>
            </a:pPr>
            <a:r>
              <a:rPr lang="en-US" sz="1200" b="1" dirty="0">
                <a:solidFill>
                  <a:srgbClr val="3FC1B0"/>
                </a:solidFill>
                <a:latin typeface="Calibri" pitchFamily="34" charset="0"/>
                <a:ea typeface="Calibri" pitchFamily="34" charset="-122"/>
                <a:cs typeface="Calibri" pitchFamily="34" charset="-120"/>
              </a:rPr>
              <a:t>2</a:t>
            </a:r>
            <a:endParaRPr lang="en-US" sz="1200" dirty="0"/>
          </a:p>
        </p:txBody>
      </p:sp>
      <p:sp>
        <p:nvSpPr>
          <p:cNvPr id="26" name="Text 24"/>
          <p:cNvSpPr/>
          <p:nvPr/>
        </p:nvSpPr>
        <p:spPr>
          <a:xfrm>
            <a:off x="7086600" y="2944368"/>
            <a:ext cx="4114800" cy="457200"/>
          </a:xfrm>
          <a:prstGeom prst="rect">
            <a:avLst/>
          </a:prstGeom>
          <a:noFill/>
          <a:ln/>
        </p:spPr>
        <p:txBody>
          <a:bodyPr wrap="square" rtlCol="0" anchor="ctr"/>
          <a:lstStyle/>
          <a:p>
            <a:pPr marL="0" indent="0">
              <a:buNone/>
            </a:pPr>
            <a:r>
              <a:rPr lang="en-US" sz="1250" dirty="0">
                <a:latin typeface="Calibri" pitchFamily="34" charset="0"/>
                <a:ea typeface="Calibri" pitchFamily="34" charset="-122"/>
                <a:cs typeface="Calibri" pitchFamily="34" charset="-120"/>
              </a:rPr>
              <a:t>ensureFilesExist()</a:t>
            </a:r>
            <a:endParaRPr lang="en-US" sz="1250" dirty="0"/>
          </a:p>
        </p:txBody>
      </p:sp>
      <p:sp>
        <p:nvSpPr>
          <p:cNvPr id="27" name="Shape 25"/>
          <p:cNvSpPr/>
          <p:nvPr/>
        </p:nvSpPr>
        <p:spPr>
          <a:xfrm>
            <a:off x="6537960" y="3511296"/>
            <a:ext cx="4846320" cy="457200"/>
          </a:xfrm>
          <a:prstGeom prst="roundRect">
            <a:avLst>
              <a:gd name="adj" fmla="val 50000"/>
            </a:avLst>
          </a:prstGeom>
          <a:solidFill>
            <a:schemeClr val="bg1"/>
          </a:solidFill>
          <a:ln/>
        </p:spPr>
        <p:txBody>
          <a:bodyPr/>
          <a:lstStyle/>
          <a:p>
            <a:endParaRPr lang="en-US"/>
          </a:p>
        </p:txBody>
      </p:sp>
      <p:sp>
        <p:nvSpPr>
          <p:cNvPr id="28" name="Text 26"/>
          <p:cNvSpPr/>
          <p:nvPr/>
        </p:nvSpPr>
        <p:spPr>
          <a:xfrm>
            <a:off x="6675120" y="3511296"/>
            <a:ext cx="365760" cy="457200"/>
          </a:xfrm>
          <a:prstGeom prst="rect">
            <a:avLst/>
          </a:prstGeom>
          <a:noFill/>
          <a:ln/>
        </p:spPr>
        <p:txBody>
          <a:bodyPr wrap="square" rtlCol="0" anchor="ctr"/>
          <a:lstStyle/>
          <a:p>
            <a:pPr marL="0" indent="0">
              <a:buNone/>
            </a:pPr>
            <a:r>
              <a:rPr lang="en-US" sz="1200" b="1" dirty="0">
                <a:solidFill>
                  <a:srgbClr val="3FC1B0"/>
                </a:solidFill>
                <a:latin typeface="Calibri" pitchFamily="34" charset="0"/>
                <a:ea typeface="Calibri" pitchFamily="34" charset="-122"/>
                <a:cs typeface="Calibri" pitchFamily="34" charset="-120"/>
              </a:rPr>
              <a:t>3</a:t>
            </a:r>
            <a:endParaRPr lang="en-US" sz="1200" dirty="0"/>
          </a:p>
        </p:txBody>
      </p:sp>
      <p:sp>
        <p:nvSpPr>
          <p:cNvPr id="29" name="Text 27"/>
          <p:cNvSpPr/>
          <p:nvPr/>
        </p:nvSpPr>
        <p:spPr>
          <a:xfrm>
            <a:off x="7086600" y="3511296"/>
            <a:ext cx="4114800" cy="457200"/>
          </a:xfrm>
          <a:prstGeom prst="rect">
            <a:avLst/>
          </a:prstGeom>
          <a:noFill/>
          <a:ln/>
        </p:spPr>
        <p:txBody>
          <a:bodyPr wrap="square" rtlCol="0" anchor="ctr"/>
          <a:lstStyle/>
          <a:p>
            <a:pPr marL="0" indent="0">
              <a:buNone/>
            </a:pPr>
            <a:r>
              <a:rPr lang="en-US" sz="1250" dirty="0">
                <a:latin typeface="Calibri" pitchFamily="34" charset="0"/>
                <a:ea typeface="Calibri" pitchFamily="34" charset="-122"/>
                <a:cs typeface="Calibri" pitchFamily="34" charset="-120"/>
              </a:rPr>
              <a:t>loadSubscriptions()</a:t>
            </a:r>
            <a:endParaRPr lang="en-US" sz="1250" dirty="0"/>
          </a:p>
        </p:txBody>
      </p:sp>
      <p:sp>
        <p:nvSpPr>
          <p:cNvPr id="30" name="Shape 28"/>
          <p:cNvSpPr/>
          <p:nvPr/>
        </p:nvSpPr>
        <p:spPr>
          <a:xfrm>
            <a:off x="6537960" y="4078224"/>
            <a:ext cx="4846320" cy="457200"/>
          </a:xfrm>
          <a:prstGeom prst="roundRect">
            <a:avLst>
              <a:gd name="adj" fmla="val 50000"/>
            </a:avLst>
          </a:prstGeom>
          <a:solidFill>
            <a:schemeClr val="bg1"/>
          </a:solidFill>
          <a:ln/>
        </p:spPr>
        <p:txBody>
          <a:bodyPr/>
          <a:lstStyle/>
          <a:p>
            <a:endParaRPr lang="en-US"/>
          </a:p>
        </p:txBody>
      </p:sp>
      <p:sp>
        <p:nvSpPr>
          <p:cNvPr id="31" name="Text 29"/>
          <p:cNvSpPr/>
          <p:nvPr/>
        </p:nvSpPr>
        <p:spPr>
          <a:xfrm>
            <a:off x="6675120" y="4078224"/>
            <a:ext cx="365760" cy="457200"/>
          </a:xfrm>
          <a:prstGeom prst="rect">
            <a:avLst/>
          </a:prstGeom>
          <a:noFill/>
          <a:ln/>
        </p:spPr>
        <p:txBody>
          <a:bodyPr wrap="square" rtlCol="0" anchor="ctr"/>
          <a:lstStyle/>
          <a:p>
            <a:pPr marL="0" indent="0">
              <a:buNone/>
            </a:pPr>
            <a:r>
              <a:rPr lang="en-US" sz="1200" b="1" dirty="0">
                <a:solidFill>
                  <a:srgbClr val="3FC1B0"/>
                </a:solidFill>
                <a:latin typeface="Calibri" pitchFamily="34" charset="0"/>
                <a:ea typeface="Calibri" pitchFamily="34" charset="-122"/>
                <a:cs typeface="Calibri" pitchFamily="34" charset="-120"/>
              </a:rPr>
              <a:t>4</a:t>
            </a:r>
            <a:endParaRPr lang="en-US" sz="1200" dirty="0"/>
          </a:p>
        </p:txBody>
      </p:sp>
      <p:sp>
        <p:nvSpPr>
          <p:cNvPr id="32" name="Text 30"/>
          <p:cNvSpPr/>
          <p:nvPr/>
        </p:nvSpPr>
        <p:spPr>
          <a:xfrm>
            <a:off x="7086600" y="4078224"/>
            <a:ext cx="4114800" cy="457200"/>
          </a:xfrm>
          <a:prstGeom prst="rect">
            <a:avLst/>
          </a:prstGeom>
          <a:noFill/>
          <a:ln/>
        </p:spPr>
        <p:txBody>
          <a:bodyPr wrap="square" rtlCol="0" anchor="ctr"/>
          <a:lstStyle/>
          <a:p>
            <a:pPr marL="0" indent="0">
              <a:buNone/>
            </a:pPr>
            <a:r>
              <a:rPr lang="en-US" sz="1250" dirty="0">
                <a:latin typeface="Calibri" pitchFamily="34" charset="0"/>
                <a:ea typeface="Calibri" pitchFamily="34" charset="-122"/>
                <a:cs typeface="Calibri" pitchFamily="34" charset="-120"/>
              </a:rPr>
              <a:t>showLoginWindow()</a:t>
            </a:r>
            <a:endParaRPr lang="en-US" sz="1250" dirty="0"/>
          </a:p>
        </p:txBody>
      </p:sp>
      <p:sp>
        <p:nvSpPr>
          <p:cNvPr id="33" name="Shape 31"/>
          <p:cNvSpPr/>
          <p:nvPr/>
        </p:nvSpPr>
        <p:spPr>
          <a:xfrm>
            <a:off x="6537960" y="4645152"/>
            <a:ext cx="4846320" cy="457200"/>
          </a:xfrm>
          <a:prstGeom prst="roundRect">
            <a:avLst>
              <a:gd name="adj" fmla="val 50000"/>
            </a:avLst>
          </a:prstGeom>
          <a:solidFill>
            <a:schemeClr val="bg1"/>
          </a:solidFill>
          <a:ln/>
        </p:spPr>
        <p:txBody>
          <a:bodyPr/>
          <a:lstStyle/>
          <a:p>
            <a:endParaRPr lang="en-US"/>
          </a:p>
        </p:txBody>
      </p:sp>
      <p:sp>
        <p:nvSpPr>
          <p:cNvPr id="34" name="Text 32"/>
          <p:cNvSpPr/>
          <p:nvPr/>
        </p:nvSpPr>
        <p:spPr>
          <a:xfrm>
            <a:off x="6675120" y="4645152"/>
            <a:ext cx="365760" cy="457200"/>
          </a:xfrm>
          <a:prstGeom prst="rect">
            <a:avLst/>
          </a:prstGeom>
          <a:noFill/>
          <a:ln/>
        </p:spPr>
        <p:txBody>
          <a:bodyPr wrap="square" rtlCol="0" anchor="ctr"/>
          <a:lstStyle/>
          <a:p>
            <a:pPr marL="0" indent="0">
              <a:buNone/>
            </a:pPr>
            <a:r>
              <a:rPr lang="en-US" sz="1200" b="1" dirty="0">
                <a:solidFill>
                  <a:srgbClr val="3FC1B0"/>
                </a:solidFill>
                <a:latin typeface="Calibri" pitchFamily="34" charset="0"/>
                <a:ea typeface="Calibri" pitchFamily="34" charset="-122"/>
                <a:cs typeface="Calibri" pitchFamily="34" charset="-120"/>
              </a:rPr>
              <a:t>5</a:t>
            </a:r>
            <a:endParaRPr lang="en-US" sz="1200" dirty="0"/>
          </a:p>
        </p:txBody>
      </p:sp>
      <p:sp>
        <p:nvSpPr>
          <p:cNvPr id="35" name="Text 33"/>
          <p:cNvSpPr/>
          <p:nvPr/>
        </p:nvSpPr>
        <p:spPr>
          <a:xfrm>
            <a:off x="7086600" y="4645152"/>
            <a:ext cx="4114800" cy="457200"/>
          </a:xfrm>
          <a:prstGeom prst="rect">
            <a:avLst/>
          </a:prstGeom>
          <a:noFill/>
          <a:ln/>
        </p:spPr>
        <p:txBody>
          <a:bodyPr wrap="square" rtlCol="0" anchor="ctr"/>
          <a:lstStyle/>
          <a:p>
            <a:pPr marL="0" indent="0">
              <a:buNone/>
            </a:pPr>
            <a:r>
              <a:rPr lang="en-US" sz="1250" dirty="0">
                <a:latin typeface="Calibri" pitchFamily="34" charset="0"/>
                <a:ea typeface="Calibri" pitchFamily="34" charset="-122"/>
                <a:cs typeface="Calibri" pitchFamily="34" charset="-120"/>
              </a:rPr>
              <a:t>loadUserSubscriptions()</a:t>
            </a:r>
            <a:endParaRPr lang="en-US" sz="1250" dirty="0"/>
          </a:p>
        </p:txBody>
      </p:sp>
      <p:sp>
        <p:nvSpPr>
          <p:cNvPr id="36" name="Shape 34"/>
          <p:cNvSpPr/>
          <p:nvPr/>
        </p:nvSpPr>
        <p:spPr>
          <a:xfrm>
            <a:off x="6537960" y="5212080"/>
            <a:ext cx="4846320" cy="457200"/>
          </a:xfrm>
          <a:prstGeom prst="roundRect">
            <a:avLst>
              <a:gd name="adj" fmla="val 50000"/>
            </a:avLst>
          </a:prstGeom>
          <a:solidFill>
            <a:schemeClr val="bg1"/>
          </a:solidFill>
          <a:ln/>
        </p:spPr>
        <p:txBody>
          <a:bodyPr/>
          <a:lstStyle/>
          <a:p>
            <a:endParaRPr lang="en-US"/>
          </a:p>
        </p:txBody>
      </p:sp>
      <p:sp>
        <p:nvSpPr>
          <p:cNvPr id="37" name="Text 35"/>
          <p:cNvSpPr/>
          <p:nvPr/>
        </p:nvSpPr>
        <p:spPr>
          <a:xfrm>
            <a:off x="6675120" y="5212080"/>
            <a:ext cx="365760" cy="457200"/>
          </a:xfrm>
          <a:prstGeom prst="rect">
            <a:avLst/>
          </a:prstGeom>
          <a:noFill/>
          <a:ln/>
        </p:spPr>
        <p:txBody>
          <a:bodyPr wrap="square" rtlCol="0" anchor="ctr"/>
          <a:lstStyle/>
          <a:p>
            <a:pPr marL="0" indent="0">
              <a:buNone/>
            </a:pPr>
            <a:r>
              <a:rPr lang="en-US" sz="1200" b="1" dirty="0">
                <a:solidFill>
                  <a:srgbClr val="3FC1B0"/>
                </a:solidFill>
                <a:latin typeface="Calibri" pitchFamily="34" charset="0"/>
                <a:ea typeface="Calibri" pitchFamily="34" charset="-122"/>
                <a:cs typeface="Calibri" pitchFamily="34" charset="-120"/>
              </a:rPr>
              <a:t>6</a:t>
            </a:r>
            <a:endParaRPr lang="en-US" sz="1200" dirty="0"/>
          </a:p>
        </p:txBody>
      </p:sp>
      <p:sp>
        <p:nvSpPr>
          <p:cNvPr id="38" name="Text 36"/>
          <p:cNvSpPr/>
          <p:nvPr/>
        </p:nvSpPr>
        <p:spPr>
          <a:xfrm>
            <a:off x="7086600" y="5212080"/>
            <a:ext cx="4114800" cy="457200"/>
          </a:xfrm>
          <a:prstGeom prst="rect">
            <a:avLst/>
          </a:prstGeom>
          <a:noFill/>
          <a:ln/>
        </p:spPr>
        <p:txBody>
          <a:bodyPr wrap="square" rtlCol="0" anchor="ctr"/>
          <a:lstStyle/>
          <a:p>
            <a:pPr marL="0" indent="0">
              <a:buNone/>
            </a:pPr>
            <a:r>
              <a:rPr lang="en-US" sz="1250" dirty="0">
                <a:latin typeface="Calibri" pitchFamily="34" charset="0"/>
                <a:ea typeface="Calibri" pitchFamily="34" charset="-122"/>
                <a:cs typeface="Calibri" pitchFamily="34" charset="-120"/>
              </a:rPr>
              <a:t>showDashboard()</a:t>
            </a:r>
            <a:endParaRPr lang="en-US" sz="1250" dirty="0"/>
          </a:p>
        </p:txBody>
      </p:sp>
      <p:sp>
        <p:nvSpPr>
          <p:cNvPr id="39" name="Text 37"/>
          <p:cNvSpPr/>
          <p:nvPr/>
        </p:nvSpPr>
        <p:spPr>
          <a:xfrm>
            <a:off x="457200" y="6473952"/>
            <a:ext cx="7315200" cy="274320"/>
          </a:xfrm>
          <a:prstGeom prst="rect">
            <a:avLst/>
          </a:prstGeom>
          <a:noFill/>
          <a:ln/>
        </p:spPr>
        <p:txBody>
          <a:bodyPr wrap="square" rtlCol="0" anchor="ctr"/>
          <a:lstStyle/>
          <a:p>
            <a:pPr marL="0" indent="0" algn="l">
              <a:buNone/>
            </a:pPr>
            <a:endParaRPr lang="en-US" sz="900" dirty="0"/>
          </a:p>
        </p:txBody>
      </p:sp>
      <p:sp>
        <p:nvSpPr>
          <p:cNvPr id="40" name="Text 38"/>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6</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CORE DESIGN</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Object-Oriented Concepts in Action</a:t>
            </a:r>
            <a:endParaRPr lang="en-US" sz="3000" dirty="0"/>
          </a:p>
        </p:txBody>
      </p:sp>
      <p:sp>
        <p:nvSpPr>
          <p:cNvPr id="4" name="Shape 2"/>
          <p:cNvSpPr/>
          <p:nvPr/>
        </p:nvSpPr>
        <p:spPr>
          <a:xfrm>
            <a:off x="548640" y="1691640"/>
            <a:ext cx="11064240" cy="621792"/>
          </a:xfrm>
          <a:prstGeom prst="rect">
            <a:avLst/>
          </a:prstGeom>
          <a:solidFill>
            <a:srgbClr val="F4F7FD"/>
          </a:solidFill>
          <a:ln/>
        </p:spPr>
        <p:txBody>
          <a:bodyPr/>
          <a:lstStyle/>
          <a:p>
            <a:endParaRPr lang="en-US"/>
          </a:p>
        </p:txBody>
      </p:sp>
      <p:sp>
        <p:nvSpPr>
          <p:cNvPr id="5" name="Text 3"/>
          <p:cNvSpPr/>
          <p:nvPr/>
        </p:nvSpPr>
        <p:spPr>
          <a:xfrm>
            <a:off x="777240" y="1691640"/>
            <a:ext cx="2468880" cy="62179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Abstraction</a:t>
            </a:r>
            <a:endParaRPr lang="en-US" sz="1300" dirty="0"/>
          </a:p>
        </p:txBody>
      </p:sp>
      <p:sp>
        <p:nvSpPr>
          <p:cNvPr id="6" name="Text 4"/>
          <p:cNvSpPr/>
          <p:nvPr/>
        </p:nvSpPr>
        <p:spPr>
          <a:xfrm>
            <a:off x="3337560" y="1691640"/>
            <a:ext cx="8092440" cy="621792"/>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Subscription is abstract; requires getMonthlyCost()</a:t>
            </a:r>
            <a:endParaRPr lang="en-US" sz="1250" dirty="0"/>
          </a:p>
        </p:txBody>
      </p:sp>
      <p:sp>
        <p:nvSpPr>
          <p:cNvPr id="7" name="Shape 5"/>
          <p:cNvSpPr/>
          <p:nvPr/>
        </p:nvSpPr>
        <p:spPr>
          <a:xfrm>
            <a:off x="548640" y="2313432"/>
            <a:ext cx="11064240" cy="621792"/>
          </a:xfrm>
          <a:prstGeom prst="rect">
            <a:avLst/>
          </a:prstGeom>
          <a:solidFill>
            <a:srgbClr val="FFFFFF"/>
          </a:solidFill>
          <a:ln/>
        </p:spPr>
        <p:txBody>
          <a:bodyPr/>
          <a:lstStyle/>
          <a:p>
            <a:endParaRPr lang="en-US"/>
          </a:p>
        </p:txBody>
      </p:sp>
      <p:sp>
        <p:nvSpPr>
          <p:cNvPr id="8" name="Text 6"/>
          <p:cNvSpPr/>
          <p:nvPr/>
        </p:nvSpPr>
        <p:spPr>
          <a:xfrm>
            <a:off x="777240" y="2313432"/>
            <a:ext cx="2468880" cy="62179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Inheritance</a:t>
            </a:r>
            <a:endParaRPr lang="en-US" sz="1300" dirty="0"/>
          </a:p>
        </p:txBody>
      </p:sp>
      <p:sp>
        <p:nvSpPr>
          <p:cNvPr id="9" name="Text 7"/>
          <p:cNvSpPr/>
          <p:nvPr/>
        </p:nvSpPr>
        <p:spPr>
          <a:xfrm>
            <a:off x="3337560" y="2313432"/>
            <a:ext cx="8092440" cy="621792"/>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MonthlySubscription &amp; AnnualSubscription extend Subscription</a:t>
            </a:r>
            <a:endParaRPr lang="en-US" sz="1250" dirty="0"/>
          </a:p>
        </p:txBody>
      </p:sp>
      <p:sp>
        <p:nvSpPr>
          <p:cNvPr id="10" name="Shape 8"/>
          <p:cNvSpPr/>
          <p:nvPr/>
        </p:nvSpPr>
        <p:spPr>
          <a:xfrm>
            <a:off x="548640" y="2935224"/>
            <a:ext cx="11064240" cy="621792"/>
          </a:xfrm>
          <a:prstGeom prst="rect">
            <a:avLst/>
          </a:prstGeom>
          <a:solidFill>
            <a:srgbClr val="F4F7FD"/>
          </a:solidFill>
          <a:ln/>
        </p:spPr>
        <p:txBody>
          <a:bodyPr/>
          <a:lstStyle/>
          <a:p>
            <a:endParaRPr lang="en-US"/>
          </a:p>
        </p:txBody>
      </p:sp>
      <p:sp>
        <p:nvSpPr>
          <p:cNvPr id="11" name="Text 9"/>
          <p:cNvSpPr/>
          <p:nvPr/>
        </p:nvSpPr>
        <p:spPr>
          <a:xfrm>
            <a:off x="777240" y="2935224"/>
            <a:ext cx="2468880" cy="62179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Polymorphism</a:t>
            </a:r>
            <a:endParaRPr lang="en-US" sz="1300" dirty="0"/>
          </a:p>
        </p:txBody>
      </p:sp>
      <p:sp>
        <p:nvSpPr>
          <p:cNvPr id="12" name="Text 10"/>
          <p:cNvSpPr/>
          <p:nvPr/>
        </p:nvSpPr>
        <p:spPr>
          <a:xfrm>
            <a:off x="3337560" y="2935224"/>
            <a:ext cx="8092440" cy="621792"/>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getMonthlyCost() gives plan-specific results via base references</a:t>
            </a:r>
            <a:endParaRPr lang="en-US" sz="1250" dirty="0"/>
          </a:p>
        </p:txBody>
      </p:sp>
      <p:sp>
        <p:nvSpPr>
          <p:cNvPr id="13" name="Shape 11"/>
          <p:cNvSpPr/>
          <p:nvPr/>
        </p:nvSpPr>
        <p:spPr>
          <a:xfrm>
            <a:off x="548640" y="3557016"/>
            <a:ext cx="11064240" cy="621792"/>
          </a:xfrm>
          <a:prstGeom prst="rect">
            <a:avLst/>
          </a:prstGeom>
          <a:solidFill>
            <a:srgbClr val="FFFFFF"/>
          </a:solidFill>
          <a:ln/>
        </p:spPr>
        <p:txBody>
          <a:bodyPr/>
          <a:lstStyle/>
          <a:p>
            <a:endParaRPr lang="en-US"/>
          </a:p>
        </p:txBody>
      </p:sp>
      <p:sp>
        <p:nvSpPr>
          <p:cNvPr id="14" name="Text 12"/>
          <p:cNvSpPr/>
          <p:nvPr/>
        </p:nvSpPr>
        <p:spPr>
          <a:xfrm>
            <a:off x="777240" y="3557016"/>
            <a:ext cx="2468880" cy="62179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Interface</a:t>
            </a:r>
            <a:endParaRPr lang="en-US" sz="1300" dirty="0"/>
          </a:p>
        </p:txBody>
      </p:sp>
      <p:sp>
        <p:nvSpPr>
          <p:cNvPr id="15" name="Text 13"/>
          <p:cNvSpPr/>
          <p:nvPr/>
        </p:nvSpPr>
        <p:spPr>
          <a:xfrm>
            <a:off x="3337560" y="3557016"/>
            <a:ext cx="8092440" cy="621792"/>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Cancelable declares cancelSubscription() for both plan types</a:t>
            </a:r>
            <a:endParaRPr lang="en-US" sz="1250" dirty="0"/>
          </a:p>
        </p:txBody>
      </p:sp>
      <p:sp>
        <p:nvSpPr>
          <p:cNvPr id="16" name="Shape 14"/>
          <p:cNvSpPr/>
          <p:nvPr/>
        </p:nvSpPr>
        <p:spPr>
          <a:xfrm>
            <a:off x="548640" y="4178808"/>
            <a:ext cx="11064240" cy="621792"/>
          </a:xfrm>
          <a:prstGeom prst="rect">
            <a:avLst/>
          </a:prstGeom>
          <a:solidFill>
            <a:srgbClr val="F4F7FD"/>
          </a:solidFill>
          <a:ln/>
        </p:spPr>
        <p:txBody>
          <a:bodyPr/>
          <a:lstStyle/>
          <a:p>
            <a:endParaRPr lang="en-US"/>
          </a:p>
        </p:txBody>
      </p:sp>
      <p:sp>
        <p:nvSpPr>
          <p:cNvPr id="17" name="Text 15"/>
          <p:cNvSpPr/>
          <p:nvPr/>
        </p:nvSpPr>
        <p:spPr>
          <a:xfrm>
            <a:off x="777240" y="4178808"/>
            <a:ext cx="2468880" cy="62179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Encapsulation</a:t>
            </a:r>
            <a:endParaRPr lang="en-US" sz="1300" dirty="0"/>
          </a:p>
        </p:txBody>
      </p:sp>
      <p:sp>
        <p:nvSpPr>
          <p:cNvPr id="18" name="Text 16"/>
          <p:cNvSpPr/>
          <p:nvPr/>
        </p:nvSpPr>
        <p:spPr>
          <a:xfrm>
            <a:off x="3337560" y="4178808"/>
            <a:ext cx="8092440" cy="621792"/>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Private fields; controlled via getCost(), isActive(), setAutoRenew()</a:t>
            </a:r>
            <a:endParaRPr lang="en-US" sz="1250" dirty="0"/>
          </a:p>
        </p:txBody>
      </p:sp>
      <p:sp>
        <p:nvSpPr>
          <p:cNvPr id="19" name="Shape 17"/>
          <p:cNvSpPr/>
          <p:nvPr/>
        </p:nvSpPr>
        <p:spPr>
          <a:xfrm>
            <a:off x="548640" y="4800600"/>
            <a:ext cx="11064240" cy="621792"/>
          </a:xfrm>
          <a:prstGeom prst="rect">
            <a:avLst/>
          </a:prstGeom>
          <a:solidFill>
            <a:srgbClr val="FFFFFF"/>
          </a:solidFill>
          <a:ln/>
        </p:spPr>
        <p:txBody>
          <a:bodyPr/>
          <a:lstStyle/>
          <a:p>
            <a:endParaRPr lang="en-US"/>
          </a:p>
        </p:txBody>
      </p:sp>
      <p:sp>
        <p:nvSpPr>
          <p:cNvPr id="20" name="Text 18"/>
          <p:cNvSpPr/>
          <p:nvPr/>
        </p:nvSpPr>
        <p:spPr>
          <a:xfrm>
            <a:off x="777240" y="4800600"/>
            <a:ext cx="2468880" cy="621792"/>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Overloading / Overriding</a:t>
            </a:r>
            <a:endParaRPr lang="en-US" sz="1300" dirty="0"/>
          </a:p>
        </p:txBody>
      </p:sp>
      <p:sp>
        <p:nvSpPr>
          <p:cNvPr id="21" name="Text 19"/>
          <p:cNvSpPr/>
          <p:nvPr/>
        </p:nvSpPr>
        <p:spPr>
          <a:xfrm>
            <a:off x="3337560" y="4800600"/>
            <a:ext cx="8092440" cy="621792"/>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Constructor variants; overridden getMonthlyCost() &amp; cancelSubscription()</a:t>
            </a:r>
            <a:endParaRPr lang="en-US" sz="1250" dirty="0"/>
          </a:p>
        </p:txBody>
      </p:sp>
      <p:sp>
        <p:nvSpPr>
          <p:cNvPr id="22" name="Text 20"/>
          <p:cNvSpPr/>
          <p:nvPr/>
        </p:nvSpPr>
        <p:spPr>
          <a:xfrm>
            <a:off x="457200" y="6473952"/>
            <a:ext cx="7315200" cy="274320"/>
          </a:xfrm>
          <a:prstGeom prst="rect">
            <a:avLst/>
          </a:prstGeom>
          <a:noFill/>
          <a:ln/>
        </p:spPr>
        <p:txBody>
          <a:bodyPr wrap="square" rtlCol="0" anchor="ctr"/>
          <a:lstStyle/>
          <a:p>
            <a:pPr marL="0" indent="0" algn="l">
              <a:buNone/>
            </a:pPr>
            <a:endParaRPr lang="en-US" sz="900" dirty="0"/>
          </a:p>
        </p:txBody>
      </p:sp>
      <p:sp>
        <p:nvSpPr>
          <p:cNvPr id="23" name="Text 21"/>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7</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FUNCTIONALITY</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Core Features</a:t>
            </a:r>
            <a:endParaRPr lang="en-US" sz="3000" dirty="0"/>
          </a:p>
        </p:txBody>
      </p:sp>
      <p:sp>
        <p:nvSpPr>
          <p:cNvPr id="4" name="Shape 2"/>
          <p:cNvSpPr/>
          <p:nvPr/>
        </p:nvSpPr>
        <p:spPr>
          <a:xfrm>
            <a:off x="548640" y="1691640"/>
            <a:ext cx="3566160" cy="1920240"/>
          </a:xfrm>
          <a:prstGeom prst="roundRect">
            <a:avLst>
              <a:gd name="adj" fmla="val 3810"/>
            </a:avLst>
          </a:prstGeom>
          <a:solidFill>
            <a:schemeClr val="bg1"/>
          </a:solidFill>
          <a:ln/>
        </p:spPr>
        <p:txBody>
          <a:bodyPr/>
          <a:lstStyle/>
          <a:p>
            <a:endParaRPr lang="en-US"/>
          </a:p>
        </p:txBody>
      </p:sp>
      <p:sp>
        <p:nvSpPr>
          <p:cNvPr id="5" name="Shape 3"/>
          <p:cNvSpPr/>
          <p:nvPr/>
        </p:nvSpPr>
        <p:spPr>
          <a:xfrm>
            <a:off x="777240" y="1920240"/>
            <a:ext cx="502920" cy="502920"/>
          </a:xfrm>
          <a:prstGeom prst="ellipse">
            <a:avLst/>
          </a:prstGeom>
          <a:solidFill>
            <a:srgbClr val="3FC1B0"/>
          </a:solidFill>
          <a:ln/>
        </p:spPr>
        <p:txBody>
          <a:bodyPr/>
          <a:lstStyle/>
          <a:p>
            <a:endParaRPr lang="en-US"/>
          </a:p>
        </p:txBody>
      </p:sp>
      <p:pic>
        <p:nvPicPr>
          <p:cNvPr id="6" name="Image 0" descr="/home/claude/deck/icon_lock.png"/>
          <p:cNvPicPr>
            <a:picLocks noChangeAspect="1"/>
          </p:cNvPicPr>
          <p:nvPr/>
        </p:nvPicPr>
        <p:blipFill>
          <a:blip r:embed="rId3"/>
          <a:stretch>
            <a:fillRect/>
          </a:stretch>
        </p:blipFill>
        <p:spPr>
          <a:xfrm>
            <a:off x="907999" y="2050999"/>
            <a:ext cx="241402" cy="241402"/>
          </a:xfrm>
          <a:prstGeom prst="rect">
            <a:avLst/>
          </a:prstGeom>
        </p:spPr>
      </p:pic>
      <p:sp>
        <p:nvSpPr>
          <p:cNvPr id="7" name="Text 4"/>
          <p:cNvSpPr/>
          <p:nvPr/>
        </p:nvSpPr>
        <p:spPr>
          <a:xfrm>
            <a:off x="777240" y="2560320"/>
            <a:ext cx="3108960" cy="365760"/>
          </a:xfrm>
          <a:prstGeom prst="rect">
            <a:avLst/>
          </a:prstGeom>
          <a:noFill/>
          <a:ln/>
        </p:spPr>
        <p:txBody>
          <a:bodyPr wrap="square" rtlCol="0" anchor="ctr"/>
          <a:lstStyle/>
          <a:p>
            <a:pPr marL="0" indent="0">
              <a:buNone/>
            </a:pPr>
            <a:r>
              <a:rPr lang="en-US" sz="1500" b="1" dirty="0">
                <a:latin typeface="Calibri" pitchFamily="34" charset="0"/>
                <a:ea typeface="Calibri" pitchFamily="34" charset="-122"/>
                <a:cs typeface="Calibri" pitchFamily="34" charset="-120"/>
              </a:rPr>
              <a:t>Authentication</a:t>
            </a:r>
            <a:endParaRPr lang="en-US" sz="1500" dirty="0"/>
          </a:p>
        </p:txBody>
      </p:sp>
      <p:sp>
        <p:nvSpPr>
          <p:cNvPr id="8" name="Text 5"/>
          <p:cNvSpPr/>
          <p:nvPr/>
        </p:nvSpPr>
        <p:spPr>
          <a:xfrm>
            <a:off x="777240" y="2926080"/>
            <a:ext cx="3108960" cy="594360"/>
          </a:xfrm>
          <a:prstGeom prst="rect">
            <a:avLst/>
          </a:prstGeom>
          <a:noFill/>
          <a:ln/>
        </p:spPr>
        <p:txBody>
          <a:bodyPr wrap="square" rtlCol="0" anchor="t"/>
          <a:lstStyle/>
          <a:p>
            <a:pPr marL="0" indent="0">
              <a:buNone/>
            </a:pPr>
            <a:r>
              <a:rPr lang="en-US" sz="1200" dirty="0">
                <a:latin typeface="Calibri" pitchFamily="34" charset="0"/>
                <a:ea typeface="Calibri" pitchFamily="34" charset="-122"/>
                <a:cs typeface="Calibri" pitchFamily="34" charset="-120"/>
              </a:rPr>
              <a:t>Login with safe-pass + 3-attempt lockout</a:t>
            </a:r>
            <a:endParaRPr lang="en-US" sz="1200" dirty="0"/>
          </a:p>
        </p:txBody>
      </p:sp>
      <p:sp>
        <p:nvSpPr>
          <p:cNvPr id="9" name="Shape 6"/>
          <p:cNvSpPr/>
          <p:nvPr/>
        </p:nvSpPr>
        <p:spPr>
          <a:xfrm>
            <a:off x="4370832" y="1691640"/>
            <a:ext cx="3566160" cy="1920240"/>
          </a:xfrm>
          <a:prstGeom prst="roundRect">
            <a:avLst>
              <a:gd name="adj" fmla="val 3810"/>
            </a:avLst>
          </a:prstGeom>
          <a:solidFill>
            <a:schemeClr val="bg1"/>
          </a:solidFill>
          <a:ln/>
        </p:spPr>
        <p:txBody>
          <a:bodyPr/>
          <a:lstStyle/>
          <a:p>
            <a:endParaRPr lang="en-US"/>
          </a:p>
        </p:txBody>
      </p:sp>
      <p:sp>
        <p:nvSpPr>
          <p:cNvPr id="10" name="Shape 7"/>
          <p:cNvSpPr/>
          <p:nvPr/>
        </p:nvSpPr>
        <p:spPr>
          <a:xfrm>
            <a:off x="4599432" y="1920240"/>
            <a:ext cx="502920" cy="502920"/>
          </a:xfrm>
          <a:prstGeom prst="ellipse">
            <a:avLst/>
          </a:prstGeom>
          <a:solidFill>
            <a:srgbClr val="3FC1B0"/>
          </a:solidFill>
          <a:ln/>
        </p:spPr>
        <p:txBody>
          <a:bodyPr/>
          <a:lstStyle/>
          <a:p>
            <a:endParaRPr lang="en-US"/>
          </a:p>
        </p:txBody>
      </p:sp>
      <p:pic>
        <p:nvPicPr>
          <p:cNvPr id="11" name="Image 1" descr="/home/claude/deck/icon_users.png"/>
          <p:cNvPicPr>
            <a:picLocks noChangeAspect="1"/>
          </p:cNvPicPr>
          <p:nvPr/>
        </p:nvPicPr>
        <p:blipFill>
          <a:blip r:embed="rId4"/>
          <a:stretch>
            <a:fillRect/>
          </a:stretch>
        </p:blipFill>
        <p:spPr>
          <a:xfrm>
            <a:off x="4730191" y="2050999"/>
            <a:ext cx="241402" cy="241402"/>
          </a:xfrm>
          <a:prstGeom prst="rect">
            <a:avLst/>
          </a:prstGeom>
        </p:spPr>
      </p:pic>
      <p:sp>
        <p:nvSpPr>
          <p:cNvPr id="12" name="Text 8"/>
          <p:cNvSpPr/>
          <p:nvPr/>
        </p:nvSpPr>
        <p:spPr>
          <a:xfrm>
            <a:off x="4599432" y="2560320"/>
            <a:ext cx="3108960" cy="365760"/>
          </a:xfrm>
          <a:prstGeom prst="rect">
            <a:avLst/>
          </a:prstGeom>
          <a:noFill/>
          <a:ln/>
        </p:spPr>
        <p:txBody>
          <a:bodyPr wrap="square" rtlCol="0" anchor="ctr"/>
          <a:lstStyle/>
          <a:p>
            <a:pPr marL="0" indent="0">
              <a:buNone/>
            </a:pPr>
            <a:r>
              <a:rPr lang="en-US" sz="1400" b="1" dirty="0">
                <a:latin typeface="Calibri" pitchFamily="34" charset="0"/>
                <a:ea typeface="Calibri" pitchFamily="34" charset="-122"/>
                <a:cs typeface="Calibri" pitchFamily="34" charset="-120"/>
              </a:rPr>
              <a:t>Registration &amp; Recovery</a:t>
            </a:r>
            <a:endParaRPr lang="en-US" sz="1400" dirty="0"/>
          </a:p>
        </p:txBody>
      </p:sp>
      <p:sp>
        <p:nvSpPr>
          <p:cNvPr id="13" name="Text 9"/>
          <p:cNvSpPr/>
          <p:nvPr/>
        </p:nvSpPr>
        <p:spPr>
          <a:xfrm>
            <a:off x="4599432" y="2926080"/>
            <a:ext cx="3108960" cy="594360"/>
          </a:xfrm>
          <a:prstGeom prst="rect">
            <a:avLst/>
          </a:prstGeom>
          <a:noFill/>
          <a:ln/>
        </p:spPr>
        <p:txBody>
          <a:bodyPr wrap="square" rtlCol="0" anchor="t"/>
          <a:lstStyle/>
          <a:p>
            <a:pPr marL="0" indent="0">
              <a:buNone/>
            </a:pPr>
            <a:r>
              <a:rPr lang="en-US" sz="1200" dirty="0">
                <a:latin typeface="Calibri" pitchFamily="34" charset="0"/>
                <a:ea typeface="Calibri" pitchFamily="34" charset="-122"/>
                <a:cs typeface="Calibri" pitchFamily="34" charset="-120"/>
              </a:rPr>
              <a:t>Local accounts, phone-verified password reset</a:t>
            </a:r>
            <a:endParaRPr lang="en-US" sz="1200" dirty="0"/>
          </a:p>
        </p:txBody>
      </p:sp>
      <p:sp>
        <p:nvSpPr>
          <p:cNvPr id="14" name="Shape 10"/>
          <p:cNvSpPr/>
          <p:nvPr/>
        </p:nvSpPr>
        <p:spPr>
          <a:xfrm>
            <a:off x="8193024" y="1691640"/>
            <a:ext cx="3566160" cy="1920240"/>
          </a:xfrm>
          <a:prstGeom prst="roundRect">
            <a:avLst>
              <a:gd name="adj" fmla="val 3810"/>
            </a:avLst>
          </a:prstGeom>
          <a:solidFill>
            <a:schemeClr val="bg1"/>
          </a:solidFill>
          <a:ln/>
        </p:spPr>
        <p:txBody>
          <a:bodyPr/>
          <a:lstStyle/>
          <a:p>
            <a:endParaRPr lang="en-US"/>
          </a:p>
        </p:txBody>
      </p:sp>
      <p:sp>
        <p:nvSpPr>
          <p:cNvPr id="15" name="Shape 11"/>
          <p:cNvSpPr/>
          <p:nvPr/>
        </p:nvSpPr>
        <p:spPr>
          <a:xfrm>
            <a:off x="8421624" y="1920240"/>
            <a:ext cx="502920" cy="502920"/>
          </a:xfrm>
          <a:prstGeom prst="ellipse">
            <a:avLst/>
          </a:prstGeom>
          <a:solidFill>
            <a:srgbClr val="3FC1B0"/>
          </a:solidFill>
          <a:ln/>
        </p:spPr>
        <p:txBody>
          <a:bodyPr/>
          <a:lstStyle/>
          <a:p>
            <a:endParaRPr lang="en-US"/>
          </a:p>
        </p:txBody>
      </p:sp>
      <p:pic>
        <p:nvPicPr>
          <p:cNvPr id="16" name="Image 2" descr="/home/claude/deck/icon_layers.png"/>
          <p:cNvPicPr>
            <a:picLocks noChangeAspect="1"/>
          </p:cNvPicPr>
          <p:nvPr/>
        </p:nvPicPr>
        <p:blipFill>
          <a:blip r:embed="rId5"/>
          <a:stretch>
            <a:fillRect/>
          </a:stretch>
        </p:blipFill>
        <p:spPr>
          <a:xfrm>
            <a:off x="8552383" y="2050999"/>
            <a:ext cx="241402" cy="241402"/>
          </a:xfrm>
          <a:prstGeom prst="rect">
            <a:avLst/>
          </a:prstGeom>
        </p:spPr>
      </p:pic>
      <p:sp>
        <p:nvSpPr>
          <p:cNvPr id="17" name="Text 12"/>
          <p:cNvSpPr/>
          <p:nvPr/>
        </p:nvSpPr>
        <p:spPr>
          <a:xfrm>
            <a:off x="8421624" y="2560320"/>
            <a:ext cx="3108960" cy="365760"/>
          </a:xfrm>
          <a:prstGeom prst="rect">
            <a:avLst/>
          </a:prstGeom>
          <a:noFill/>
          <a:ln/>
        </p:spPr>
        <p:txBody>
          <a:bodyPr wrap="square" rtlCol="0" anchor="ctr"/>
          <a:lstStyle/>
          <a:p>
            <a:pPr marL="0" indent="0">
              <a:buNone/>
            </a:pPr>
            <a:r>
              <a:rPr lang="en-US" sz="1500" b="1" dirty="0">
                <a:latin typeface="Calibri" pitchFamily="34" charset="0"/>
                <a:ea typeface="Calibri" pitchFamily="34" charset="-122"/>
                <a:cs typeface="Calibri" pitchFamily="34" charset="-120"/>
              </a:rPr>
              <a:t>Subscription Records</a:t>
            </a:r>
            <a:endParaRPr lang="en-US" sz="1500" dirty="0"/>
          </a:p>
        </p:txBody>
      </p:sp>
      <p:sp>
        <p:nvSpPr>
          <p:cNvPr id="18" name="Text 13"/>
          <p:cNvSpPr/>
          <p:nvPr/>
        </p:nvSpPr>
        <p:spPr>
          <a:xfrm>
            <a:off x="8421624" y="2926080"/>
            <a:ext cx="3108960" cy="594360"/>
          </a:xfrm>
          <a:prstGeom prst="rect">
            <a:avLst/>
          </a:prstGeom>
          <a:noFill/>
          <a:ln/>
        </p:spPr>
        <p:txBody>
          <a:bodyPr wrap="square" rtlCol="0" anchor="t"/>
          <a:lstStyle/>
          <a:p>
            <a:pPr marL="0" indent="0">
              <a:buNone/>
            </a:pPr>
            <a:r>
              <a:rPr lang="en-US" sz="1200" dirty="0">
                <a:latin typeface="Calibri" pitchFamily="34" charset="0"/>
                <a:ea typeface="Calibri" pitchFamily="34" charset="-122"/>
                <a:cs typeface="Calibri" pitchFamily="34" charset="-120"/>
              </a:rPr>
              <a:t>Monthly/annual plans, categories, auto-renewal</a:t>
            </a:r>
            <a:endParaRPr lang="en-US" sz="1200" dirty="0"/>
          </a:p>
        </p:txBody>
      </p:sp>
      <p:sp>
        <p:nvSpPr>
          <p:cNvPr id="19" name="Shape 14"/>
          <p:cNvSpPr/>
          <p:nvPr/>
        </p:nvSpPr>
        <p:spPr>
          <a:xfrm>
            <a:off x="548640" y="3840480"/>
            <a:ext cx="3566160" cy="1920240"/>
          </a:xfrm>
          <a:prstGeom prst="roundRect">
            <a:avLst>
              <a:gd name="adj" fmla="val 3810"/>
            </a:avLst>
          </a:prstGeom>
          <a:solidFill>
            <a:schemeClr val="bg1"/>
          </a:solidFill>
          <a:ln/>
        </p:spPr>
        <p:txBody>
          <a:bodyPr/>
          <a:lstStyle/>
          <a:p>
            <a:endParaRPr lang="en-US"/>
          </a:p>
        </p:txBody>
      </p:sp>
      <p:sp>
        <p:nvSpPr>
          <p:cNvPr id="20" name="Shape 15"/>
          <p:cNvSpPr/>
          <p:nvPr/>
        </p:nvSpPr>
        <p:spPr>
          <a:xfrm>
            <a:off x="777240" y="4069080"/>
            <a:ext cx="502920" cy="502920"/>
          </a:xfrm>
          <a:prstGeom prst="ellipse">
            <a:avLst/>
          </a:prstGeom>
          <a:solidFill>
            <a:srgbClr val="3FC1B0"/>
          </a:solidFill>
          <a:ln/>
        </p:spPr>
        <p:txBody>
          <a:bodyPr/>
          <a:lstStyle/>
          <a:p>
            <a:endParaRPr lang="en-US"/>
          </a:p>
        </p:txBody>
      </p:sp>
      <p:pic>
        <p:nvPicPr>
          <p:cNvPr id="21" name="Image 3" descr="/home/claude/deck/icon_search.png"/>
          <p:cNvPicPr>
            <a:picLocks noChangeAspect="1"/>
          </p:cNvPicPr>
          <p:nvPr/>
        </p:nvPicPr>
        <p:blipFill>
          <a:blip r:embed="rId6"/>
          <a:stretch>
            <a:fillRect/>
          </a:stretch>
        </p:blipFill>
        <p:spPr>
          <a:xfrm>
            <a:off x="907999" y="4199839"/>
            <a:ext cx="241402" cy="241402"/>
          </a:xfrm>
          <a:prstGeom prst="rect">
            <a:avLst/>
          </a:prstGeom>
        </p:spPr>
      </p:pic>
      <p:sp>
        <p:nvSpPr>
          <p:cNvPr id="22" name="Text 16"/>
          <p:cNvSpPr/>
          <p:nvPr/>
        </p:nvSpPr>
        <p:spPr>
          <a:xfrm>
            <a:off x="777240" y="4709160"/>
            <a:ext cx="3108960" cy="365760"/>
          </a:xfrm>
          <a:prstGeom prst="rect">
            <a:avLst/>
          </a:prstGeom>
          <a:noFill/>
          <a:ln/>
        </p:spPr>
        <p:txBody>
          <a:bodyPr wrap="square" rtlCol="0" anchor="ctr"/>
          <a:lstStyle/>
          <a:p>
            <a:pPr marL="0" indent="0">
              <a:buNone/>
            </a:pPr>
            <a:r>
              <a:rPr lang="en-US" sz="1500" b="1" dirty="0">
                <a:latin typeface="Calibri" pitchFamily="34" charset="0"/>
                <a:ea typeface="Calibri" pitchFamily="34" charset="-122"/>
                <a:cs typeface="Calibri" pitchFamily="34" charset="-120"/>
              </a:rPr>
              <a:t>Live Search</a:t>
            </a:r>
            <a:endParaRPr lang="en-US" sz="1500" dirty="0"/>
          </a:p>
        </p:txBody>
      </p:sp>
      <p:sp>
        <p:nvSpPr>
          <p:cNvPr id="23" name="Text 17"/>
          <p:cNvSpPr/>
          <p:nvPr/>
        </p:nvSpPr>
        <p:spPr>
          <a:xfrm>
            <a:off x="777240" y="5074920"/>
            <a:ext cx="3108960" cy="594360"/>
          </a:xfrm>
          <a:prstGeom prst="rect">
            <a:avLst/>
          </a:prstGeom>
          <a:noFill/>
          <a:ln/>
        </p:spPr>
        <p:txBody>
          <a:bodyPr wrap="square" rtlCol="0" anchor="t"/>
          <a:lstStyle/>
          <a:p>
            <a:pPr marL="0" indent="0">
              <a:buNone/>
            </a:pPr>
            <a:r>
              <a:rPr lang="en-US" sz="1200" dirty="0">
                <a:latin typeface="Calibri" pitchFamily="34" charset="0"/>
                <a:ea typeface="Calibri" pitchFamily="34" charset="-122"/>
                <a:cs typeface="Calibri" pitchFamily="34" charset="-120"/>
              </a:rPr>
              <a:t>Instant filtering by subscription name</a:t>
            </a:r>
            <a:endParaRPr lang="en-US" sz="1200" dirty="0"/>
          </a:p>
        </p:txBody>
      </p:sp>
      <p:sp>
        <p:nvSpPr>
          <p:cNvPr id="24" name="Shape 18"/>
          <p:cNvSpPr/>
          <p:nvPr/>
        </p:nvSpPr>
        <p:spPr>
          <a:xfrm>
            <a:off x="4370832" y="3840480"/>
            <a:ext cx="3566160" cy="1920240"/>
          </a:xfrm>
          <a:prstGeom prst="roundRect">
            <a:avLst>
              <a:gd name="adj" fmla="val 3810"/>
            </a:avLst>
          </a:prstGeom>
          <a:solidFill>
            <a:schemeClr val="bg1"/>
          </a:solidFill>
          <a:ln/>
        </p:spPr>
        <p:txBody>
          <a:bodyPr/>
          <a:lstStyle/>
          <a:p>
            <a:endParaRPr lang="en-US"/>
          </a:p>
        </p:txBody>
      </p:sp>
      <p:sp>
        <p:nvSpPr>
          <p:cNvPr id="25" name="Shape 19"/>
          <p:cNvSpPr/>
          <p:nvPr/>
        </p:nvSpPr>
        <p:spPr>
          <a:xfrm>
            <a:off x="4599432" y="4069080"/>
            <a:ext cx="502920" cy="502920"/>
          </a:xfrm>
          <a:prstGeom prst="ellipse">
            <a:avLst/>
          </a:prstGeom>
          <a:solidFill>
            <a:srgbClr val="3FC1B0"/>
          </a:solidFill>
          <a:ln/>
        </p:spPr>
        <p:txBody>
          <a:bodyPr/>
          <a:lstStyle/>
          <a:p>
            <a:endParaRPr lang="en-US"/>
          </a:p>
        </p:txBody>
      </p:sp>
      <p:pic>
        <p:nvPicPr>
          <p:cNvPr id="26" name="Image 4" descr="/home/claude/deck/icon_dollar.png"/>
          <p:cNvPicPr>
            <a:picLocks noChangeAspect="1"/>
          </p:cNvPicPr>
          <p:nvPr/>
        </p:nvPicPr>
        <p:blipFill>
          <a:blip r:embed="rId7"/>
          <a:stretch>
            <a:fillRect/>
          </a:stretch>
        </p:blipFill>
        <p:spPr>
          <a:xfrm>
            <a:off x="4730191" y="4199839"/>
            <a:ext cx="241402" cy="241402"/>
          </a:xfrm>
          <a:prstGeom prst="rect">
            <a:avLst/>
          </a:prstGeom>
        </p:spPr>
      </p:pic>
      <p:sp>
        <p:nvSpPr>
          <p:cNvPr id="27" name="Text 20"/>
          <p:cNvSpPr/>
          <p:nvPr/>
        </p:nvSpPr>
        <p:spPr>
          <a:xfrm>
            <a:off x="4599432" y="4709160"/>
            <a:ext cx="3108960" cy="365760"/>
          </a:xfrm>
          <a:prstGeom prst="rect">
            <a:avLst/>
          </a:prstGeom>
          <a:noFill/>
          <a:ln/>
        </p:spPr>
        <p:txBody>
          <a:bodyPr wrap="square" rtlCol="0" anchor="ctr"/>
          <a:lstStyle/>
          <a:p>
            <a:pPr marL="0" indent="0">
              <a:buNone/>
            </a:pPr>
            <a:r>
              <a:rPr lang="en-US" sz="1500" b="1" dirty="0">
                <a:latin typeface="Calibri" pitchFamily="34" charset="0"/>
                <a:ea typeface="Calibri" pitchFamily="34" charset="-122"/>
                <a:cs typeface="Calibri" pitchFamily="34" charset="-120"/>
              </a:rPr>
              <a:t>Budgeting</a:t>
            </a:r>
            <a:endParaRPr lang="en-US" sz="1500" dirty="0"/>
          </a:p>
        </p:txBody>
      </p:sp>
      <p:sp>
        <p:nvSpPr>
          <p:cNvPr id="28" name="Text 21"/>
          <p:cNvSpPr/>
          <p:nvPr/>
        </p:nvSpPr>
        <p:spPr>
          <a:xfrm>
            <a:off x="4599432" y="5074920"/>
            <a:ext cx="3108960" cy="594360"/>
          </a:xfrm>
          <a:prstGeom prst="rect">
            <a:avLst/>
          </a:prstGeom>
          <a:noFill/>
          <a:ln/>
        </p:spPr>
        <p:txBody>
          <a:bodyPr wrap="square" rtlCol="0" anchor="t"/>
          <a:lstStyle/>
          <a:p>
            <a:pPr marL="0" indent="0">
              <a:buNone/>
            </a:pPr>
            <a:r>
              <a:rPr lang="en-US" sz="1200" dirty="0">
                <a:latin typeface="Calibri" pitchFamily="34" charset="0"/>
                <a:ea typeface="Calibri" pitchFamily="34" charset="-122"/>
                <a:cs typeface="Calibri" pitchFamily="34" charset="-120"/>
              </a:rPr>
              <a:t>Monthly/annual totals with progress visualization</a:t>
            </a:r>
            <a:endParaRPr lang="en-US" sz="1200" dirty="0"/>
          </a:p>
        </p:txBody>
      </p:sp>
      <p:sp>
        <p:nvSpPr>
          <p:cNvPr id="29" name="Shape 22"/>
          <p:cNvSpPr/>
          <p:nvPr/>
        </p:nvSpPr>
        <p:spPr>
          <a:xfrm>
            <a:off x="8193024" y="3840480"/>
            <a:ext cx="3566160" cy="1920240"/>
          </a:xfrm>
          <a:prstGeom prst="roundRect">
            <a:avLst>
              <a:gd name="adj" fmla="val 3810"/>
            </a:avLst>
          </a:prstGeom>
          <a:solidFill>
            <a:schemeClr val="bg1"/>
          </a:solidFill>
          <a:ln/>
        </p:spPr>
        <p:txBody>
          <a:bodyPr/>
          <a:lstStyle/>
          <a:p>
            <a:endParaRPr lang="en-US"/>
          </a:p>
        </p:txBody>
      </p:sp>
      <p:sp>
        <p:nvSpPr>
          <p:cNvPr id="30" name="Shape 23"/>
          <p:cNvSpPr/>
          <p:nvPr/>
        </p:nvSpPr>
        <p:spPr>
          <a:xfrm>
            <a:off x="8421624" y="4069080"/>
            <a:ext cx="502920" cy="502920"/>
          </a:xfrm>
          <a:prstGeom prst="ellipse">
            <a:avLst/>
          </a:prstGeom>
          <a:solidFill>
            <a:srgbClr val="3FC1B0"/>
          </a:solidFill>
          <a:ln/>
        </p:spPr>
        <p:txBody>
          <a:bodyPr/>
          <a:lstStyle/>
          <a:p>
            <a:endParaRPr lang="en-US"/>
          </a:p>
        </p:txBody>
      </p:sp>
      <p:pic>
        <p:nvPicPr>
          <p:cNvPr id="31" name="Image 5" descr="/home/claude/deck/icon_shield.png"/>
          <p:cNvPicPr>
            <a:picLocks noChangeAspect="1"/>
          </p:cNvPicPr>
          <p:nvPr/>
        </p:nvPicPr>
        <p:blipFill>
          <a:blip r:embed="rId8"/>
          <a:stretch>
            <a:fillRect/>
          </a:stretch>
        </p:blipFill>
        <p:spPr>
          <a:xfrm>
            <a:off x="8552383" y="4199839"/>
            <a:ext cx="241402" cy="241402"/>
          </a:xfrm>
          <a:prstGeom prst="rect">
            <a:avLst/>
          </a:prstGeom>
        </p:spPr>
      </p:pic>
      <p:sp>
        <p:nvSpPr>
          <p:cNvPr id="32" name="Text 24"/>
          <p:cNvSpPr/>
          <p:nvPr/>
        </p:nvSpPr>
        <p:spPr>
          <a:xfrm>
            <a:off x="8421624" y="4709160"/>
            <a:ext cx="3108960" cy="365760"/>
          </a:xfrm>
          <a:prstGeom prst="rect">
            <a:avLst/>
          </a:prstGeom>
          <a:noFill/>
          <a:ln/>
        </p:spPr>
        <p:txBody>
          <a:bodyPr wrap="square" rtlCol="0" anchor="ctr"/>
          <a:lstStyle/>
          <a:p>
            <a:pPr marL="0" indent="0">
              <a:buNone/>
            </a:pPr>
            <a:r>
              <a:rPr lang="en-US" sz="1500" b="1" dirty="0">
                <a:latin typeface="Calibri" pitchFamily="34" charset="0"/>
                <a:ea typeface="Calibri" pitchFamily="34" charset="-122"/>
                <a:cs typeface="Calibri" pitchFamily="34" charset="-120"/>
              </a:rPr>
              <a:t>Admin Console</a:t>
            </a:r>
            <a:endParaRPr lang="en-US" sz="1500" dirty="0"/>
          </a:p>
        </p:txBody>
      </p:sp>
      <p:sp>
        <p:nvSpPr>
          <p:cNvPr id="33" name="Text 25"/>
          <p:cNvSpPr/>
          <p:nvPr/>
        </p:nvSpPr>
        <p:spPr>
          <a:xfrm>
            <a:off x="8421624" y="5074920"/>
            <a:ext cx="3108960" cy="594360"/>
          </a:xfrm>
          <a:prstGeom prst="rect">
            <a:avLst/>
          </a:prstGeom>
          <a:noFill/>
          <a:ln/>
        </p:spPr>
        <p:txBody>
          <a:bodyPr wrap="square" rtlCol="0" anchor="t"/>
          <a:lstStyle/>
          <a:p>
            <a:pPr marL="0" indent="0">
              <a:buNone/>
            </a:pPr>
            <a:r>
              <a:rPr lang="en-US" sz="1200" dirty="0">
                <a:latin typeface="Calibri" pitchFamily="34" charset="0"/>
                <a:ea typeface="Calibri" pitchFamily="34" charset="-122"/>
                <a:cs typeface="Calibri" pitchFamily="34" charset="-120"/>
              </a:rPr>
              <a:t>User table, subscription oversight, deletion</a:t>
            </a:r>
            <a:endParaRPr lang="en-US" sz="1200" dirty="0"/>
          </a:p>
        </p:txBody>
      </p:sp>
      <p:sp>
        <p:nvSpPr>
          <p:cNvPr id="34" name="Text 26"/>
          <p:cNvSpPr/>
          <p:nvPr/>
        </p:nvSpPr>
        <p:spPr>
          <a:xfrm>
            <a:off x="457200" y="6473952"/>
            <a:ext cx="7315200" cy="274320"/>
          </a:xfrm>
          <a:prstGeom prst="rect">
            <a:avLst/>
          </a:prstGeom>
          <a:noFill/>
          <a:ln/>
        </p:spPr>
        <p:txBody>
          <a:bodyPr wrap="square" rtlCol="0" anchor="ctr"/>
          <a:lstStyle/>
          <a:p>
            <a:pPr marL="0" indent="0" algn="l">
              <a:buNone/>
            </a:pPr>
            <a:endParaRPr lang="en-US" sz="900" dirty="0"/>
          </a:p>
        </p:txBody>
      </p:sp>
      <p:sp>
        <p:nvSpPr>
          <p:cNvPr id="35" name="Text 27"/>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A928EB4-4CB1-4EC4-AF99-F309BAEAE1E7}"/>
              </a:ext>
            </a:extLst>
          </p:cNvPr>
          <p:cNvSpPr txBox="1"/>
          <p:nvPr/>
        </p:nvSpPr>
        <p:spPr>
          <a:xfrm>
            <a:off x="457200" y="295835"/>
            <a:ext cx="3765176" cy="584775"/>
          </a:xfrm>
          <a:prstGeom prst="rect">
            <a:avLst/>
          </a:prstGeom>
          <a:noFill/>
        </p:spPr>
        <p:txBody>
          <a:bodyPr wrap="square" rtlCol="0">
            <a:spAutoFit/>
          </a:bodyPr>
          <a:lstStyle/>
          <a:p>
            <a:r>
              <a:rPr lang="en-US" sz="3200" b="1" dirty="0"/>
              <a:t>Authentication</a:t>
            </a:r>
          </a:p>
        </p:txBody>
      </p:sp>
      <p:pic>
        <p:nvPicPr>
          <p:cNvPr id="7" name="Picture 6">
            <a:extLst>
              <a:ext uri="{FF2B5EF4-FFF2-40B4-BE49-F238E27FC236}">
                <a16:creationId xmlns:a16="http://schemas.microsoft.com/office/drawing/2014/main" id="{875E6793-6033-4F2D-B019-0C53229844A1}"/>
              </a:ext>
            </a:extLst>
          </p:cNvPr>
          <p:cNvPicPr>
            <a:picLocks noChangeAspect="1"/>
          </p:cNvPicPr>
          <p:nvPr/>
        </p:nvPicPr>
        <p:blipFill>
          <a:blip r:embed="rId3"/>
          <a:stretch>
            <a:fillRect/>
          </a:stretch>
        </p:blipFill>
        <p:spPr>
          <a:xfrm>
            <a:off x="572209" y="1529663"/>
            <a:ext cx="5731510" cy="3669867"/>
          </a:xfrm>
          <a:prstGeom prst="rect">
            <a:avLst/>
          </a:prstGeom>
        </p:spPr>
      </p:pic>
      <p:pic>
        <p:nvPicPr>
          <p:cNvPr id="10" name="Picture 9">
            <a:extLst>
              <a:ext uri="{FF2B5EF4-FFF2-40B4-BE49-F238E27FC236}">
                <a16:creationId xmlns:a16="http://schemas.microsoft.com/office/drawing/2014/main" id="{53D124A2-84B3-4702-B9DB-BC2AC8E91CB8}"/>
              </a:ext>
            </a:extLst>
          </p:cNvPr>
          <p:cNvPicPr>
            <a:picLocks noChangeAspect="1"/>
          </p:cNvPicPr>
          <p:nvPr/>
        </p:nvPicPr>
        <p:blipFill>
          <a:blip r:embed="rId4"/>
          <a:stretch>
            <a:fillRect/>
          </a:stretch>
        </p:blipFill>
        <p:spPr>
          <a:xfrm>
            <a:off x="6570849" y="1529662"/>
            <a:ext cx="5325316" cy="3846813"/>
          </a:xfrm>
          <a:prstGeom prst="rect">
            <a:avLst/>
          </a:prstGeom>
        </p:spPr>
      </p:pic>
    </p:spTree>
    <p:extLst>
      <p:ext uri="{BB962C8B-B14F-4D97-AF65-F5344CB8AC3E}">
        <p14:creationId xmlns:p14="http://schemas.microsoft.com/office/powerpoint/2010/main" val="37637593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0845DB-D32A-4F65-9BD9-BDAD4BD1FBD9}"/>
              </a:ext>
            </a:extLst>
          </p:cNvPr>
          <p:cNvSpPr txBox="1"/>
          <p:nvPr/>
        </p:nvSpPr>
        <p:spPr>
          <a:xfrm>
            <a:off x="582706" y="340659"/>
            <a:ext cx="4267200" cy="461665"/>
          </a:xfrm>
          <a:prstGeom prst="rect">
            <a:avLst/>
          </a:prstGeom>
          <a:noFill/>
        </p:spPr>
        <p:txBody>
          <a:bodyPr wrap="square" rtlCol="0">
            <a:spAutoFit/>
          </a:bodyPr>
          <a:lstStyle/>
          <a:p>
            <a:r>
              <a:rPr lang="en-US" sz="2400" b="1" dirty="0"/>
              <a:t>Registration &amp; Recovery</a:t>
            </a:r>
          </a:p>
        </p:txBody>
      </p:sp>
      <p:pic>
        <p:nvPicPr>
          <p:cNvPr id="5" name="Picture 4">
            <a:extLst>
              <a:ext uri="{FF2B5EF4-FFF2-40B4-BE49-F238E27FC236}">
                <a16:creationId xmlns:a16="http://schemas.microsoft.com/office/drawing/2014/main" id="{91A691E7-C59B-4633-AB88-A6ECA30CCB51}"/>
              </a:ext>
            </a:extLst>
          </p:cNvPr>
          <p:cNvPicPr>
            <a:picLocks noChangeAspect="1"/>
          </p:cNvPicPr>
          <p:nvPr/>
        </p:nvPicPr>
        <p:blipFill>
          <a:blip r:embed="rId2"/>
          <a:stretch>
            <a:fillRect/>
          </a:stretch>
        </p:blipFill>
        <p:spPr>
          <a:xfrm>
            <a:off x="568876" y="802324"/>
            <a:ext cx="4092771" cy="2751539"/>
          </a:xfrm>
          <a:prstGeom prst="rect">
            <a:avLst/>
          </a:prstGeom>
        </p:spPr>
      </p:pic>
      <p:pic>
        <p:nvPicPr>
          <p:cNvPr id="8" name="Picture 7">
            <a:extLst>
              <a:ext uri="{FF2B5EF4-FFF2-40B4-BE49-F238E27FC236}">
                <a16:creationId xmlns:a16="http://schemas.microsoft.com/office/drawing/2014/main" id="{A254DA41-125C-479A-BB36-48A5D474DC57}"/>
              </a:ext>
            </a:extLst>
          </p:cNvPr>
          <p:cNvPicPr>
            <a:picLocks noChangeAspect="1"/>
          </p:cNvPicPr>
          <p:nvPr/>
        </p:nvPicPr>
        <p:blipFill>
          <a:blip r:embed="rId3"/>
          <a:stretch>
            <a:fillRect/>
          </a:stretch>
        </p:blipFill>
        <p:spPr>
          <a:xfrm>
            <a:off x="568876" y="3662122"/>
            <a:ext cx="4826256" cy="2846254"/>
          </a:xfrm>
          <a:prstGeom prst="rect">
            <a:avLst/>
          </a:prstGeom>
        </p:spPr>
      </p:pic>
      <p:pic>
        <p:nvPicPr>
          <p:cNvPr id="11" name="Picture 10">
            <a:extLst>
              <a:ext uri="{FF2B5EF4-FFF2-40B4-BE49-F238E27FC236}">
                <a16:creationId xmlns:a16="http://schemas.microsoft.com/office/drawing/2014/main" id="{4B276D6E-3DEF-4B1B-8F2D-C7AAF12FEDB3}"/>
              </a:ext>
            </a:extLst>
          </p:cNvPr>
          <p:cNvPicPr>
            <a:picLocks noChangeAspect="1"/>
          </p:cNvPicPr>
          <p:nvPr/>
        </p:nvPicPr>
        <p:blipFill>
          <a:blip r:embed="rId4"/>
          <a:stretch>
            <a:fillRect/>
          </a:stretch>
        </p:blipFill>
        <p:spPr>
          <a:xfrm>
            <a:off x="5065712" y="822197"/>
            <a:ext cx="3792070" cy="2820052"/>
          </a:xfrm>
          <a:prstGeom prst="rect">
            <a:avLst/>
          </a:prstGeom>
        </p:spPr>
      </p:pic>
      <p:pic>
        <p:nvPicPr>
          <p:cNvPr id="14" name="Picture 13">
            <a:extLst>
              <a:ext uri="{FF2B5EF4-FFF2-40B4-BE49-F238E27FC236}">
                <a16:creationId xmlns:a16="http://schemas.microsoft.com/office/drawing/2014/main" id="{87396E1F-A410-49C1-ADC5-6B73CE90CF14}"/>
              </a:ext>
            </a:extLst>
          </p:cNvPr>
          <p:cNvPicPr>
            <a:picLocks noChangeAspect="1"/>
          </p:cNvPicPr>
          <p:nvPr/>
        </p:nvPicPr>
        <p:blipFill>
          <a:blip r:embed="rId5"/>
          <a:stretch>
            <a:fillRect/>
          </a:stretch>
        </p:blipFill>
        <p:spPr>
          <a:xfrm>
            <a:off x="5698479" y="3692822"/>
            <a:ext cx="4174736" cy="2784854"/>
          </a:xfrm>
          <a:prstGeom prst="rect">
            <a:avLst/>
          </a:prstGeom>
        </p:spPr>
      </p:pic>
      <p:pic>
        <p:nvPicPr>
          <p:cNvPr id="17" name="Picture 16">
            <a:extLst>
              <a:ext uri="{FF2B5EF4-FFF2-40B4-BE49-F238E27FC236}">
                <a16:creationId xmlns:a16="http://schemas.microsoft.com/office/drawing/2014/main" id="{99CDFFCB-B907-4D4D-8141-CF4521DDAAED}"/>
              </a:ext>
            </a:extLst>
          </p:cNvPr>
          <p:cNvPicPr>
            <a:picLocks noChangeAspect="1"/>
          </p:cNvPicPr>
          <p:nvPr/>
        </p:nvPicPr>
        <p:blipFill>
          <a:blip r:embed="rId6"/>
          <a:stretch>
            <a:fillRect/>
          </a:stretch>
        </p:blipFill>
        <p:spPr>
          <a:xfrm>
            <a:off x="8957047" y="1379261"/>
            <a:ext cx="3019295" cy="1667436"/>
          </a:xfrm>
          <a:prstGeom prst="rect">
            <a:avLst/>
          </a:prstGeom>
        </p:spPr>
      </p:pic>
    </p:spTree>
    <p:extLst>
      <p:ext uri="{BB962C8B-B14F-4D97-AF65-F5344CB8AC3E}">
        <p14:creationId xmlns:p14="http://schemas.microsoft.com/office/powerpoint/2010/main" val="19484332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5AD9EE-1197-455E-9BB9-3429DEA0D362}"/>
              </a:ext>
            </a:extLst>
          </p:cNvPr>
          <p:cNvSpPr txBox="1"/>
          <p:nvPr/>
        </p:nvSpPr>
        <p:spPr>
          <a:xfrm>
            <a:off x="833718" y="268941"/>
            <a:ext cx="5495364" cy="523220"/>
          </a:xfrm>
          <a:prstGeom prst="rect">
            <a:avLst/>
          </a:prstGeom>
          <a:noFill/>
        </p:spPr>
        <p:txBody>
          <a:bodyPr wrap="square" rtlCol="0">
            <a:spAutoFit/>
          </a:bodyPr>
          <a:lstStyle/>
          <a:p>
            <a:r>
              <a:rPr lang="en-US" sz="2800" b="1" dirty="0"/>
              <a:t>Subscription Records</a:t>
            </a:r>
          </a:p>
        </p:txBody>
      </p:sp>
      <p:pic>
        <p:nvPicPr>
          <p:cNvPr id="5" name="Picture 4">
            <a:extLst>
              <a:ext uri="{FF2B5EF4-FFF2-40B4-BE49-F238E27FC236}">
                <a16:creationId xmlns:a16="http://schemas.microsoft.com/office/drawing/2014/main" id="{5B805B59-8998-42C3-ACD9-76A38785006C}"/>
              </a:ext>
            </a:extLst>
          </p:cNvPr>
          <p:cNvPicPr>
            <a:picLocks noChangeAspect="1"/>
          </p:cNvPicPr>
          <p:nvPr/>
        </p:nvPicPr>
        <p:blipFill>
          <a:blip r:embed="rId2"/>
          <a:stretch>
            <a:fillRect/>
          </a:stretch>
        </p:blipFill>
        <p:spPr>
          <a:xfrm>
            <a:off x="717312" y="792161"/>
            <a:ext cx="4984241" cy="2888660"/>
          </a:xfrm>
          <a:prstGeom prst="rect">
            <a:avLst/>
          </a:prstGeom>
        </p:spPr>
      </p:pic>
      <p:pic>
        <p:nvPicPr>
          <p:cNvPr id="8" name="Picture 7">
            <a:extLst>
              <a:ext uri="{FF2B5EF4-FFF2-40B4-BE49-F238E27FC236}">
                <a16:creationId xmlns:a16="http://schemas.microsoft.com/office/drawing/2014/main" id="{D3CE0129-5311-4958-B813-BBA00BCE3E47}"/>
              </a:ext>
            </a:extLst>
          </p:cNvPr>
          <p:cNvPicPr>
            <a:picLocks noChangeAspect="1"/>
          </p:cNvPicPr>
          <p:nvPr/>
        </p:nvPicPr>
        <p:blipFill>
          <a:blip r:embed="rId3"/>
          <a:stretch>
            <a:fillRect/>
          </a:stretch>
        </p:blipFill>
        <p:spPr>
          <a:xfrm>
            <a:off x="717312" y="3746579"/>
            <a:ext cx="5292095" cy="2888661"/>
          </a:xfrm>
          <a:prstGeom prst="rect">
            <a:avLst/>
          </a:prstGeom>
        </p:spPr>
      </p:pic>
      <p:pic>
        <p:nvPicPr>
          <p:cNvPr id="11" name="Picture 10">
            <a:extLst>
              <a:ext uri="{FF2B5EF4-FFF2-40B4-BE49-F238E27FC236}">
                <a16:creationId xmlns:a16="http://schemas.microsoft.com/office/drawing/2014/main" id="{EE4FD2EE-38F9-4939-BB2C-C4C3BA2E2A01}"/>
              </a:ext>
            </a:extLst>
          </p:cNvPr>
          <p:cNvPicPr>
            <a:picLocks noChangeAspect="1"/>
          </p:cNvPicPr>
          <p:nvPr/>
        </p:nvPicPr>
        <p:blipFill>
          <a:blip r:embed="rId4"/>
          <a:stretch>
            <a:fillRect/>
          </a:stretch>
        </p:blipFill>
        <p:spPr>
          <a:xfrm>
            <a:off x="6009407" y="708426"/>
            <a:ext cx="5304138" cy="2972395"/>
          </a:xfrm>
          <a:prstGeom prst="rect">
            <a:avLst/>
          </a:prstGeom>
        </p:spPr>
      </p:pic>
      <p:pic>
        <p:nvPicPr>
          <p:cNvPr id="14" name="Picture 13">
            <a:extLst>
              <a:ext uri="{FF2B5EF4-FFF2-40B4-BE49-F238E27FC236}">
                <a16:creationId xmlns:a16="http://schemas.microsoft.com/office/drawing/2014/main" id="{5842C243-2366-464C-A56C-E7821B52CEE7}"/>
              </a:ext>
            </a:extLst>
          </p:cNvPr>
          <p:cNvPicPr>
            <a:picLocks noChangeAspect="1"/>
          </p:cNvPicPr>
          <p:nvPr/>
        </p:nvPicPr>
        <p:blipFill>
          <a:blip r:embed="rId5"/>
          <a:stretch>
            <a:fillRect/>
          </a:stretch>
        </p:blipFill>
        <p:spPr>
          <a:xfrm>
            <a:off x="6257364" y="3746579"/>
            <a:ext cx="4984463" cy="2864017"/>
          </a:xfrm>
          <a:prstGeom prst="rect">
            <a:avLst/>
          </a:prstGeom>
        </p:spPr>
      </p:pic>
    </p:spTree>
    <p:extLst>
      <p:ext uri="{BB962C8B-B14F-4D97-AF65-F5344CB8AC3E}">
        <p14:creationId xmlns:p14="http://schemas.microsoft.com/office/powerpoint/2010/main" val="41688660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95AF66-2354-4573-B4D9-EAD304205827}"/>
              </a:ext>
            </a:extLst>
          </p:cNvPr>
          <p:cNvSpPr txBox="1"/>
          <p:nvPr/>
        </p:nvSpPr>
        <p:spPr>
          <a:xfrm>
            <a:off x="977153" y="304800"/>
            <a:ext cx="5629835" cy="523220"/>
          </a:xfrm>
          <a:prstGeom prst="rect">
            <a:avLst/>
          </a:prstGeom>
          <a:noFill/>
        </p:spPr>
        <p:txBody>
          <a:bodyPr wrap="square" rtlCol="0">
            <a:spAutoFit/>
          </a:bodyPr>
          <a:lstStyle/>
          <a:p>
            <a:r>
              <a:rPr lang="en-US" sz="2800" b="1" dirty="0"/>
              <a:t>Live Search </a:t>
            </a:r>
          </a:p>
        </p:txBody>
      </p:sp>
      <p:pic>
        <p:nvPicPr>
          <p:cNvPr id="5" name="Picture 4">
            <a:extLst>
              <a:ext uri="{FF2B5EF4-FFF2-40B4-BE49-F238E27FC236}">
                <a16:creationId xmlns:a16="http://schemas.microsoft.com/office/drawing/2014/main" id="{42402342-02AF-4A4C-8CBE-2DEFC6E79DA1}"/>
              </a:ext>
            </a:extLst>
          </p:cNvPr>
          <p:cNvPicPr>
            <a:picLocks noChangeAspect="1"/>
          </p:cNvPicPr>
          <p:nvPr/>
        </p:nvPicPr>
        <p:blipFill>
          <a:blip r:embed="rId2"/>
          <a:stretch>
            <a:fillRect/>
          </a:stretch>
        </p:blipFill>
        <p:spPr>
          <a:xfrm>
            <a:off x="224118" y="828020"/>
            <a:ext cx="5617739" cy="2955085"/>
          </a:xfrm>
          <a:prstGeom prst="rect">
            <a:avLst/>
          </a:prstGeom>
        </p:spPr>
      </p:pic>
      <p:pic>
        <p:nvPicPr>
          <p:cNvPr id="8" name="Picture 7">
            <a:extLst>
              <a:ext uri="{FF2B5EF4-FFF2-40B4-BE49-F238E27FC236}">
                <a16:creationId xmlns:a16="http://schemas.microsoft.com/office/drawing/2014/main" id="{5086E0AB-E43F-40BD-9035-C3DC56F8F878}"/>
              </a:ext>
            </a:extLst>
          </p:cNvPr>
          <p:cNvPicPr>
            <a:picLocks noChangeAspect="1"/>
          </p:cNvPicPr>
          <p:nvPr/>
        </p:nvPicPr>
        <p:blipFill>
          <a:blip r:embed="rId3"/>
          <a:stretch>
            <a:fillRect/>
          </a:stretch>
        </p:blipFill>
        <p:spPr>
          <a:xfrm>
            <a:off x="6350145" y="828020"/>
            <a:ext cx="5205360" cy="2952748"/>
          </a:xfrm>
          <a:prstGeom prst="rect">
            <a:avLst/>
          </a:prstGeom>
        </p:spPr>
      </p:pic>
      <p:pic>
        <p:nvPicPr>
          <p:cNvPr id="11" name="Picture 10">
            <a:extLst>
              <a:ext uri="{FF2B5EF4-FFF2-40B4-BE49-F238E27FC236}">
                <a16:creationId xmlns:a16="http://schemas.microsoft.com/office/drawing/2014/main" id="{2F324285-4D96-4D54-A657-B19F21DACB29}"/>
              </a:ext>
            </a:extLst>
          </p:cNvPr>
          <p:cNvPicPr>
            <a:picLocks noChangeAspect="1"/>
          </p:cNvPicPr>
          <p:nvPr/>
        </p:nvPicPr>
        <p:blipFill>
          <a:blip r:embed="rId4"/>
          <a:stretch>
            <a:fillRect/>
          </a:stretch>
        </p:blipFill>
        <p:spPr>
          <a:xfrm>
            <a:off x="3324082" y="3783105"/>
            <a:ext cx="5543839" cy="2955086"/>
          </a:xfrm>
          <a:prstGeom prst="rect">
            <a:avLst/>
          </a:prstGeom>
        </p:spPr>
      </p:pic>
    </p:spTree>
    <p:extLst>
      <p:ext uri="{BB962C8B-B14F-4D97-AF65-F5344CB8AC3E}">
        <p14:creationId xmlns:p14="http://schemas.microsoft.com/office/powerpoint/2010/main" val="8747263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755882-417C-4EF6-AA31-1629CA34A33F}"/>
              </a:ext>
            </a:extLst>
          </p:cNvPr>
          <p:cNvSpPr txBox="1"/>
          <p:nvPr/>
        </p:nvSpPr>
        <p:spPr>
          <a:xfrm>
            <a:off x="475128" y="466165"/>
            <a:ext cx="4025153" cy="523220"/>
          </a:xfrm>
          <a:prstGeom prst="rect">
            <a:avLst/>
          </a:prstGeom>
          <a:noFill/>
        </p:spPr>
        <p:txBody>
          <a:bodyPr wrap="square" rtlCol="0">
            <a:spAutoFit/>
          </a:bodyPr>
          <a:lstStyle/>
          <a:p>
            <a:r>
              <a:rPr lang="en-US" sz="2800" b="1" dirty="0"/>
              <a:t>Admin Console</a:t>
            </a:r>
          </a:p>
        </p:txBody>
      </p:sp>
      <p:pic>
        <p:nvPicPr>
          <p:cNvPr id="6" name="Picture 5">
            <a:extLst>
              <a:ext uri="{FF2B5EF4-FFF2-40B4-BE49-F238E27FC236}">
                <a16:creationId xmlns:a16="http://schemas.microsoft.com/office/drawing/2014/main" id="{51FEA5AE-E34E-4ADF-8505-9EEAFCD94562}"/>
              </a:ext>
            </a:extLst>
          </p:cNvPr>
          <p:cNvPicPr>
            <a:picLocks noChangeAspect="1"/>
          </p:cNvPicPr>
          <p:nvPr/>
        </p:nvPicPr>
        <p:blipFill>
          <a:blip r:embed="rId2"/>
          <a:stretch>
            <a:fillRect/>
          </a:stretch>
        </p:blipFill>
        <p:spPr>
          <a:xfrm>
            <a:off x="475128" y="1136970"/>
            <a:ext cx="4959266" cy="2782153"/>
          </a:xfrm>
          <a:prstGeom prst="rect">
            <a:avLst/>
          </a:prstGeom>
        </p:spPr>
      </p:pic>
      <p:pic>
        <p:nvPicPr>
          <p:cNvPr id="9" name="Picture 8">
            <a:extLst>
              <a:ext uri="{FF2B5EF4-FFF2-40B4-BE49-F238E27FC236}">
                <a16:creationId xmlns:a16="http://schemas.microsoft.com/office/drawing/2014/main" id="{6CA1A3F6-F9EC-4E23-8142-28FA09FC03DB}"/>
              </a:ext>
            </a:extLst>
          </p:cNvPr>
          <p:cNvPicPr>
            <a:picLocks noChangeAspect="1"/>
          </p:cNvPicPr>
          <p:nvPr/>
        </p:nvPicPr>
        <p:blipFill>
          <a:blip r:embed="rId3"/>
          <a:stretch>
            <a:fillRect/>
          </a:stretch>
        </p:blipFill>
        <p:spPr>
          <a:xfrm>
            <a:off x="5701553" y="1136970"/>
            <a:ext cx="5434394" cy="2857376"/>
          </a:xfrm>
          <a:prstGeom prst="rect">
            <a:avLst/>
          </a:prstGeom>
        </p:spPr>
      </p:pic>
      <p:pic>
        <p:nvPicPr>
          <p:cNvPr id="12" name="Picture 11">
            <a:extLst>
              <a:ext uri="{FF2B5EF4-FFF2-40B4-BE49-F238E27FC236}">
                <a16:creationId xmlns:a16="http://schemas.microsoft.com/office/drawing/2014/main" id="{EE8527F4-FDBC-4666-90E9-08C4D440A5D6}"/>
              </a:ext>
            </a:extLst>
          </p:cNvPr>
          <p:cNvPicPr>
            <a:picLocks noChangeAspect="1"/>
          </p:cNvPicPr>
          <p:nvPr/>
        </p:nvPicPr>
        <p:blipFill>
          <a:blip r:embed="rId4"/>
          <a:stretch>
            <a:fillRect/>
          </a:stretch>
        </p:blipFill>
        <p:spPr>
          <a:xfrm>
            <a:off x="3128683" y="4066708"/>
            <a:ext cx="4915662" cy="2354452"/>
          </a:xfrm>
          <a:prstGeom prst="rect">
            <a:avLst/>
          </a:prstGeom>
        </p:spPr>
      </p:pic>
    </p:spTree>
    <p:extLst>
      <p:ext uri="{BB962C8B-B14F-4D97-AF65-F5344CB8AC3E}">
        <p14:creationId xmlns:p14="http://schemas.microsoft.com/office/powerpoint/2010/main" val="36013456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315F7E-B485-402D-A586-ACE11418F47F}"/>
              </a:ext>
            </a:extLst>
          </p:cNvPr>
          <p:cNvSpPr txBox="1"/>
          <p:nvPr/>
        </p:nvSpPr>
        <p:spPr>
          <a:xfrm>
            <a:off x="663388" y="340659"/>
            <a:ext cx="5737412" cy="523220"/>
          </a:xfrm>
          <a:prstGeom prst="rect">
            <a:avLst/>
          </a:prstGeom>
          <a:noFill/>
        </p:spPr>
        <p:txBody>
          <a:bodyPr wrap="square" rtlCol="0">
            <a:spAutoFit/>
          </a:bodyPr>
          <a:lstStyle/>
          <a:p>
            <a:r>
              <a:rPr lang="en-US" sz="2800" b="1" dirty="0"/>
              <a:t>Add Subscription &amp; About us</a:t>
            </a:r>
          </a:p>
        </p:txBody>
      </p:sp>
      <p:pic>
        <p:nvPicPr>
          <p:cNvPr id="5" name="Picture 4">
            <a:extLst>
              <a:ext uri="{FF2B5EF4-FFF2-40B4-BE49-F238E27FC236}">
                <a16:creationId xmlns:a16="http://schemas.microsoft.com/office/drawing/2014/main" id="{AB1062BC-409D-4BB5-A424-5F762D392310}"/>
              </a:ext>
            </a:extLst>
          </p:cNvPr>
          <p:cNvPicPr>
            <a:picLocks noChangeAspect="1"/>
          </p:cNvPicPr>
          <p:nvPr/>
        </p:nvPicPr>
        <p:blipFill>
          <a:blip r:embed="rId2"/>
          <a:stretch>
            <a:fillRect/>
          </a:stretch>
        </p:blipFill>
        <p:spPr>
          <a:xfrm>
            <a:off x="295835" y="927479"/>
            <a:ext cx="5800165" cy="3228365"/>
          </a:xfrm>
          <a:prstGeom prst="rect">
            <a:avLst/>
          </a:prstGeom>
        </p:spPr>
      </p:pic>
      <p:pic>
        <p:nvPicPr>
          <p:cNvPr id="8" name="Picture 7">
            <a:extLst>
              <a:ext uri="{FF2B5EF4-FFF2-40B4-BE49-F238E27FC236}">
                <a16:creationId xmlns:a16="http://schemas.microsoft.com/office/drawing/2014/main" id="{0EA388D4-78A0-4110-AF3F-6222BBE85D0E}"/>
              </a:ext>
            </a:extLst>
          </p:cNvPr>
          <p:cNvPicPr>
            <a:picLocks noChangeAspect="1"/>
          </p:cNvPicPr>
          <p:nvPr/>
        </p:nvPicPr>
        <p:blipFill>
          <a:blip r:embed="rId3"/>
          <a:stretch>
            <a:fillRect/>
          </a:stretch>
        </p:blipFill>
        <p:spPr>
          <a:xfrm>
            <a:off x="6499411" y="955444"/>
            <a:ext cx="5450541" cy="3064686"/>
          </a:xfrm>
          <a:prstGeom prst="rect">
            <a:avLst/>
          </a:prstGeom>
        </p:spPr>
      </p:pic>
      <p:pic>
        <p:nvPicPr>
          <p:cNvPr id="11" name="Picture 10">
            <a:extLst>
              <a:ext uri="{FF2B5EF4-FFF2-40B4-BE49-F238E27FC236}">
                <a16:creationId xmlns:a16="http://schemas.microsoft.com/office/drawing/2014/main" id="{C6EA5EF1-B987-4B29-A526-371FE2B59F0A}"/>
              </a:ext>
            </a:extLst>
          </p:cNvPr>
          <p:cNvPicPr>
            <a:picLocks noChangeAspect="1"/>
          </p:cNvPicPr>
          <p:nvPr/>
        </p:nvPicPr>
        <p:blipFill>
          <a:blip r:embed="rId4"/>
          <a:stretch>
            <a:fillRect/>
          </a:stretch>
        </p:blipFill>
        <p:spPr>
          <a:xfrm>
            <a:off x="663388" y="4289612"/>
            <a:ext cx="5181600" cy="2590800"/>
          </a:xfrm>
          <a:prstGeom prst="rect">
            <a:avLst/>
          </a:prstGeom>
        </p:spPr>
      </p:pic>
      <p:sp>
        <p:nvSpPr>
          <p:cNvPr id="12" name="TextBox 11">
            <a:extLst>
              <a:ext uri="{FF2B5EF4-FFF2-40B4-BE49-F238E27FC236}">
                <a16:creationId xmlns:a16="http://schemas.microsoft.com/office/drawing/2014/main" id="{D2FF3C42-7758-4B54-B27C-FFD464AB32B8}"/>
              </a:ext>
            </a:extLst>
          </p:cNvPr>
          <p:cNvSpPr txBox="1"/>
          <p:nvPr/>
        </p:nvSpPr>
        <p:spPr>
          <a:xfrm>
            <a:off x="6499411" y="4733365"/>
            <a:ext cx="2088777" cy="1326776"/>
          </a:xfrm>
          <a:prstGeom prst="rect">
            <a:avLst/>
          </a:prstGeom>
          <a:noFill/>
        </p:spPr>
        <p:txBody>
          <a:bodyPr wrap="square" rtlCol="0">
            <a:spAutoFit/>
          </a:bodyPr>
          <a:lstStyle/>
          <a:p>
            <a:endParaRPr lang="en-US" dirty="0"/>
          </a:p>
        </p:txBody>
      </p:sp>
      <p:pic>
        <p:nvPicPr>
          <p:cNvPr id="14" name="Picture 13">
            <a:extLst>
              <a:ext uri="{FF2B5EF4-FFF2-40B4-BE49-F238E27FC236}">
                <a16:creationId xmlns:a16="http://schemas.microsoft.com/office/drawing/2014/main" id="{AE74145E-B8D5-4423-A762-C8620E1408FA}"/>
              </a:ext>
            </a:extLst>
          </p:cNvPr>
          <p:cNvPicPr>
            <a:picLocks noChangeAspect="1"/>
          </p:cNvPicPr>
          <p:nvPr/>
        </p:nvPicPr>
        <p:blipFill>
          <a:blip r:embed="rId5"/>
          <a:stretch>
            <a:fillRect/>
          </a:stretch>
        </p:blipFill>
        <p:spPr>
          <a:xfrm>
            <a:off x="6499411" y="4233079"/>
            <a:ext cx="4885765" cy="2624921"/>
          </a:xfrm>
          <a:prstGeom prst="rect">
            <a:avLst/>
          </a:prstGeom>
        </p:spPr>
      </p:pic>
    </p:spTree>
    <p:extLst>
      <p:ext uri="{BB962C8B-B14F-4D97-AF65-F5344CB8AC3E}">
        <p14:creationId xmlns:p14="http://schemas.microsoft.com/office/powerpoint/2010/main" val="36114072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103453"/>
            <a:ext cx="91440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FINANCIAL LOGIC</a:t>
            </a:r>
            <a:endParaRPr lang="en-US" sz="1300" dirty="0"/>
          </a:p>
        </p:txBody>
      </p:sp>
      <p:sp>
        <p:nvSpPr>
          <p:cNvPr id="3" name="Text 1"/>
          <p:cNvSpPr/>
          <p:nvPr/>
        </p:nvSpPr>
        <p:spPr>
          <a:xfrm>
            <a:off x="548640" y="377773"/>
            <a:ext cx="11064240" cy="68580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Budgeting &amp; Real-Time Calculations</a:t>
            </a:r>
            <a:endParaRPr lang="en-US" sz="3000" dirty="0"/>
          </a:p>
        </p:txBody>
      </p:sp>
      <p:sp>
        <p:nvSpPr>
          <p:cNvPr id="4" name="Shape 2"/>
          <p:cNvSpPr/>
          <p:nvPr/>
        </p:nvSpPr>
        <p:spPr>
          <a:xfrm>
            <a:off x="548640" y="1411045"/>
            <a:ext cx="5486400" cy="1828800"/>
          </a:xfrm>
          <a:prstGeom prst="roundRect">
            <a:avLst>
              <a:gd name="adj" fmla="val 4000"/>
            </a:avLst>
          </a:prstGeom>
          <a:solidFill>
            <a:schemeClr val="bg1">
              <a:lumMod val="95000"/>
            </a:schemeClr>
          </a:solidFill>
          <a:ln/>
        </p:spPr>
        <p:txBody>
          <a:bodyPr/>
          <a:lstStyle/>
          <a:p>
            <a:endParaRPr lang="en-US"/>
          </a:p>
        </p:txBody>
      </p:sp>
      <p:sp>
        <p:nvSpPr>
          <p:cNvPr id="5" name="Text 3"/>
          <p:cNvSpPr/>
          <p:nvPr/>
        </p:nvSpPr>
        <p:spPr>
          <a:xfrm>
            <a:off x="777240" y="2051125"/>
            <a:ext cx="5029200" cy="731520"/>
          </a:xfrm>
          <a:prstGeom prst="rect">
            <a:avLst/>
          </a:prstGeom>
          <a:noFill/>
          <a:ln/>
        </p:spPr>
        <p:txBody>
          <a:bodyPr wrap="square" rtlCol="0" anchor="ctr"/>
          <a:lstStyle/>
          <a:p>
            <a:pPr marL="0" indent="0">
              <a:buNone/>
            </a:pPr>
            <a:r>
              <a:rPr lang="en-US" sz="1300" dirty="0">
                <a:latin typeface="Times New Roman" panose="02020603050405020304" pitchFamily="18" charset="0"/>
                <a:ea typeface="Calibri" pitchFamily="34" charset="-122"/>
                <a:cs typeface="Times New Roman" panose="02020603050405020304" pitchFamily="18" charset="0"/>
              </a:rPr>
              <a:t>Active subscriptions   →   getMonthlyCost()   →   Monthly expense   →   × 12   →   Annual expense</a:t>
            </a:r>
            <a:endParaRPr lang="en-US" sz="1300" dirty="0">
              <a:latin typeface="Times New Roman" panose="02020603050405020304" pitchFamily="18" charset="0"/>
              <a:cs typeface="Times New Roman" panose="02020603050405020304" pitchFamily="18" charset="0"/>
            </a:endParaRPr>
          </a:p>
        </p:txBody>
      </p:sp>
      <p:sp>
        <p:nvSpPr>
          <p:cNvPr id="8" name="Text 6"/>
          <p:cNvSpPr/>
          <p:nvPr/>
        </p:nvSpPr>
        <p:spPr>
          <a:xfrm>
            <a:off x="548640" y="4337125"/>
            <a:ext cx="2651760" cy="365760"/>
          </a:xfrm>
          <a:prstGeom prst="rect">
            <a:avLst/>
          </a:prstGeom>
          <a:noFill/>
          <a:ln/>
        </p:spPr>
        <p:txBody>
          <a:bodyPr wrap="square" rtlCol="0" anchor="ctr"/>
          <a:lstStyle/>
          <a:p>
            <a:pPr marL="0" indent="0" algn="ctr">
              <a:buNone/>
            </a:pPr>
            <a:endParaRPr lang="en-US" sz="1100" dirty="0"/>
          </a:p>
        </p:txBody>
      </p:sp>
      <p:sp>
        <p:nvSpPr>
          <p:cNvPr id="9" name="Text 7"/>
          <p:cNvSpPr/>
          <p:nvPr/>
        </p:nvSpPr>
        <p:spPr>
          <a:xfrm>
            <a:off x="548640" y="4702885"/>
            <a:ext cx="2651760" cy="365760"/>
          </a:xfrm>
          <a:prstGeom prst="rect">
            <a:avLst/>
          </a:prstGeom>
          <a:noFill/>
          <a:ln/>
        </p:spPr>
        <p:txBody>
          <a:bodyPr wrap="square" rtlCol="0" anchor="ctr"/>
          <a:lstStyle/>
          <a:p>
            <a:pPr marL="0" indent="0" algn="ctr">
              <a:buNone/>
            </a:pPr>
            <a:endParaRPr lang="en-US" sz="950" dirty="0"/>
          </a:p>
        </p:txBody>
      </p:sp>
      <p:sp>
        <p:nvSpPr>
          <p:cNvPr id="11" name="Text 9"/>
          <p:cNvSpPr/>
          <p:nvPr/>
        </p:nvSpPr>
        <p:spPr>
          <a:xfrm>
            <a:off x="3383280" y="3651325"/>
            <a:ext cx="2651760" cy="640080"/>
          </a:xfrm>
          <a:prstGeom prst="rect">
            <a:avLst/>
          </a:prstGeom>
          <a:noFill/>
          <a:ln/>
        </p:spPr>
        <p:txBody>
          <a:bodyPr wrap="square" rtlCol="0" anchor="ctr"/>
          <a:lstStyle/>
          <a:p>
            <a:pPr marL="0" indent="0" algn="ctr">
              <a:buNone/>
            </a:pPr>
            <a:endParaRPr lang="en-US" sz="3400" dirty="0"/>
          </a:p>
        </p:txBody>
      </p:sp>
      <p:sp>
        <p:nvSpPr>
          <p:cNvPr id="12" name="Text 10"/>
          <p:cNvSpPr/>
          <p:nvPr/>
        </p:nvSpPr>
        <p:spPr>
          <a:xfrm>
            <a:off x="3383280" y="4337125"/>
            <a:ext cx="2651760" cy="365760"/>
          </a:xfrm>
          <a:prstGeom prst="rect">
            <a:avLst/>
          </a:prstGeom>
          <a:noFill/>
          <a:ln/>
        </p:spPr>
        <p:txBody>
          <a:bodyPr wrap="square" rtlCol="0" anchor="ctr"/>
          <a:lstStyle/>
          <a:p>
            <a:pPr marL="0" indent="0" algn="ctr">
              <a:buNone/>
            </a:pPr>
            <a:endParaRPr lang="en-US" sz="1100" dirty="0"/>
          </a:p>
        </p:txBody>
      </p:sp>
      <p:sp>
        <p:nvSpPr>
          <p:cNvPr id="13" name="Text 11"/>
          <p:cNvSpPr/>
          <p:nvPr/>
        </p:nvSpPr>
        <p:spPr>
          <a:xfrm>
            <a:off x="3383280" y="4702885"/>
            <a:ext cx="2651760" cy="365760"/>
          </a:xfrm>
          <a:prstGeom prst="rect">
            <a:avLst/>
          </a:prstGeom>
          <a:noFill/>
          <a:ln/>
        </p:spPr>
        <p:txBody>
          <a:bodyPr wrap="square" rtlCol="0" anchor="ctr"/>
          <a:lstStyle/>
          <a:p>
            <a:pPr marL="0" indent="0" algn="ctr">
              <a:buNone/>
            </a:pPr>
            <a:endParaRPr lang="en-US" sz="950" dirty="0"/>
          </a:p>
        </p:txBody>
      </p:sp>
      <p:sp>
        <p:nvSpPr>
          <p:cNvPr id="14" name="Shape 12"/>
          <p:cNvSpPr/>
          <p:nvPr/>
        </p:nvSpPr>
        <p:spPr>
          <a:xfrm>
            <a:off x="6309360" y="1365325"/>
            <a:ext cx="5303520" cy="3023795"/>
          </a:xfrm>
          <a:prstGeom prst="roundRect">
            <a:avLst>
              <a:gd name="adj" fmla="val 2410"/>
            </a:avLst>
          </a:prstGeom>
          <a:solidFill>
            <a:srgbClr val="F4F7FD"/>
          </a:solidFill>
          <a:ln/>
        </p:spPr>
        <p:txBody>
          <a:bodyPr/>
          <a:lstStyle/>
          <a:p>
            <a:endParaRPr lang="en-US" dirty="0"/>
          </a:p>
        </p:txBody>
      </p:sp>
      <p:sp>
        <p:nvSpPr>
          <p:cNvPr id="15" name="Text 13"/>
          <p:cNvSpPr/>
          <p:nvPr/>
        </p:nvSpPr>
        <p:spPr>
          <a:xfrm>
            <a:off x="6629400" y="1593925"/>
            <a:ext cx="4754880" cy="365760"/>
          </a:xfrm>
          <a:prstGeom prst="rect">
            <a:avLst/>
          </a:prstGeom>
          <a:noFill/>
          <a:ln/>
        </p:spPr>
        <p:txBody>
          <a:bodyPr wrap="square" rtlCol="0" anchor="ctr"/>
          <a:lstStyle/>
          <a:p>
            <a:pPr marL="0" indent="0">
              <a:buNone/>
            </a:pPr>
            <a:r>
              <a:rPr lang="en-US" sz="1400" b="1" dirty="0">
                <a:solidFill>
                  <a:srgbClr val="1B1F3B"/>
                </a:solidFill>
                <a:latin typeface="Calibri" pitchFamily="34" charset="0"/>
                <a:ea typeface="Calibri" pitchFamily="34" charset="-122"/>
                <a:cs typeface="Calibri" pitchFamily="34" charset="-120"/>
              </a:rPr>
              <a:t>All Progress Indicator</a:t>
            </a:r>
            <a:endParaRPr lang="en-US" sz="1400" dirty="0"/>
          </a:p>
        </p:txBody>
      </p:sp>
      <p:sp>
        <p:nvSpPr>
          <p:cNvPr id="16" name="Text 14"/>
          <p:cNvSpPr/>
          <p:nvPr/>
        </p:nvSpPr>
        <p:spPr>
          <a:xfrm>
            <a:off x="6629400" y="2188285"/>
            <a:ext cx="1463040" cy="36576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Below 60%</a:t>
            </a:r>
            <a:endParaRPr lang="en-US" sz="1150" dirty="0"/>
          </a:p>
        </p:txBody>
      </p:sp>
      <p:sp>
        <p:nvSpPr>
          <p:cNvPr id="17" name="Shape 15"/>
          <p:cNvSpPr/>
          <p:nvPr/>
        </p:nvSpPr>
        <p:spPr>
          <a:xfrm>
            <a:off x="8229600" y="2243149"/>
            <a:ext cx="3200400" cy="274320"/>
          </a:xfrm>
          <a:prstGeom prst="roundRect">
            <a:avLst>
              <a:gd name="adj" fmla="val 50000"/>
            </a:avLst>
          </a:prstGeom>
          <a:solidFill>
            <a:srgbClr val="E2E6F0"/>
          </a:solidFill>
          <a:ln/>
        </p:spPr>
        <p:txBody>
          <a:bodyPr/>
          <a:lstStyle/>
          <a:p>
            <a:endParaRPr lang="en-US"/>
          </a:p>
        </p:txBody>
      </p:sp>
      <p:sp>
        <p:nvSpPr>
          <p:cNvPr id="18" name="Shape 16"/>
          <p:cNvSpPr/>
          <p:nvPr/>
        </p:nvSpPr>
        <p:spPr>
          <a:xfrm>
            <a:off x="8229600" y="2243149"/>
            <a:ext cx="1440180" cy="274320"/>
          </a:xfrm>
          <a:prstGeom prst="roundRect">
            <a:avLst>
              <a:gd name="adj" fmla="val 50000"/>
            </a:avLst>
          </a:prstGeom>
          <a:solidFill>
            <a:srgbClr val="2E7D32"/>
          </a:solidFill>
          <a:ln/>
        </p:spPr>
        <p:txBody>
          <a:bodyPr/>
          <a:lstStyle/>
          <a:p>
            <a:endParaRPr lang="en-US"/>
          </a:p>
        </p:txBody>
      </p:sp>
      <p:sp>
        <p:nvSpPr>
          <p:cNvPr id="19" name="Text 17"/>
          <p:cNvSpPr/>
          <p:nvPr/>
        </p:nvSpPr>
        <p:spPr>
          <a:xfrm>
            <a:off x="6629400" y="2782645"/>
            <a:ext cx="1463040" cy="36576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60–79%</a:t>
            </a:r>
            <a:endParaRPr lang="en-US" sz="1150" dirty="0"/>
          </a:p>
        </p:txBody>
      </p:sp>
      <p:sp>
        <p:nvSpPr>
          <p:cNvPr id="20" name="Shape 18"/>
          <p:cNvSpPr/>
          <p:nvPr/>
        </p:nvSpPr>
        <p:spPr>
          <a:xfrm>
            <a:off x="8229600" y="2837509"/>
            <a:ext cx="3200400" cy="274320"/>
          </a:xfrm>
          <a:prstGeom prst="roundRect">
            <a:avLst>
              <a:gd name="adj" fmla="val 50000"/>
            </a:avLst>
          </a:prstGeom>
          <a:solidFill>
            <a:srgbClr val="E2E6F0"/>
          </a:solidFill>
          <a:ln/>
        </p:spPr>
        <p:txBody>
          <a:bodyPr/>
          <a:lstStyle/>
          <a:p>
            <a:endParaRPr lang="en-US"/>
          </a:p>
        </p:txBody>
      </p:sp>
      <p:sp>
        <p:nvSpPr>
          <p:cNvPr id="21" name="Shape 19"/>
          <p:cNvSpPr/>
          <p:nvPr/>
        </p:nvSpPr>
        <p:spPr>
          <a:xfrm>
            <a:off x="8229600" y="2837509"/>
            <a:ext cx="2176272" cy="274320"/>
          </a:xfrm>
          <a:prstGeom prst="roundRect">
            <a:avLst>
              <a:gd name="adj" fmla="val 50000"/>
            </a:avLst>
          </a:prstGeom>
          <a:solidFill>
            <a:srgbClr val="1565C0"/>
          </a:solidFill>
          <a:ln/>
        </p:spPr>
        <p:txBody>
          <a:bodyPr/>
          <a:lstStyle/>
          <a:p>
            <a:endParaRPr lang="en-US"/>
          </a:p>
        </p:txBody>
      </p:sp>
      <p:sp>
        <p:nvSpPr>
          <p:cNvPr id="22" name="Text 20"/>
          <p:cNvSpPr/>
          <p:nvPr/>
        </p:nvSpPr>
        <p:spPr>
          <a:xfrm>
            <a:off x="6629400" y="3377005"/>
            <a:ext cx="1463040" cy="36576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80%+</a:t>
            </a:r>
            <a:endParaRPr lang="en-US" sz="1150" dirty="0"/>
          </a:p>
        </p:txBody>
      </p:sp>
      <p:sp>
        <p:nvSpPr>
          <p:cNvPr id="23" name="Shape 21"/>
          <p:cNvSpPr/>
          <p:nvPr/>
        </p:nvSpPr>
        <p:spPr>
          <a:xfrm>
            <a:off x="8229600" y="3431869"/>
            <a:ext cx="3200400" cy="274320"/>
          </a:xfrm>
          <a:prstGeom prst="roundRect">
            <a:avLst>
              <a:gd name="adj" fmla="val 50000"/>
            </a:avLst>
          </a:prstGeom>
          <a:solidFill>
            <a:srgbClr val="E2E6F0"/>
          </a:solidFill>
          <a:ln/>
        </p:spPr>
        <p:txBody>
          <a:bodyPr/>
          <a:lstStyle/>
          <a:p>
            <a:endParaRPr lang="en-US"/>
          </a:p>
        </p:txBody>
      </p:sp>
      <p:sp>
        <p:nvSpPr>
          <p:cNvPr id="24" name="Shape 22"/>
          <p:cNvSpPr/>
          <p:nvPr/>
        </p:nvSpPr>
        <p:spPr>
          <a:xfrm>
            <a:off x="8229600" y="3431869"/>
            <a:ext cx="2944368" cy="274320"/>
          </a:xfrm>
          <a:prstGeom prst="roundRect">
            <a:avLst>
              <a:gd name="adj" fmla="val 50000"/>
            </a:avLst>
          </a:prstGeom>
          <a:solidFill>
            <a:srgbClr val="C62828"/>
          </a:solidFill>
          <a:ln/>
        </p:spPr>
        <p:txBody>
          <a:bodyPr/>
          <a:lstStyle/>
          <a:p>
            <a:endParaRPr lang="en-US"/>
          </a:p>
        </p:txBody>
      </p:sp>
      <p:sp>
        <p:nvSpPr>
          <p:cNvPr id="25" name="Text 23"/>
          <p:cNvSpPr/>
          <p:nvPr/>
        </p:nvSpPr>
        <p:spPr>
          <a:xfrm>
            <a:off x="6629400" y="4108525"/>
            <a:ext cx="4754880" cy="822960"/>
          </a:xfrm>
          <a:prstGeom prst="rect">
            <a:avLst/>
          </a:prstGeom>
          <a:noFill/>
          <a:ln/>
        </p:spPr>
        <p:txBody>
          <a:bodyPr wrap="square" rtlCol="0" anchor="t"/>
          <a:lstStyle/>
          <a:p>
            <a:pPr marL="0" indent="0">
              <a:buNone/>
            </a:pPr>
            <a:endParaRPr lang="en-US" sz="1100" dirty="0"/>
          </a:p>
        </p:txBody>
      </p:sp>
      <p:sp>
        <p:nvSpPr>
          <p:cNvPr id="26" name="Text 24"/>
          <p:cNvSpPr/>
          <p:nvPr/>
        </p:nvSpPr>
        <p:spPr>
          <a:xfrm>
            <a:off x="457200" y="6193357"/>
            <a:ext cx="7315200" cy="274320"/>
          </a:xfrm>
          <a:prstGeom prst="rect">
            <a:avLst/>
          </a:prstGeom>
          <a:noFill/>
          <a:ln/>
        </p:spPr>
        <p:txBody>
          <a:bodyPr wrap="square" rtlCol="0" anchor="ctr"/>
          <a:lstStyle/>
          <a:p>
            <a:pPr marL="0" indent="0" algn="l">
              <a:buNone/>
            </a:pPr>
            <a:endParaRPr lang="en-US" sz="900" dirty="0"/>
          </a:p>
        </p:txBody>
      </p:sp>
      <p:sp>
        <p:nvSpPr>
          <p:cNvPr id="27" name="Text 25"/>
          <p:cNvSpPr/>
          <p:nvPr/>
        </p:nvSpPr>
        <p:spPr>
          <a:xfrm>
            <a:off x="11274552" y="6193357"/>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10</a:t>
            </a:r>
            <a:endParaRPr lang="en-US" sz="900" dirty="0"/>
          </a:p>
        </p:txBody>
      </p:sp>
      <p:pic>
        <p:nvPicPr>
          <p:cNvPr id="30" name="Picture 29">
            <a:extLst>
              <a:ext uri="{FF2B5EF4-FFF2-40B4-BE49-F238E27FC236}">
                <a16:creationId xmlns:a16="http://schemas.microsoft.com/office/drawing/2014/main" id="{FD23C8FC-C4DE-4FB3-9D51-66379E5B7AC9}"/>
              </a:ext>
            </a:extLst>
          </p:cNvPr>
          <p:cNvPicPr>
            <a:picLocks noChangeAspect="1"/>
          </p:cNvPicPr>
          <p:nvPr/>
        </p:nvPicPr>
        <p:blipFill>
          <a:blip r:embed="rId3"/>
          <a:stretch>
            <a:fillRect/>
          </a:stretch>
        </p:blipFill>
        <p:spPr>
          <a:xfrm>
            <a:off x="579120" y="3354877"/>
            <a:ext cx="5593080" cy="3153215"/>
          </a:xfrm>
          <a:prstGeom prst="rect">
            <a:avLst/>
          </a:prstGeom>
        </p:spPr>
      </p:pic>
      <p:pic>
        <p:nvPicPr>
          <p:cNvPr id="33" name="Picture 32">
            <a:extLst>
              <a:ext uri="{FF2B5EF4-FFF2-40B4-BE49-F238E27FC236}">
                <a16:creationId xmlns:a16="http://schemas.microsoft.com/office/drawing/2014/main" id="{0F2FE079-1B85-4A88-A04F-B75F0C093799}"/>
              </a:ext>
            </a:extLst>
          </p:cNvPr>
          <p:cNvPicPr>
            <a:picLocks noChangeAspect="1"/>
          </p:cNvPicPr>
          <p:nvPr/>
        </p:nvPicPr>
        <p:blipFill>
          <a:blip r:embed="rId4"/>
          <a:stretch>
            <a:fillRect/>
          </a:stretch>
        </p:blipFill>
        <p:spPr>
          <a:xfrm>
            <a:off x="6520927" y="3840306"/>
            <a:ext cx="5082988" cy="284753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SECURITY</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Authentication &amp; Data Protection</a:t>
            </a:r>
            <a:endParaRPr lang="en-US" sz="3000" dirty="0"/>
          </a:p>
        </p:txBody>
      </p:sp>
      <p:sp>
        <p:nvSpPr>
          <p:cNvPr id="4" name="Shape 2"/>
          <p:cNvSpPr/>
          <p:nvPr/>
        </p:nvSpPr>
        <p:spPr>
          <a:xfrm>
            <a:off x="548640" y="1691640"/>
            <a:ext cx="1627632" cy="548640"/>
          </a:xfrm>
          <a:prstGeom prst="roundRect">
            <a:avLst>
              <a:gd name="adj" fmla="val 50000"/>
            </a:avLst>
          </a:prstGeom>
          <a:solidFill>
            <a:srgbClr val="F4F7FD"/>
          </a:solidFill>
          <a:ln/>
        </p:spPr>
        <p:txBody>
          <a:bodyPr/>
          <a:lstStyle/>
          <a:p>
            <a:endParaRPr lang="en-US"/>
          </a:p>
        </p:txBody>
      </p:sp>
      <p:sp>
        <p:nvSpPr>
          <p:cNvPr id="5" name="Text 3"/>
          <p:cNvSpPr/>
          <p:nvPr/>
        </p:nvSpPr>
        <p:spPr>
          <a:xfrm>
            <a:off x="548640" y="1691640"/>
            <a:ext cx="1627632" cy="548640"/>
          </a:xfrm>
          <a:prstGeom prst="rect">
            <a:avLst/>
          </a:prstGeom>
          <a:noFill/>
          <a:ln/>
        </p:spPr>
        <p:txBody>
          <a:bodyPr wrap="square" rtlCol="0" anchor="ctr"/>
          <a:lstStyle/>
          <a:p>
            <a:pPr marL="0" indent="0" algn="ctr">
              <a:buNone/>
            </a:pPr>
            <a:r>
              <a:rPr lang="en-US" sz="950" dirty="0">
                <a:solidFill>
                  <a:srgbClr val="1B1F3B"/>
                </a:solidFill>
                <a:latin typeface="Calibri" pitchFamily="34" charset="0"/>
                <a:ea typeface="Calibri" pitchFamily="34" charset="-122"/>
                <a:cs typeface="Calibri" pitchFamily="34" charset="-120"/>
              </a:rPr>
              <a:t>Input</a:t>
            </a:r>
            <a:endParaRPr lang="en-US" sz="950" dirty="0"/>
          </a:p>
        </p:txBody>
      </p:sp>
      <p:sp>
        <p:nvSpPr>
          <p:cNvPr id="6" name="Text 4"/>
          <p:cNvSpPr/>
          <p:nvPr/>
        </p:nvSpPr>
        <p:spPr>
          <a:xfrm>
            <a:off x="2176272" y="1691640"/>
            <a:ext cx="164592" cy="548640"/>
          </a:xfrm>
          <a:prstGeom prst="rect">
            <a:avLst/>
          </a:prstGeom>
          <a:noFill/>
          <a:ln/>
        </p:spPr>
        <p:txBody>
          <a:bodyPr wrap="square" rtlCol="0" anchor="ctr"/>
          <a:lstStyle/>
          <a:p>
            <a:pPr marL="0" indent="0" algn="ctr">
              <a:buNone/>
            </a:pPr>
            <a:r>
              <a:rPr lang="en-US" sz="1300" dirty="0">
                <a:solidFill>
                  <a:srgbClr val="5B6584"/>
                </a:solidFill>
                <a:latin typeface="Calibri" pitchFamily="34" charset="0"/>
                <a:ea typeface="Calibri" pitchFamily="34" charset="-122"/>
                <a:cs typeface="Calibri" pitchFamily="34" charset="-120"/>
              </a:rPr>
              <a:t>→</a:t>
            </a:r>
            <a:endParaRPr lang="en-US" sz="1300" dirty="0"/>
          </a:p>
        </p:txBody>
      </p:sp>
      <p:sp>
        <p:nvSpPr>
          <p:cNvPr id="7" name="Shape 5"/>
          <p:cNvSpPr/>
          <p:nvPr/>
        </p:nvSpPr>
        <p:spPr>
          <a:xfrm>
            <a:off x="2340864" y="1691640"/>
            <a:ext cx="1627632" cy="548640"/>
          </a:xfrm>
          <a:prstGeom prst="roundRect">
            <a:avLst>
              <a:gd name="adj" fmla="val 50000"/>
            </a:avLst>
          </a:prstGeom>
          <a:solidFill>
            <a:srgbClr val="F4F7FD"/>
          </a:solidFill>
          <a:ln/>
        </p:spPr>
        <p:txBody>
          <a:bodyPr/>
          <a:lstStyle/>
          <a:p>
            <a:endParaRPr lang="en-US"/>
          </a:p>
        </p:txBody>
      </p:sp>
      <p:sp>
        <p:nvSpPr>
          <p:cNvPr id="8" name="Text 6"/>
          <p:cNvSpPr/>
          <p:nvPr/>
        </p:nvSpPr>
        <p:spPr>
          <a:xfrm>
            <a:off x="2340864" y="1691640"/>
            <a:ext cx="1627632" cy="548640"/>
          </a:xfrm>
          <a:prstGeom prst="rect">
            <a:avLst/>
          </a:prstGeom>
          <a:noFill/>
          <a:ln/>
        </p:spPr>
        <p:txBody>
          <a:bodyPr wrap="square" rtlCol="0" anchor="ctr"/>
          <a:lstStyle/>
          <a:p>
            <a:pPr marL="0" indent="0" algn="ctr">
              <a:buNone/>
            </a:pPr>
            <a:r>
              <a:rPr lang="en-US" sz="950" dirty="0">
                <a:solidFill>
                  <a:srgbClr val="1B1F3B"/>
                </a:solidFill>
                <a:latin typeface="Calibri" pitchFamily="34" charset="0"/>
                <a:ea typeface="Calibri" pitchFamily="34" charset="-122"/>
                <a:cs typeface="Calibri" pitchFamily="34" charset="-120"/>
              </a:rPr>
              <a:t>Safe-pass validation</a:t>
            </a:r>
            <a:endParaRPr lang="en-US" sz="950" dirty="0"/>
          </a:p>
        </p:txBody>
      </p:sp>
      <p:sp>
        <p:nvSpPr>
          <p:cNvPr id="9" name="Text 7"/>
          <p:cNvSpPr/>
          <p:nvPr/>
        </p:nvSpPr>
        <p:spPr>
          <a:xfrm>
            <a:off x="3968496" y="1691640"/>
            <a:ext cx="164592" cy="548640"/>
          </a:xfrm>
          <a:prstGeom prst="rect">
            <a:avLst/>
          </a:prstGeom>
          <a:noFill/>
          <a:ln/>
        </p:spPr>
        <p:txBody>
          <a:bodyPr wrap="square" rtlCol="0" anchor="ctr"/>
          <a:lstStyle/>
          <a:p>
            <a:pPr marL="0" indent="0" algn="ctr">
              <a:buNone/>
            </a:pPr>
            <a:r>
              <a:rPr lang="en-US" sz="1300" dirty="0">
                <a:solidFill>
                  <a:srgbClr val="5B6584"/>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4133088" y="1691640"/>
            <a:ext cx="1627632" cy="548640"/>
          </a:xfrm>
          <a:prstGeom prst="roundRect">
            <a:avLst>
              <a:gd name="adj" fmla="val 50000"/>
            </a:avLst>
          </a:prstGeom>
          <a:solidFill>
            <a:srgbClr val="F4F7FD"/>
          </a:solidFill>
          <a:ln/>
        </p:spPr>
        <p:txBody>
          <a:bodyPr/>
          <a:lstStyle/>
          <a:p>
            <a:endParaRPr lang="en-US"/>
          </a:p>
        </p:txBody>
      </p:sp>
      <p:sp>
        <p:nvSpPr>
          <p:cNvPr id="11" name="Text 9"/>
          <p:cNvSpPr/>
          <p:nvPr/>
        </p:nvSpPr>
        <p:spPr>
          <a:xfrm>
            <a:off x="4133088" y="1691640"/>
            <a:ext cx="1627632" cy="548640"/>
          </a:xfrm>
          <a:prstGeom prst="rect">
            <a:avLst/>
          </a:prstGeom>
          <a:noFill/>
          <a:ln/>
        </p:spPr>
        <p:txBody>
          <a:bodyPr wrap="square" rtlCol="0" anchor="ctr"/>
          <a:lstStyle/>
          <a:p>
            <a:pPr marL="0" indent="0" algn="ctr">
              <a:buNone/>
            </a:pPr>
            <a:r>
              <a:rPr lang="en-US" sz="950" dirty="0">
                <a:solidFill>
                  <a:srgbClr val="1B1F3B"/>
                </a:solidFill>
                <a:latin typeface="Calibri" pitchFamily="34" charset="0"/>
                <a:ea typeface="Calibri" pitchFamily="34" charset="-122"/>
                <a:cs typeface="Calibri" pitchFamily="34" charset="-120"/>
              </a:rPr>
              <a:t>Read credentials</a:t>
            </a:r>
            <a:endParaRPr lang="en-US" sz="950" dirty="0"/>
          </a:p>
        </p:txBody>
      </p:sp>
      <p:sp>
        <p:nvSpPr>
          <p:cNvPr id="12" name="Text 10"/>
          <p:cNvSpPr/>
          <p:nvPr/>
        </p:nvSpPr>
        <p:spPr>
          <a:xfrm>
            <a:off x="5760720" y="1691640"/>
            <a:ext cx="164592" cy="548640"/>
          </a:xfrm>
          <a:prstGeom prst="rect">
            <a:avLst/>
          </a:prstGeom>
          <a:noFill/>
          <a:ln/>
        </p:spPr>
        <p:txBody>
          <a:bodyPr wrap="square" rtlCol="0" anchor="ctr"/>
          <a:lstStyle/>
          <a:p>
            <a:pPr marL="0" indent="0" algn="ctr">
              <a:buNone/>
            </a:pPr>
            <a:r>
              <a:rPr lang="en-US" sz="1300" dirty="0">
                <a:solidFill>
                  <a:srgbClr val="5B6584"/>
                </a:solidFill>
                <a:latin typeface="Calibri" pitchFamily="34" charset="0"/>
                <a:ea typeface="Calibri" pitchFamily="34" charset="-122"/>
                <a:cs typeface="Calibri" pitchFamily="34" charset="-120"/>
              </a:rPr>
              <a:t>→</a:t>
            </a:r>
            <a:endParaRPr lang="en-US" sz="1300" dirty="0"/>
          </a:p>
        </p:txBody>
      </p:sp>
      <p:sp>
        <p:nvSpPr>
          <p:cNvPr id="13" name="Shape 11"/>
          <p:cNvSpPr/>
          <p:nvPr/>
        </p:nvSpPr>
        <p:spPr>
          <a:xfrm>
            <a:off x="5925312" y="1691640"/>
            <a:ext cx="1627632" cy="548640"/>
          </a:xfrm>
          <a:prstGeom prst="roundRect">
            <a:avLst>
              <a:gd name="adj" fmla="val 50000"/>
            </a:avLst>
          </a:prstGeom>
          <a:solidFill>
            <a:srgbClr val="F4F7FD"/>
          </a:solidFill>
          <a:ln/>
        </p:spPr>
        <p:txBody>
          <a:bodyPr/>
          <a:lstStyle/>
          <a:p>
            <a:endParaRPr lang="en-US"/>
          </a:p>
        </p:txBody>
      </p:sp>
      <p:sp>
        <p:nvSpPr>
          <p:cNvPr id="14" name="Text 12"/>
          <p:cNvSpPr/>
          <p:nvPr/>
        </p:nvSpPr>
        <p:spPr>
          <a:xfrm>
            <a:off x="5925312" y="1691640"/>
            <a:ext cx="1627632" cy="548640"/>
          </a:xfrm>
          <a:prstGeom prst="rect">
            <a:avLst/>
          </a:prstGeom>
          <a:noFill/>
          <a:ln/>
        </p:spPr>
        <p:txBody>
          <a:bodyPr wrap="square" rtlCol="0" anchor="ctr"/>
          <a:lstStyle/>
          <a:p>
            <a:pPr marL="0" indent="0" algn="ctr">
              <a:buNone/>
            </a:pPr>
            <a:r>
              <a:rPr lang="en-US" sz="950" dirty="0">
                <a:solidFill>
                  <a:srgbClr val="1B1F3B"/>
                </a:solidFill>
                <a:latin typeface="Calibri" pitchFamily="34" charset="0"/>
                <a:ea typeface="Calibri" pitchFamily="34" charset="-122"/>
                <a:cs typeface="Calibri" pitchFamily="34" charset="-120"/>
              </a:rPr>
              <a:t>Decrypt + compare</a:t>
            </a:r>
            <a:endParaRPr lang="en-US" sz="950" dirty="0"/>
          </a:p>
        </p:txBody>
      </p:sp>
      <p:sp>
        <p:nvSpPr>
          <p:cNvPr id="15" name="Text 13"/>
          <p:cNvSpPr/>
          <p:nvPr/>
        </p:nvSpPr>
        <p:spPr>
          <a:xfrm>
            <a:off x="7552944" y="1691640"/>
            <a:ext cx="164592" cy="548640"/>
          </a:xfrm>
          <a:prstGeom prst="rect">
            <a:avLst/>
          </a:prstGeom>
          <a:noFill/>
          <a:ln/>
        </p:spPr>
        <p:txBody>
          <a:bodyPr wrap="square" rtlCol="0" anchor="ctr"/>
          <a:lstStyle/>
          <a:p>
            <a:pPr marL="0" indent="0" algn="ctr">
              <a:buNone/>
            </a:pPr>
            <a:r>
              <a:rPr lang="en-US" sz="1300" dirty="0">
                <a:solidFill>
                  <a:srgbClr val="5B6584"/>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7717536" y="1691640"/>
            <a:ext cx="1627632" cy="548640"/>
          </a:xfrm>
          <a:prstGeom prst="roundRect">
            <a:avLst>
              <a:gd name="adj" fmla="val 50000"/>
            </a:avLst>
          </a:prstGeom>
          <a:solidFill>
            <a:srgbClr val="F4F7FD"/>
          </a:solidFill>
          <a:ln/>
        </p:spPr>
        <p:txBody>
          <a:bodyPr/>
          <a:lstStyle/>
          <a:p>
            <a:endParaRPr lang="en-US"/>
          </a:p>
        </p:txBody>
      </p:sp>
      <p:sp>
        <p:nvSpPr>
          <p:cNvPr id="17" name="Text 15"/>
          <p:cNvSpPr/>
          <p:nvPr/>
        </p:nvSpPr>
        <p:spPr>
          <a:xfrm>
            <a:off x="7717536" y="1691640"/>
            <a:ext cx="1627632" cy="548640"/>
          </a:xfrm>
          <a:prstGeom prst="rect">
            <a:avLst/>
          </a:prstGeom>
          <a:noFill/>
          <a:ln/>
        </p:spPr>
        <p:txBody>
          <a:bodyPr wrap="square" rtlCol="0" anchor="ctr"/>
          <a:lstStyle/>
          <a:p>
            <a:pPr marL="0" indent="0" algn="ctr">
              <a:buNone/>
            </a:pPr>
            <a:r>
              <a:rPr lang="en-US" sz="950" dirty="0">
                <a:solidFill>
                  <a:srgbClr val="1B1F3B"/>
                </a:solidFill>
                <a:latin typeface="Calibri" pitchFamily="34" charset="0"/>
                <a:ea typeface="Calibri" pitchFamily="34" charset="-122"/>
                <a:cs typeface="Calibri" pitchFamily="34" charset="-120"/>
              </a:rPr>
              <a:t>Load user file</a:t>
            </a:r>
            <a:endParaRPr lang="en-US" sz="950" dirty="0"/>
          </a:p>
        </p:txBody>
      </p:sp>
      <p:sp>
        <p:nvSpPr>
          <p:cNvPr id="18" name="Text 16"/>
          <p:cNvSpPr/>
          <p:nvPr/>
        </p:nvSpPr>
        <p:spPr>
          <a:xfrm>
            <a:off x="9345168" y="1691640"/>
            <a:ext cx="164592" cy="548640"/>
          </a:xfrm>
          <a:prstGeom prst="rect">
            <a:avLst/>
          </a:prstGeom>
          <a:noFill/>
          <a:ln/>
        </p:spPr>
        <p:txBody>
          <a:bodyPr wrap="square" rtlCol="0" anchor="ctr"/>
          <a:lstStyle/>
          <a:p>
            <a:pPr marL="0" indent="0" algn="ctr">
              <a:buNone/>
            </a:pPr>
            <a:r>
              <a:rPr lang="en-US" sz="1300" dirty="0">
                <a:solidFill>
                  <a:srgbClr val="5B6584"/>
                </a:solidFill>
                <a:latin typeface="Calibri" pitchFamily="34" charset="0"/>
                <a:ea typeface="Calibri" pitchFamily="34" charset="-122"/>
                <a:cs typeface="Calibri" pitchFamily="34" charset="-120"/>
              </a:rPr>
              <a:t>→</a:t>
            </a:r>
            <a:endParaRPr lang="en-US" sz="1300" dirty="0"/>
          </a:p>
        </p:txBody>
      </p:sp>
      <p:sp>
        <p:nvSpPr>
          <p:cNvPr id="19" name="Shape 17"/>
          <p:cNvSpPr/>
          <p:nvPr/>
        </p:nvSpPr>
        <p:spPr>
          <a:xfrm>
            <a:off x="9509760" y="1691640"/>
            <a:ext cx="1627632" cy="548640"/>
          </a:xfrm>
          <a:prstGeom prst="roundRect">
            <a:avLst>
              <a:gd name="adj" fmla="val 50000"/>
            </a:avLst>
          </a:prstGeom>
          <a:solidFill>
            <a:srgbClr val="3FC1B0"/>
          </a:solidFill>
          <a:ln/>
        </p:spPr>
        <p:txBody>
          <a:bodyPr/>
          <a:lstStyle/>
          <a:p>
            <a:endParaRPr lang="en-US"/>
          </a:p>
        </p:txBody>
      </p:sp>
      <p:sp>
        <p:nvSpPr>
          <p:cNvPr id="20" name="Text 18"/>
          <p:cNvSpPr/>
          <p:nvPr/>
        </p:nvSpPr>
        <p:spPr>
          <a:xfrm>
            <a:off x="9509760" y="1691640"/>
            <a:ext cx="1627632" cy="54864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Dashboard</a:t>
            </a:r>
            <a:endParaRPr lang="en-US" sz="950" dirty="0"/>
          </a:p>
        </p:txBody>
      </p:sp>
      <p:sp>
        <p:nvSpPr>
          <p:cNvPr id="21" name="Shape 19"/>
          <p:cNvSpPr/>
          <p:nvPr/>
        </p:nvSpPr>
        <p:spPr>
          <a:xfrm>
            <a:off x="548640" y="2697480"/>
            <a:ext cx="11064240" cy="566928"/>
          </a:xfrm>
          <a:prstGeom prst="rect">
            <a:avLst/>
          </a:prstGeom>
          <a:solidFill>
            <a:srgbClr val="F4F7FD"/>
          </a:solidFill>
          <a:ln/>
        </p:spPr>
        <p:txBody>
          <a:bodyPr/>
          <a:lstStyle/>
          <a:p>
            <a:endParaRPr lang="en-US"/>
          </a:p>
        </p:txBody>
      </p:sp>
      <p:sp>
        <p:nvSpPr>
          <p:cNvPr id="22" name="Text 20"/>
          <p:cNvSpPr/>
          <p:nvPr/>
        </p:nvSpPr>
        <p:spPr>
          <a:xfrm>
            <a:off x="777240" y="2697480"/>
            <a:ext cx="2377440" cy="566928"/>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Safe pass</a:t>
            </a:r>
            <a:endParaRPr lang="en-US" sz="1150" dirty="0"/>
          </a:p>
        </p:txBody>
      </p:sp>
      <p:sp>
        <p:nvSpPr>
          <p:cNvPr id="23" name="Text 21"/>
          <p:cNvSpPr/>
          <p:nvPr/>
        </p:nvSpPr>
        <p:spPr>
          <a:xfrm>
            <a:off x="3200400" y="2697480"/>
            <a:ext cx="4206240" cy="566928"/>
          </a:xfrm>
          <a:prstGeom prst="rect">
            <a:avLst/>
          </a:prstGeom>
          <a:noFill/>
          <a:ln/>
        </p:spPr>
        <p:txBody>
          <a:bodyPr wrap="square" rtlCol="0" anchor="ctr"/>
          <a:lstStyle/>
          <a:p>
            <a:pPr marL="0" indent="0">
              <a:buNone/>
            </a:pPr>
            <a:r>
              <a:rPr lang="en-US" sz="1100" dirty="0">
                <a:solidFill>
                  <a:srgbClr val="1B1F3B"/>
                </a:solidFill>
                <a:latin typeface="Calibri" pitchFamily="34" charset="0"/>
                <a:ea typeface="Calibri" pitchFamily="34" charset="-122"/>
                <a:cs typeface="Calibri" pitchFamily="34" charset="-120"/>
              </a:rPr>
              <a:t>Exactly six alphanumeric characters</a:t>
            </a:r>
            <a:endParaRPr lang="en-US" sz="1100" dirty="0"/>
          </a:p>
        </p:txBody>
      </p:sp>
      <p:sp>
        <p:nvSpPr>
          <p:cNvPr id="24" name="Text 22"/>
          <p:cNvSpPr/>
          <p:nvPr/>
        </p:nvSpPr>
        <p:spPr>
          <a:xfrm>
            <a:off x="7498080" y="2697480"/>
            <a:ext cx="4023360" cy="566928"/>
          </a:xfrm>
          <a:prstGeom prst="rect">
            <a:avLst/>
          </a:prstGeom>
          <a:noFill/>
          <a:ln/>
        </p:spPr>
        <p:txBody>
          <a:bodyPr wrap="square" rtlCol="0" anchor="ctr"/>
          <a:lstStyle/>
          <a:p>
            <a:pPr marL="0" indent="0">
              <a:buNone/>
            </a:pPr>
            <a:r>
              <a:rPr lang="en-US" sz="1100" i="1" dirty="0">
                <a:solidFill>
                  <a:srgbClr val="5B6584"/>
                </a:solidFill>
                <a:latin typeface="Calibri" pitchFamily="34" charset="0"/>
                <a:ea typeface="Calibri" pitchFamily="34" charset="-122"/>
                <a:cs typeface="Calibri" pitchFamily="34" charset="-120"/>
              </a:rPr>
              <a:t>Input validation</a:t>
            </a:r>
            <a:endParaRPr lang="en-US" sz="1100" dirty="0"/>
          </a:p>
        </p:txBody>
      </p:sp>
      <p:sp>
        <p:nvSpPr>
          <p:cNvPr id="25" name="Shape 23"/>
          <p:cNvSpPr/>
          <p:nvPr/>
        </p:nvSpPr>
        <p:spPr>
          <a:xfrm>
            <a:off x="548640" y="3264408"/>
            <a:ext cx="11064240" cy="566928"/>
          </a:xfrm>
          <a:prstGeom prst="rect">
            <a:avLst/>
          </a:prstGeom>
          <a:solidFill>
            <a:srgbClr val="FFFFFF"/>
          </a:solidFill>
          <a:ln/>
        </p:spPr>
        <p:txBody>
          <a:bodyPr/>
          <a:lstStyle/>
          <a:p>
            <a:endParaRPr lang="en-US"/>
          </a:p>
        </p:txBody>
      </p:sp>
      <p:sp>
        <p:nvSpPr>
          <p:cNvPr id="26" name="Text 24"/>
          <p:cNvSpPr/>
          <p:nvPr/>
        </p:nvSpPr>
        <p:spPr>
          <a:xfrm>
            <a:off x="777240" y="3264408"/>
            <a:ext cx="2377440" cy="566928"/>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Attempt limit</a:t>
            </a:r>
            <a:endParaRPr lang="en-US" sz="1150" dirty="0"/>
          </a:p>
        </p:txBody>
      </p:sp>
      <p:sp>
        <p:nvSpPr>
          <p:cNvPr id="27" name="Text 25"/>
          <p:cNvSpPr/>
          <p:nvPr/>
        </p:nvSpPr>
        <p:spPr>
          <a:xfrm>
            <a:off x="3200400" y="3264408"/>
            <a:ext cx="4206240" cy="566928"/>
          </a:xfrm>
          <a:prstGeom prst="rect">
            <a:avLst/>
          </a:prstGeom>
          <a:noFill/>
          <a:ln/>
        </p:spPr>
        <p:txBody>
          <a:bodyPr wrap="square" rtlCol="0" anchor="ctr"/>
          <a:lstStyle/>
          <a:p>
            <a:pPr marL="0" indent="0">
              <a:buNone/>
            </a:pPr>
            <a:r>
              <a:rPr lang="en-US" sz="1100" dirty="0">
                <a:solidFill>
                  <a:srgbClr val="1B1F3B"/>
                </a:solidFill>
                <a:latin typeface="Calibri" pitchFamily="34" charset="0"/>
                <a:ea typeface="Calibri" pitchFamily="34" charset="-122"/>
                <a:cs typeface="Calibri" pitchFamily="34" charset="-120"/>
              </a:rPr>
              <a:t>Three failed attempts lock the form</a:t>
            </a:r>
            <a:endParaRPr lang="en-US" sz="1100" dirty="0"/>
          </a:p>
        </p:txBody>
      </p:sp>
      <p:sp>
        <p:nvSpPr>
          <p:cNvPr id="28" name="Text 26"/>
          <p:cNvSpPr/>
          <p:nvPr/>
        </p:nvSpPr>
        <p:spPr>
          <a:xfrm>
            <a:off x="7498080" y="3264408"/>
            <a:ext cx="4023360" cy="566928"/>
          </a:xfrm>
          <a:prstGeom prst="rect">
            <a:avLst/>
          </a:prstGeom>
          <a:noFill/>
          <a:ln/>
        </p:spPr>
        <p:txBody>
          <a:bodyPr wrap="square" rtlCol="0" anchor="ctr"/>
          <a:lstStyle/>
          <a:p>
            <a:pPr marL="0" indent="0">
              <a:buNone/>
            </a:pPr>
            <a:r>
              <a:rPr lang="en-US" sz="1100" i="1" dirty="0">
                <a:solidFill>
                  <a:srgbClr val="5B6584"/>
                </a:solidFill>
                <a:latin typeface="Calibri" pitchFamily="34" charset="0"/>
                <a:ea typeface="Calibri" pitchFamily="34" charset="-122"/>
                <a:cs typeface="Calibri" pitchFamily="34" charset="-120"/>
              </a:rPr>
              <a:t>Basic brute-force friction</a:t>
            </a:r>
            <a:endParaRPr lang="en-US" sz="1100" dirty="0"/>
          </a:p>
        </p:txBody>
      </p:sp>
      <p:sp>
        <p:nvSpPr>
          <p:cNvPr id="29" name="Shape 27"/>
          <p:cNvSpPr/>
          <p:nvPr/>
        </p:nvSpPr>
        <p:spPr>
          <a:xfrm>
            <a:off x="548640" y="3831336"/>
            <a:ext cx="11064240" cy="566928"/>
          </a:xfrm>
          <a:prstGeom prst="rect">
            <a:avLst/>
          </a:prstGeom>
          <a:solidFill>
            <a:srgbClr val="F4F7FD"/>
          </a:solidFill>
          <a:ln/>
        </p:spPr>
        <p:txBody>
          <a:bodyPr/>
          <a:lstStyle/>
          <a:p>
            <a:endParaRPr lang="en-US"/>
          </a:p>
        </p:txBody>
      </p:sp>
      <p:sp>
        <p:nvSpPr>
          <p:cNvPr id="30" name="Text 28"/>
          <p:cNvSpPr/>
          <p:nvPr/>
        </p:nvSpPr>
        <p:spPr>
          <a:xfrm>
            <a:off x="777240" y="3831336"/>
            <a:ext cx="2377440" cy="566928"/>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Credential transformation</a:t>
            </a:r>
            <a:endParaRPr lang="en-US" sz="1150" dirty="0"/>
          </a:p>
        </p:txBody>
      </p:sp>
      <p:sp>
        <p:nvSpPr>
          <p:cNvPr id="31" name="Text 29"/>
          <p:cNvSpPr/>
          <p:nvPr/>
        </p:nvSpPr>
        <p:spPr>
          <a:xfrm>
            <a:off x="3200400" y="3831336"/>
            <a:ext cx="4206240" cy="566928"/>
          </a:xfrm>
          <a:prstGeom prst="rect">
            <a:avLst/>
          </a:prstGeom>
          <a:noFill/>
          <a:ln/>
        </p:spPr>
        <p:txBody>
          <a:bodyPr wrap="square" rtlCol="0" anchor="ctr"/>
          <a:lstStyle/>
          <a:p>
            <a:pPr marL="0" indent="0">
              <a:buNone/>
            </a:pPr>
            <a:r>
              <a:rPr lang="en-US" sz="1100" dirty="0">
                <a:solidFill>
                  <a:srgbClr val="1B1F3B"/>
                </a:solidFill>
                <a:latin typeface="Calibri" pitchFamily="34" charset="0"/>
                <a:ea typeface="Calibri" pitchFamily="34" charset="-122"/>
                <a:cs typeface="Calibri" pitchFamily="34" charset="-120"/>
              </a:rPr>
              <a:t>Fixed XOR key + Base64</a:t>
            </a:r>
            <a:endParaRPr lang="en-US" sz="1100" dirty="0"/>
          </a:p>
        </p:txBody>
      </p:sp>
      <p:sp>
        <p:nvSpPr>
          <p:cNvPr id="32" name="Text 30"/>
          <p:cNvSpPr/>
          <p:nvPr/>
        </p:nvSpPr>
        <p:spPr>
          <a:xfrm>
            <a:off x="7498080" y="3831336"/>
            <a:ext cx="4023360" cy="566928"/>
          </a:xfrm>
          <a:prstGeom prst="rect">
            <a:avLst/>
          </a:prstGeom>
          <a:noFill/>
          <a:ln/>
        </p:spPr>
        <p:txBody>
          <a:bodyPr wrap="square" rtlCol="0" anchor="ctr"/>
          <a:lstStyle/>
          <a:p>
            <a:pPr marL="0" indent="0">
              <a:buNone/>
            </a:pPr>
            <a:r>
              <a:rPr lang="en-US" sz="1100" i="1" dirty="0">
                <a:solidFill>
                  <a:srgbClr val="5B6584"/>
                </a:solidFill>
                <a:latin typeface="Calibri" pitchFamily="34" charset="0"/>
                <a:ea typeface="Calibri" pitchFamily="34" charset="-122"/>
                <a:cs typeface="Calibri" pitchFamily="34" charset="-120"/>
              </a:rPr>
              <a:t>Obfuscation, not modern hashing</a:t>
            </a:r>
            <a:endParaRPr lang="en-US" sz="1100" dirty="0"/>
          </a:p>
        </p:txBody>
      </p:sp>
      <p:sp>
        <p:nvSpPr>
          <p:cNvPr id="33" name="Shape 31"/>
          <p:cNvSpPr/>
          <p:nvPr/>
        </p:nvSpPr>
        <p:spPr>
          <a:xfrm>
            <a:off x="548640" y="4398264"/>
            <a:ext cx="11064240" cy="566928"/>
          </a:xfrm>
          <a:prstGeom prst="rect">
            <a:avLst/>
          </a:prstGeom>
          <a:solidFill>
            <a:srgbClr val="FFFFFF"/>
          </a:solidFill>
          <a:ln/>
        </p:spPr>
        <p:txBody>
          <a:bodyPr/>
          <a:lstStyle/>
          <a:p>
            <a:endParaRPr lang="en-US"/>
          </a:p>
        </p:txBody>
      </p:sp>
      <p:sp>
        <p:nvSpPr>
          <p:cNvPr id="34" name="Text 32"/>
          <p:cNvSpPr/>
          <p:nvPr/>
        </p:nvSpPr>
        <p:spPr>
          <a:xfrm>
            <a:off x="777240" y="4398264"/>
            <a:ext cx="2377440" cy="566928"/>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Payment masking</a:t>
            </a:r>
            <a:endParaRPr lang="en-US" sz="1150" dirty="0"/>
          </a:p>
        </p:txBody>
      </p:sp>
      <p:sp>
        <p:nvSpPr>
          <p:cNvPr id="35" name="Text 33"/>
          <p:cNvSpPr/>
          <p:nvPr/>
        </p:nvSpPr>
        <p:spPr>
          <a:xfrm>
            <a:off x="3200400" y="4398264"/>
            <a:ext cx="4206240" cy="566928"/>
          </a:xfrm>
          <a:prstGeom prst="rect">
            <a:avLst/>
          </a:prstGeom>
          <a:noFill/>
          <a:ln/>
        </p:spPr>
        <p:txBody>
          <a:bodyPr wrap="square" rtlCol="0" anchor="ctr"/>
          <a:lstStyle/>
          <a:p>
            <a:pPr marL="0" indent="0">
              <a:buNone/>
            </a:pPr>
            <a:r>
              <a:rPr lang="en-US" sz="1100" dirty="0">
                <a:solidFill>
                  <a:srgbClr val="1B1F3B"/>
                </a:solidFill>
                <a:latin typeface="Calibri" pitchFamily="34" charset="0"/>
                <a:ea typeface="Calibri" pitchFamily="34" charset="-122"/>
                <a:cs typeface="Calibri" pitchFamily="34" charset="-120"/>
              </a:rPr>
              <a:t>Only last four digits shown</a:t>
            </a:r>
            <a:endParaRPr lang="en-US" sz="1100" dirty="0"/>
          </a:p>
        </p:txBody>
      </p:sp>
      <p:sp>
        <p:nvSpPr>
          <p:cNvPr id="36" name="Text 34"/>
          <p:cNvSpPr/>
          <p:nvPr/>
        </p:nvSpPr>
        <p:spPr>
          <a:xfrm>
            <a:off x="7498080" y="4398264"/>
            <a:ext cx="4023360" cy="566928"/>
          </a:xfrm>
          <a:prstGeom prst="rect">
            <a:avLst/>
          </a:prstGeom>
          <a:noFill/>
          <a:ln/>
        </p:spPr>
        <p:txBody>
          <a:bodyPr wrap="square" rtlCol="0" anchor="ctr"/>
          <a:lstStyle/>
          <a:p>
            <a:pPr marL="0" indent="0">
              <a:buNone/>
            </a:pPr>
            <a:r>
              <a:rPr lang="en-US" sz="1100" i="1" dirty="0">
                <a:solidFill>
                  <a:srgbClr val="5B6584"/>
                </a:solidFill>
                <a:latin typeface="Calibri" pitchFamily="34" charset="0"/>
                <a:ea typeface="Calibri" pitchFamily="34" charset="-122"/>
                <a:cs typeface="Calibri" pitchFamily="34" charset="-120"/>
              </a:rPr>
              <a:t>UI protection only</a:t>
            </a:r>
            <a:endParaRPr lang="en-US" sz="1100" dirty="0"/>
          </a:p>
        </p:txBody>
      </p:sp>
      <p:sp>
        <p:nvSpPr>
          <p:cNvPr id="37" name="Shape 35"/>
          <p:cNvSpPr/>
          <p:nvPr/>
        </p:nvSpPr>
        <p:spPr>
          <a:xfrm>
            <a:off x="548640" y="4965192"/>
            <a:ext cx="11064240" cy="566928"/>
          </a:xfrm>
          <a:prstGeom prst="rect">
            <a:avLst/>
          </a:prstGeom>
          <a:solidFill>
            <a:srgbClr val="F4F7FD"/>
          </a:solidFill>
          <a:ln/>
        </p:spPr>
        <p:txBody>
          <a:bodyPr/>
          <a:lstStyle/>
          <a:p>
            <a:endParaRPr lang="en-US"/>
          </a:p>
        </p:txBody>
      </p:sp>
      <p:sp>
        <p:nvSpPr>
          <p:cNvPr id="38" name="Text 36"/>
          <p:cNvSpPr/>
          <p:nvPr/>
        </p:nvSpPr>
        <p:spPr>
          <a:xfrm>
            <a:off x="777240" y="4965192"/>
            <a:ext cx="2377440" cy="566928"/>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Admin gate</a:t>
            </a:r>
            <a:endParaRPr lang="en-US" sz="1150" dirty="0"/>
          </a:p>
        </p:txBody>
      </p:sp>
      <p:sp>
        <p:nvSpPr>
          <p:cNvPr id="39" name="Text 37"/>
          <p:cNvSpPr/>
          <p:nvPr/>
        </p:nvSpPr>
        <p:spPr>
          <a:xfrm>
            <a:off x="3200400" y="4965192"/>
            <a:ext cx="4206240" cy="566928"/>
          </a:xfrm>
          <a:prstGeom prst="rect">
            <a:avLst/>
          </a:prstGeom>
          <a:noFill/>
          <a:ln/>
        </p:spPr>
        <p:txBody>
          <a:bodyPr wrap="square" rtlCol="0" anchor="ctr"/>
          <a:lstStyle/>
          <a:p>
            <a:pPr marL="0" indent="0">
              <a:buNone/>
            </a:pPr>
            <a:r>
              <a:rPr lang="en-US" sz="1100" dirty="0">
                <a:solidFill>
                  <a:srgbClr val="1B1F3B"/>
                </a:solidFill>
                <a:latin typeface="Calibri" pitchFamily="34" charset="0"/>
                <a:ea typeface="Calibri" pitchFamily="34" charset="-122"/>
                <a:cs typeface="Calibri" pitchFamily="34" charset="-120"/>
              </a:rPr>
              <a:t>Admin tab shown only for username 'admin'</a:t>
            </a:r>
            <a:endParaRPr lang="en-US" sz="1100" dirty="0"/>
          </a:p>
        </p:txBody>
      </p:sp>
      <p:sp>
        <p:nvSpPr>
          <p:cNvPr id="40" name="Text 38"/>
          <p:cNvSpPr/>
          <p:nvPr/>
        </p:nvSpPr>
        <p:spPr>
          <a:xfrm>
            <a:off x="7498080" y="4965192"/>
            <a:ext cx="4023360" cy="566928"/>
          </a:xfrm>
          <a:prstGeom prst="rect">
            <a:avLst/>
          </a:prstGeom>
          <a:noFill/>
          <a:ln/>
        </p:spPr>
        <p:txBody>
          <a:bodyPr wrap="square" rtlCol="0" anchor="ctr"/>
          <a:lstStyle/>
          <a:p>
            <a:pPr marL="0" indent="0">
              <a:buNone/>
            </a:pPr>
            <a:r>
              <a:rPr lang="en-US" sz="1100" i="1" dirty="0">
                <a:solidFill>
                  <a:srgbClr val="5B6584"/>
                </a:solidFill>
                <a:latin typeface="Calibri" pitchFamily="34" charset="0"/>
                <a:ea typeface="Calibri" pitchFamily="34" charset="-122"/>
                <a:cs typeface="Calibri" pitchFamily="34" charset="-120"/>
              </a:rPr>
              <a:t>Simple role check</a:t>
            </a:r>
            <a:endParaRPr lang="en-US" sz="1100" dirty="0"/>
          </a:p>
        </p:txBody>
      </p:sp>
      <p:sp>
        <p:nvSpPr>
          <p:cNvPr id="41" name="Text 39"/>
          <p:cNvSpPr/>
          <p:nvPr/>
        </p:nvSpPr>
        <p:spPr>
          <a:xfrm>
            <a:off x="457200" y="6473952"/>
            <a:ext cx="7315200" cy="274320"/>
          </a:xfrm>
          <a:prstGeom prst="rect">
            <a:avLst/>
          </a:prstGeom>
          <a:noFill/>
          <a:ln/>
        </p:spPr>
        <p:txBody>
          <a:bodyPr wrap="square" rtlCol="0" anchor="ctr"/>
          <a:lstStyle/>
          <a:p>
            <a:pPr marL="0" indent="0" algn="l">
              <a:buNone/>
            </a:pPr>
            <a:endParaRPr lang="en-US" sz="900" dirty="0"/>
          </a:p>
        </p:txBody>
      </p:sp>
      <p:sp>
        <p:nvSpPr>
          <p:cNvPr id="42" name="Text 40"/>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9</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INTERFACE &amp; RELIABILITY</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Swing UI &amp; Exception Handling</a:t>
            </a:r>
            <a:endParaRPr lang="en-US" sz="3000" dirty="0"/>
          </a:p>
        </p:txBody>
      </p:sp>
      <p:sp>
        <p:nvSpPr>
          <p:cNvPr id="4" name="Text 2"/>
          <p:cNvSpPr/>
          <p:nvPr/>
        </p:nvSpPr>
        <p:spPr>
          <a:xfrm>
            <a:off x="548640" y="1645920"/>
            <a:ext cx="530352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UI Components</a:t>
            </a:r>
            <a:endParaRPr lang="en-US" sz="1400" dirty="0"/>
          </a:p>
        </p:txBody>
      </p:sp>
      <p:sp>
        <p:nvSpPr>
          <p:cNvPr id="5" name="Shape 3"/>
          <p:cNvSpPr/>
          <p:nvPr/>
        </p:nvSpPr>
        <p:spPr>
          <a:xfrm>
            <a:off x="548640" y="2103120"/>
            <a:ext cx="5303520" cy="512064"/>
          </a:xfrm>
          <a:prstGeom prst="rect">
            <a:avLst/>
          </a:prstGeom>
          <a:solidFill>
            <a:srgbClr val="F4F7FD"/>
          </a:solidFill>
          <a:ln/>
        </p:spPr>
        <p:txBody>
          <a:bodyPr/>
          <a:lstStyle/>
          <a:p>
            <a:endParaRPr lang="en-US"/>
          </a:p>
        </p:txBody>
      </p:sp>
      <p:sp>
        <p:nvSpPr>
          <p:cNvPr id="6" name="Text 4"/>
          <p:cNvSpPr/>
          <p:nvPr/>
        </p:nvSpPr>
        <p:spPr>
          <a:xfrm>
            <a:off x="685800" y="2103120"/>
            <a:ext cx="1554480" cy="512064"/>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JFrame</a:t>
            </a:r>
            <a:endParaRPr lang="en-US" sz="1100" dirty="0"/>
          </a:p>
        </p:txBody>
      </p:sp>
      <p:sp>
        <p:nvSpPr>
          <p:cNvPr id="7" name="Text 5"/>
          <p:cNvSpPr/>
          <p:nvPr/>
        </p:nvSpPr>
        <p:spPr>
          <a:xfrm>
            <a:off x="2240280" y="2103120"/>
            <a:ext cx="3520440" cy="512064"/>
          </a:xfrm>
          <a:prstGeom prst="rect">
            <a:avLst/>
          </a:prstGeom>
          <a:noFill/>
          <a:ln/>
        </p:spPr>
        <p:txBody>
          <a:bodyPr wrap="square" rtlCol="0" anchor="ctr"/>
          <a:lstStyle/>
          <a:p>
            <a:pPr marL="0" indent="0">
              <a:buNone/>
            </a:pPr>
            <a:r>
              <a:rPr lang="en-US" sz="1050" dirty="0">
                <a:solidFill>
                  <a:srgbClr val="5B6584"/>
                </a:solidFill>
                <a:latin typeface="Calibri" pitchFamily="34" charset="0"/>
                <a:ea typeface="Calibri" pitchFamily="34" charset="-122"/>
                <a:cs typeface="Calibri" pitchFamily="34" charset="-120"/>
              </a:rPr>
              <a:t>Login &amp; dashboard windows</a:t>
            </a:r>
            <a:endParaRPr lang="en-US" sz="1050" dirty="0"/>
          </a:p>
        </p:txBody>
      </p:sp>
      <p:sp>
        <p:nvSpPr>
          <p:cNvPr id="8" name="Shape 6"/>
          <p:cNvSpPr/>
          <p:nvPr/>
        </p:nvSpPr>
        <p:spPr>
          <a:xfrm>
            <a:off x="548640" y="2615184"/>
            <a:ext cx="5303520" cy="512064"/>
          </a:xfrm>
          <a:prstGeom prst="rect">
            <a:avLst/>
          </a:prstGeom>
          <a:solidFill>
            <a:srgbClr val="FFFFFF"/>
          </a:solidFill>
          <a:ln/>
        </p:spPr>
        <p:txBody>
          <a:bodyPr/>
          <a:lstStyle/>
          <a:p>
            <a:endParaRPr lang="en-US"/>
          </a:p>
        </p:txBody>
      </p:sp>
      <p:sp>
        <p:nvSpPr>
          <p:cNvPr id="9" name="Text 7"/>
          <p:cNvSpPr/>
          <p:nvPr/>
        </p:nvSpPr>
        <p:spPr>
          <a:xfrm>
            <a:off x="685800" y="2615184"/>
            <a:ext cx="1554480" cy="512064"/>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JDialog</a:t>
            </a:r>
            <a:endParaRPr lang="en-US" sz="1100" dirty="0"/>
          </a:p>
        </p:txBody>
      </p:sp>
      <p:sp>
        <p:nvSpPr>
          <p:cNvPr id="10" name="Text 8"/>
          <p:cNvSpPr/>
          <p:nvPr/>
        </p:nvSpPr>
        <p:spPr>
          <a:xfrm>
            <a:off x="2240280" y="2615184"/>
            <a:ext cx="3520440" cy="512064"/>
          </a:xfrm>
          <a:prstGeom prst="rect">
            <a:avLst/>
          </a:prstGeom>
          <a:noFill/>
          <a:ln/>
        </p:spPr>
        <p:txBody>
          <a:bodyPr wrap="square" rtlCol="0" anchor="ctr"/>
          <a:lstStyle/>
          <a:p>
            <a:pPr marL="0" indent="0">
              <a:buNone/>
            </a:pPr>
            <a:r>
              <a:rPr lang="en-US" sz="1050" dirty="0">
                <a:solidFill>
                  <a:srgbClr val="5B6584"/>
                </a:solidFill>
                <a:latin typeface="Calibri" pitchFamily="34" charset="0"/>
                <a:ea typeface="Calibri" pitchFamily="34" charset="-122"/>
                <a:cs typeface="Calibri" pitchFamily="34" charset="-120"/>
              </a:rPr>
              <a:t>Registration, reset, details</a:t>
            </a:r>
            <a:endParaRPr lang="en-US" sz="1050" dirty="0"/>
          </a:p>
        </p:txBody>
      </p:sp>
      <p:sp>
        <p:nvSpPr>
          <p:cNvPr id="11" name="Shape 9"/>
          <p:cNvSpPr/>
          <p:nvPr/>
        </p:nvSpPr>
        <p:spPr>
          <a:xfrm>
            <a:off x="548640" y="3127248"/>
            <a:ext cx="5303520" cy="512064"/>
          </a:xfrm>
          <a:prstGeom prst="rect">
            <a:avLst/>
          </a:prstGeom>
          <a:solidFill>
            <a:srgbClr val="F4F7FD"/>
          </a:solidFill>
          <a:ln/>
        </p:spPr>
        <p:txBody>
          <a:bodyPr/>
          <a:lstStyle/>
          <a:p>
            <a:endParaRPr lang="en-US"/>
          </a:p>
        </p:txBody>
      </p:sp>
      <p:sp>
        <p:nvSpPr>
          <p:cNvPr id="12" name="Text 10"/>
          <p:cNvSpPr/>
          <p:nvPr/>
        </p:nvSpPr>
        <p:spPr>
          <a:xfrm>
            <a:off x="685800" y="3127248"/>
            <a:ext cx="1554480" cy="512064"/>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JTabbedPane</a:t>
            </a:r>
            <a:endParaRPr lang="en-US" sz="1100" dirty="0"/>
          </a:p>
        </p:txBody>
      </p:sp>
      <p:sp>
        <p:nvSpPr>
          <p:cNvPr id="13" name="Text 11"/>
          <p:cNvSpPr/>
          <p:nvPr/>
        </p:nvSpPr>
        <p:spPr>
          <a:xfrm>
            <a:off x="2240280" y="3127248"/>
            <a:ext cx="3520440" cy="512064"/>
          </a:xfrm>
          <a:prstGeom prst="rect">
            <a:avLst/>
          </a:prstGeom>
          <a:noFill/>
          <a:ln/>
        </p:spPr>
        <p:txBody>
          <a:bodyPr wrap="square" rtlCol="0" anchor="ctr"/>
          <a:lstStyle/>
          <a:p>
            <a:pPr marL="0" indent="0">
              <a:buNone/>
            </a:pPr>
            <a:r>
              <a:rPr lang="en-US" sz="1050" dirty="0">
                <a:solidFill>
                  <a:srgbClr val="5B6584"/>
                </a:solidFill>
                <a:latin typeface="Calibri" pitchFamily="34" charset="0"/>
                <a:ea typeface="Calibri" pitchFamily="34" charset="-122"/>
                <a:cs typeface="Calibri" pitchFamily="34" charset="-120"/>
              </a:rPr>
              <a:t>Budget, search, add, admin tabs</a:t>
            </a:r>
            <a:endParaRPr lang="en-US" sz="1050" dirty="0"/>
          </a:p>
        </p:txBody>
      </p:sp>
      <p:sp>
        <p:nvSpPr>
          <p:cNvPr id="14" name="Shape 12"/>
          <p:cNvSpPr/>
          <p:nvPr/>
        </p:nvSpPr>
        <p:spPr>
          <a:xfrm>
            <a:off x="548640" y="3639312"/>
            <a:ext cx="5303520" cy="512064"/>
          </a:xfrm>
          <a:prstGeom prst="rect">
            <a:avLst/>
          </a:prstGeom>
          <a:solidFill>
            <a:srgbClr val="FFFFFF"/>
          </a:solidFill>
          <a:ln/>
        </p:spPr>
        <p:txBody>
          <a:bodyPr/>
          <a:lstStyle/>
          <a:p>
            <a:endParaRPr lang="en-US"/>
          </a:p>
        </p:txBody>
      </p:sp>
      <p:sp>
        <p:nvSpPr>
          <p:cNvPr id="15" name="Text 13"/>
          <p:cNvSpPr/>
          <p:nvPr/>
        </p:nvSpPr>
        <p:spPr>
          <a:xfrm>
            <a:off x="685800" y="3639312"/>
            <a:ext cx="1554480" cy="512064"/>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JTable</a:t>
            </a:r>
            <a:endParaRPr lang="en-US" sz="1100" dirty="0"/>
          </a:p>
        </p:txBody>
      </p:sp>
      <p:sp>
        <p:nvSpPr>
          <p:cNvPr id="16" name="Text 14"/>
          <p:cNvSpPr/>
          <p:nvPr/>
        </p:nvSpPr>
        <p:spPr>
          <a:xfrm>
            <a:off x="2240280" y="3639312"/>
            <a:ext cx="3520440" cy="512064"/>
          </a:xfrm>
          <a:prstGeom prst="rect">
            <a:avLst/>
          </a:prstGeom>
          <a:noFill/>
          <a:ln/>
        </p:spPr>
        <p:txBody>
          <a:bodyPr wrap="square" rtlCol="0" anchor="ctr"/>
          <a:lstStyle/>
          <a:p>
            <a:pPr marL="0" indent="0">
              <a:buNone/>
            </a:pPr>
            <a:r>
              <a:rPr lang="en-US" sz="1050" dirty="0">
                <a:solidFill>
                  <a:srgbClr val="5B6584"/>
                </a:solidFill>
                <a:latin typeface="Calibri" pitchFamily="34" charset="0"/>
                <a:ea typeface="Calibri" pitchFamily="34" charset="-122"/>
                <a:cs typeface="Calibri" pitchFamily="34" charset="-120"/>
              </a:rPr>
              <a:t>Admin user &amp; subscription tables</a:t>
            </a:r>
            <a:endParaRPr lang="en-US" sz="1050" dirty="0"/>
          </a:p>
        </p:txBody>
      </p:sp>
      <p:sp>
        <p:nvSpPr>
          <p:cNvPr id="17" name="Shape 15"/>
          <p:cNvSpPr/>
          <p:nvPr/>
        </p:nvSpPr>
        <p:spPr>
          <a:xfrm>
            <a:off x="548640" y="4151376"/>
            <a:ext cx="5303520" cy="512064"/>
          </a:xfrm>
          <a:prstGeom prst="rect">
            <a:avLst/>
          </a:prstGeom>
          <a:solidFill>
            <a:srgbClr val="F4F7FD"/>
          </a:solidFill>
          <a:ln/>
        </p:spPr>
        <p:txBody>
          <a:bodyPr/>
          <a:lstStyle/>
          <a:p>
            <a:endParaRPr lang="en-US"/>
          </a:p>
        </p:txBody>
      </p:sp>
      <p:sp>
        <p:nvSpPr>
          <p:cNvPr id="18" name="Text 16"/>
          <p:cNvSpPr/>
          <p:nvPr/>
        </p:nvSpPr>
        <p:spPr>
          <a:xfrm>
            <a:off x="685800" y="4151376"/>
            <a:ext cx="1554480" cy="512064"/>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JProgressBar</a:t>
            </a:r>
            <a:endParaRPr lang="en-US" sz="1100" dirty="0"/>
          </a:p>
        </p:txBody>
      </p:sp>
      <p:sp>
        <p:nvSpPr>
          <p:cNvPr id="19" name="Text 17"/>
          <p:cNvSpPr/>
          <p:nvPr/>
        </p:nvSpPr>
        <p:spPr>
          <a:xfrm>
            <a:off x="2240280" y="4151376"/>
            <a:ext cx="3520440" cy="512064"/>
          </a:xfrm>
          <a:prstGeom prst="rect">
            <a:avLst/>
          </a:prstGeom>
          <a:noFill/>
          <a:ln/>
        </p:spPr>
        <p:txBody>
          <a:bodyPr wrap="square" rtlCol="0" anchor="ctr"/>
          <a:lstStyle/>
          <a:p>
            <a:pPr marL="0" indent="0">
              <a:buNone/>
            </a:pPr>
            <a:r>
              <a:rPr lang="en-US" sz="1050" dirty="0">
                <a:solidFill>
                  <a:srgbClr val="5B6584"/>
                </a:solidFill>
                <a:latin typeface="Calibri" pitchFamily="34" charset="0"/>
                <a:ea typeface="Calibri" pitchFamily="34" charset="-122"/>
                <a:cs typeface="Calibri" pitchFamily="34" charset="-120"/>
              </a:rPr>
              <a:t>Renewal &amp; budget visualization</a:t>
            </a:r>
            <a:endParaRPr lang="en-US" sz="1050" dirty="0"/>
          </a:p>
        </p:txBody>
      </p:sp>
      <p:sp>
        <p:nvSpPr>
          <p:cNvPr id="20" name="Shape 18"/>
          <p:cNvSpPr/>
          <p:nvPr/>
        </p:nvSpPr>
        <p:spPr>
          <a:xfrm>
            <a:off x="548640" y="4663440"/>
            <a:ext cx="5303520" cy="512064"/>
          </a:xfrm>
          <a:prstGeom prst="rect">
            <a:avLst/>
          </a:prstGeom>
          <a:solidFill>
            <a:srgbClr val="FFFFFF"/>
          </a:solidFill>
          <a:ln/>
        </p:spPr>
        <p:txBody>
          <a:bodyPr/>
          <a:lstStyle/>
          <a:p>
            <a:endParaRPr lang="en-US"/>
          </a:p>
        </p:txBody>
      </p:sp>
      <p:sp>
        <p:nvSpPr>
          <p:cNvPr id="21" name="Text 19"/>
          <p:cNvSpPr/>
          <p:nvPr/>
        </p:nvSpPr>
        <p:spPr>
          <a:xfrm>
            <a:off x="685800" y="4663440"/>
            <a:ext cx="1554480" cy="512064"/>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JOptionPane</a:t>
            </a:r>
            <a:endParaRPr lang="en-US" sz="1100" dirty="0"/>
          </a:p>
        </p:txBody>
      </p:sp>
      <p:sp>
        <p:nvSpPr>
          <p:cNvPr id="22" name="Text 20"/>
          <p:cNvSpPr/>
          <p:nvPr/>
        </p:nvSpPr>
        <p:spPr>
          <a:xfrm>
            <a:off x="2240280" y="4663440"/>
            <a:ext cx="3520440" cy="512064"/>
          </a:xfrm>
          <a:prstGeom prst="rect">
            <a:avLst/>
          </a:prstGeom>
          <a:noFill/>
          <a:ln/>
        </p:spPr>
        <p:txBody>
          <a:bodyPr wrap="square" rtlCol="0" anchor="ctr"/>
          <a:lstStyle/>
          <a:p>
            <a:pPr marL="0" indent="0">
              <a:buNone/>
            </a:pPr>
            <a:r>
              <a:rPr lang="en-US" sz="1050" dirty="0">
                <a:solidFill>
                  <a:srgbClr val="5B6584"/>
                </a:solidFill>
                <a:latin typeface="Calibri" pitchFamily="34" charset="0"/>
                <a:ea typeface="Calibri" pitchFamily="34" charset="-122"/>
                <a:cs typeface="Calibri" pitchFamily="34" charset="-120"/>
              </a:rPr>
              <a:t>Confirmation &amp; error messages</a:t>
            </a:r>
            <a:endParaRPr lang="en-US" sz="1050" dirty="0"/>
          </a:p>
        </p:txBody>
      </p:sp>
      <p:sp>
        <p:nvSpPr>
          <p:cNvPr id="23" name="Text 21"/>
          <p:cNvSpPr/>
          <p:nvPr/>
        </p:nvSpPr>
        <p:spPr>
          <a:xfrm>
            <a:off x="6263640" y="1645920"/>
            <a:ext cx="539496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Custom Exception Handling</a:t>
            </a:r>
            <a:endParaRPr lang="en-US" sz="1400" dirty="0"/>
          </a:p>
        </p:txBody>
      </p:sp>
      <p:sp>
        <p:nvSpPr>
          <p:cNvPr id="24" name="Shape 22"/>
          <p:cNvSpPr/>
          <p:nvPr/>
        </p:nvSpPr>
        <p:spPr>
          <a:xfrm>
            <a:off x="6263640" y="2103120"/>
            <a:ext cx="5394960" cy="512064"/>
          </a:xfrm>
          <a:prstGeom prst="rect">
            <a:avLst/>
          </a:prstGeom>
          <a:solidFill>
            <a:srgbClr val="F4F7FD"/>
          </a:solidFill>
          <a:ln/>
        </p:spPr>
        <p:txBody>
          <a:bodyPr/>
          <a:lstStyle/>
          <a:p>
            <a:endParaRPr lang="en-US"/>
          </a:p>
        </p:txBody>
      </p:sp>
      <p:sp>
        <p:nvSpPr>
          <p:cNvPr id="25" name="Text 23"/>
          <p:cNvSpPr/>
          <p:nvPr/>
        </p:nvSpPr>
        <p:spPr>
          <a:xfrm>
            <a:off x="6400800" y="2103120"/>
            <a:ext cx="5120640" cy="512064"/>
          </a:xfrm>
          <a:prstGeom prst="rect">
            <a:avLst/>
          </a:prstGeom>
          <a:noFill/>
          <a:ln/>
        </p:spPr>
        <p:txBody>
          <a:bodyPr wrap="square" rtlCol="0" anchor="ctr"/>
          <a:lstStyle/>
          <a:p>
            <a:pPr marL="0" indent="0">
              <a:buNone/>
            </a:pPr>
            <a:r>
              <a:rPr lang="en-US" sz="1100" dirty="0">
                <a:solidFill>
                  <a:srgbClr val="1B1F3B"/>
                </a:solidFill>
                <a:latin typeface="Calibri" pitchFamily="34" charset="0"/>
                <a:ea typeface="Calibri" pitchFamily="34" charset="-122"/>
                <a:cs typeface="Calibri" pitchFamily="34" charset="-120"/>
              </a:rPr>
              <a:t>InvalidSafePassException</a:t>
            </a:r>
            <a:endParaRPr lang="en-US" sz="1100" dirty="0"/>
          </a:p>
        </p:txBody>
      </p:sp>
      <p:sp>
        <p:nvSpPr>
          <p:cNvPr id="26" name="Shape 24"/>
          <p:cNvSpPr/>
          <p:nvPr/>
        </p:nvSpPr>
        <p:spPr>
          <a:xfrm>
            <a:off x="6263640" y="2615184"/>
            <a:ext cx="5394960" cy="512064"/>
          </a:xfrm>
          <a:prstGeom prst="rect">
            <a:avLst/>
          </a:prstGeom>
          <a:solidFill>
            <a:srgbClr val="FFFFFF"/>
          </a:solidFill>
          <a:ln/>
        </p:spPr>
        <p:txBody>
          <a:bodyPr/>
          <a:lstStyle/>
          <a:p>
            <a:endParaRPr lang="en-US"/>
          </a:p>
        </p:txBody>
      </p:sp>
      <p:sp>
        <p:nvSpPr>
          <p:cNvPr id="27" name="Text 25"/>
          <p:cNvSpPr/>
          <p:nvPr/>
        </p:nvSpPr>
        <p:spPr>
          <a:xfrm>
            <a:off x="6400800" y="2615184"/>
            <a:ext cx="5120640" cy="512064"/>
          </a:xfrm>
          <a:prstGeom prst="rect">
            <a:avLst/>
          </a:prstGeom>
          <a:noFill/>
          <a:ln/>
        </p:spPr>
        <p:txBody>
          <a:bodyPr wrap="square" rtlCol="0" anchor="ctr"/>
          <a:lstStyle/>
          <a:p>
            <a:pPr marL="0" indent="0">
              <a:buNone/>
            </a:pPr>
            <a:r>
              <a:rPr lang="en-US" sz="1100" dirty="0">
                <a:solidFill>
                  <a:srgbClr val="1B1F3B"/>
                </a:solidFill>
                <a:latin typeface="Calibri" pitchFamily="34" charset="0"/>
                <a:ea typeface="Calibri" pitchFamily="34" charset="-122"/>
                <a:cs typeface="Calibri" pitchFamily="34" charset="-120"/>
              </a:rPr>
              <a:t>InvalidGiftCardException</a:t>
            </a:r>
            <a:endParaRPr lang="en-US" sz="1100" dirty="0"/>
          </a:p>
        </p:txBody>
      </p:sp>
      <p:sp>
        <p:nvSpPr>
          <p:cNvPr id="28" name="Shape 26"/>
          <p:cNvSpPr/>
          <p:nvPr/>
        </p:nvSpPr>
        <p:spPr>
          <a:xfrm>
            <a:off x="6263640" y="3127248"/>
            <a:ext cx="5394960" cy="512064"/>
          </a:xfrm>
          <a:prstGeom prst="rect">
            <a:avLst/>
          </a:prstGeom>
          <a:solidFill>
            <a:srgbClr val="F4F7FD"/>
          </a:solidFill>
          <a:ln/>
        </p:spPr>
        <p:txBody>
          <a:bodyPr/>
          <a:lstStyle/>
          <a:p>
            <a:endParaRPr lang="en-US"/>
          </a:p>
        </p:txBody>
      </p:sp>
      <p:sp>
        <p:nvSpPr>
          <p:cNvPr id="29" name="Text 27"/>
          <p:cNvSpPr/>
          <p:nvPr/>
        </p:nvSpPr>
        <p:spPr>
          <a:xfrm>
            <a:off x="6400800" y="3127248"/>
            <a:ext cx="5120640" cy="512064"/>
          </a:xfrm>
          <a:prstGeom prst="rect">
            <a:avLst/>
          </a:prstGeom>
          <a:noFill/>
          <a:ln/>
        </p:spPr>
        <p:txBody>
          <a:bodyPr wrap="square" rtlCol="0" anchor="ctr"/>
          <a:lstStyle/>
          <a:p>
            <a:pPr marL="0" indent="0">
              <a:buNone/>
            </a:pPr>
            <a:r>
              <a:rPr lang="en-US" sz="1100" dirty="0">
                <a:solidFill>
                  <a:srgbClr val="1B1F3B"/>
                </a:solidFill>
                <a:latin typeface="Calibri" pitchFamily="34" charset="0"/>
                <a:ea typeface="Calibri" pitchFamily="34" charset="-122"/>
                <a:cs typeface="Calibri" pitchFamily="34" charset="-120"/>
              </a:rPr>
              <a:t>InvalidBudgetException</a:t>
            </a:r>
            <a:endParaRPr lang="en-US" sz="1100" dirty="0"/>
          </a:p>
        </p:txBody>
      </p:sp>
      <p:sp>
        <p:nvSpPr>
          <p:cNvPr id="30" name="Shape 28"/>
          <p:cNvSpPr/>
          <p:nvPr/>
        </p:nvSpPr>
        <p:spPr>
          <a:xfrm>
            <a:off x="6263640" y="3639312"/>
            <a:ext cx="5394960" cy="512064"/>
          </a:xfrm>
          <a:prstGeom prst="rect">
            <a:avLst/>
          </a:prstGeom>
          <a:solidFill>
            <a:srgbClr val="FFFFFF"/>
          </a:solidFill>
          <a:ln/>
        </p:spPr>
        <p:txBody>
          <a:bodyPr/>
          <a:lstStyle/>
          <a:p>
            <a:endParaRPr lang="en-US"/>
          </a:p>
        </p:txBody>
      </p:sp>
      <p:sp>
        <p:nvSpPr>
          <p:cNvPr id="31" name="Text 29"/>
          <p:cNvSpPr/>
          <p:nvPr/>
        </p:nvSpPr>
        <p:spPr>
          <a:xfrm>
            <a:off x="6400800" y="3639312"/>
            <a:ext cx="5120640" cy="512064"/>
          </a:xfrm>
          <a:prstGeom prst="rect">
            <a:avLst/>
          </a:prstGeom>
          <a:noFill/>
          <a:ln/>
        </p:spPr>
        <p:txBody>
          <a:bodyPr wrap="square" rtlCol="0" anchor="ctr"/>
          <a:lstStyle/>
          <a:p>
            <a:pPr marL="0" indent="0">
              <a:buNone/>
            </a:pPr>
            <a:r>
              <a:rPr lang="en-US" sz="1100" dirty="0">
                <a:solidFill>
                  <a:srgbClr val="1B1F3B"/>
                </a:solidFill>
                <a:latin typeface="Calibri" pitchFamily="34" charset="0"/>
                <a:ea typeface="Calibri" pitchFamily="34" charset="-122"/>
                <a:cs typeface="Calibri" pitchFamily="34" charset="-120"/>
              </a:rPr>
              <a:t>IllegalArgumentException</a:t>
            </a:r>
            <a:endParaRPr lang="en-US" sz="1100" dirty="0"/>
          </a:p>
        </p:txBody>
      </p:sp>
      <p:sp>
        <p:nvSpPr>
          <p:cNvPr id="32" name="Shape 30"/>
          <p:cNvSpPr/>
          <p:nvPr/>
        </p:nvSpPr>
        <p:spPr>
          <a:xfrm>
            <a:off x="6263640" y="4151376"/>
            <a:ext cx="5394960" cy="512064"/>
          </a:xfrm>
          <a:prstGeom prst="rect">
            <a:avLst/>
          </a:prstGeom>
          <a:solidFill>
            <a:srgbClr val="F4F7FD"/>
          </a:solidFill>
          <a:ln/>
        </p:spPr>
        <p:txBody>
          <a:bodyPr/>
          <a:lstStyle/>
          <a:p>
            <a:endParaRPr lang="en-US"/>
          </a:p>
        </p:txBody>
      </p:sp>
      <p:sp>
        <p:nvSpPr>
          <p:cNvPr id="33" name="Text 31"/>
          <p:cNvSpPr/>
          <p:nvPr/>
        </p:nvSpPr>
        <p:spPr>
          <a:xfrm>
            <a:off x="6400800" y="4151376"/>
            <a:ext cx="5120640" cy="512064"/>
          </a:xfrm>
          <a:prstGeom prst="rect">
            <a:avLst/>
          </a:prstGeom>
          <a:noFill/>
          <a:ln/>
        </p:spPr>
        <p:txBody>
          <a:bodyPr wrap="square" rtlCol="0" anchor="ctr"/>
          <a:lstStyle/>
          <a:p>
            <a:pPr marL="0" indent="0">
              <a:buNone/>
            </a:pPr>
            <a:r>
              <a:rPr lang="en-US" sz="1100" dirty="0">
                <a:solidFill>
                  <a:srgbClr val="1B1F3B"/>
                </a:solidFill>
                <a:latin typeface="Calibri" pitchFamily="34" charset="0"/>
                <a:ea typeface="Calibri" pitchFamily="34" charset="-122"/>
                <a:cs typeface="Calibri" pitchFamily="34" charset="-120"/>
              </a:rPr>
              <a:t>NumberFormatException</a:t>
            </a:r>
            <a:endParaRPr lang="en-US" sz="1100" dirty="0"/>
          </a:p>
        </p:txBody>
      </p:sp>
      <p:sp>
        <p:nvSpPr>
          <p:cNvPr id="34" name="Shape 32"/>
          <p:cNvSpPr/>
          <p:nvPr/>
        </p:nvSpPr>
        <p:spPr>
          <a:xfrm>
            <a:off x="6263640" y="4663440"/>
            <a:ext cx="5394960" cy="512064"/>
          </a:xfrm>
          <a:prstGeom prst="rect">
            <a:avLst/>
          </a:prstGeom>
          <a:solidFill>
            <a:srgbClr val="FFFFFF"/>
          </a:solidFill>
          <a:ln/>
        </p:spPr>
        <p:txBody>
          <a:bodyPr/>
          <a:lstStyle/>
          <a:p>
            <a:endParaRPr lang="en-US"/>
          </a:p>
        </p:txBody>
      </p:sp>
      <p:sp>
        <p:nvSpPr>
          <p:cNvPr id="35" name="Text 33"/>
          <p:cNvSpPr/>
          <p:nvPr/>
        </p:nvSpPr>
        <p:spPr>
          <a:xfrm>
            <a:off x="6400800" y="4663440"/>
            <a:ext cx="5120640" cy="512064"/>
          </a:xfrm>
          <a:prstGeom prst="rect">
            <a:avLst/>
          </a:prstGeom>
          <a:noFill/>
          <a:ln/>
        </p:spPr>
        <p:txBody>
          <a:bodyPr wrap="square" rtlCol="0" anchor="ctr"/>
          <a:lstStyle/>
          <a:p>
            <a:pPr marL="0" indent="0">
              <a:buNone/>
            </a:pPr>
            <a:r>
              <a:rPr lang="en-US" sz="1100" dirty="0">
                <a:solidFill>
                  <a:srgbClr val="1B1F3B"/>
                </a:solidFill>
                <a:latin typeface="Calibri" pitchFamily="34" charset="0"/>
                <a:ea typeface="Calibri" pitchFamily="34" charset="-122"/>
                <a:cs typeface="Calibri" pitchFamily="34" charset="-120"/>
              </a:rPr>
              <a:t>IOException</a:t>
            </a:r>
            <a:endParaRPr lang="en-US" sz="1100" dirty="0"/>
          </a:p>
        </p:txBody>
      </p:sp>
      <p:sp>
        <p:nvSpPr>
          <p:cNvPr id="36" name="Text 34"/>
          <p:cNvSpPr/>
          <p:nvPr/>
        </p:nvSpPr>
        <p:spPr>
          <a:xfrm>
            <a:off x="457200" y="6473952"/>
            <a:ext cx="7315200" cy="274320"/>
          </a:xfrm>
          <a:prstGeom prst="rect">
            <a:avLst/>
          </a:prstGeom>
          <a:noFill/>
          <a:ln/>
        </p:spPr>
        <p:txBody>
          <a:bodyPr wrap="square" rtlCol="0" anchor="ctr"/>
          <a:lstStyle/>
          <a:p>
            <a:pPr marL="0" indent="0" algn="l">
              <a:buNone/>
            </a:pPr>
            <a:endParaRPr lang="en-US" sz="900" dirty="0"/>
          </a:p>
        </p:txBody>
      </p:sp>
      <p:sp>
        <p:nvSpPr>
          <p:cNvPr id="37" name="Text 3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11</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REFLECTION</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Challenges Faced &amp; Improvements</a:t>
            </a:r>
            <a:endParaRPr lang="en-US" sz="3000" dirty="0"/>
          </a:p>
        </p:txBody>
      </p:sp>
      <p:sp>
        <p:nvSpPr>
          <p:cNvPr id="4" name="Shape 2"/>
          <p:cNvSpPr/>
          <p:nvPr/>
        </p:nvSpPr>
        <p:spPr>
          <a:xfrm>
            <a:off x="548640" y="1691640"/>
            <a:ext cx="11064240" cy="603504"/>
          </a:xfrm>
          <a:prstGeom prst="rect">
            <a:avLst/>
          </a:prstGeom>
          <a:solidFill>
            <a:srgbClr val="F4F7FD"/>
          </a:solidFill>
          <a:ln/>
        </p:spPr>
        <p:txBody>
          <a:bodyPr/>
          <a:lstStyle/>
          <a:p>
            <a:endParaRPr lang="en-US"/>
          </a:p>
        </p:txBody>
      </p:sp>
      <p:sp>
        <p:nvSpPr>
          <p:cNvPr id="5" name="Shape 3"/>
          <p:cNvSpPr/>
          <p:nvPr/>
        </p:nvSpPr>
        <p:spPr>
          <a:xfrm>
            <a:off x="685800" y="1773936"/>
            <a:ext cx="438912" cy="438912"/>
          </a:xfrm>
          <a:prstGeom prst="ellipse">
            <a:avLst/>
          </a:prstGeom>
          <a:solidFill>
            <a:srgbClr val="D98324"/>
          </a:solidFill>
          <a:ln/>
        </p:spPr>
        <p:txBody>
          <a:bodyPr/>
          <a:lstStyle/>
          <a:p>
            <a:endParaRPr lang="en-US"/>
          </a:p>
        </p:txBody>
      </p:sp>
      <p:pic>
        <p:nvPicPr>
          <p:cNvPr id="6" name="Image 0" descr="/home/claude/deck/icon_alert.png"/>
          <p:cNvPicPr>
            <a:picLocks noChangeAspect="1"/>
          </p:cNvPicPr>
          <p:nvPr/>
        </p:nvPicPr>
        <p:blipFill>
          <a:blip r:embed="rId3"/>
          <a:stretch>
            <a:fillRect/>
          </a:stretch>
        </p:blipFill>
        <p:spPr>
          <a:xfrm>
            <a:off x="799917" y="1888053"/>
            <a:ext cx="210678" cy="210678"/>
          </a:xfrm>
          <a:prstGeom prst="rect">
            <a:avLst/>
          </a:prstGeom>
        </p:spPr>
      </p:pic>
      <p:sp>
        <p:nvSpPr>
          <p:cNvPr id="7" name="Text 4"/>
          <p:cNvSpPr/>
          <p:nvPr/>
        </p:nvSpPr>
        <p:spPr>
          <a:xfrm>
            <a:off x="1325880" y="1691640"/>
            <a:ext cx="5120640" cy="603504"/>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Cancellation only prints a message</a:t>
            </a:r>
            <a:endParaRPr lang="en-US" sz="1150" dirty="0"/>
          </a:p>
        </p:txBody>
      </p:sp>
      <p:sp>
        <p:nvSpPr>
          <p:cNvPr id="8" name="Text 5"/>
          <p:cNvSpPr/>
          <p:nvPr/>
        </p:nvSpPr>
        <p:spPr>
          <a:xfrm>
            <a:off x="6446520" y="1691640"/>
            <a:ext cx="365760" cy="603504"/>
          </a:xfrm>
          <a:prstGeom prst="rect">
            <a:avLst/>
          </a:prstGeom>
          <a:noFill/>
          <a:ln/>
        </p:spPr>
        <p:txBody>
          <a:bodyPr wrap="square" rtlCol="0" anchor="ctr"/>
          <a:lstStyle/>
          <a:p>
            <a:pPr marL="0" indent="0" algn="ctr">
              <a:buNone/>
            </a:pPr>
            <a:r>
              <a:rPr lang="en-US" sz="1400" dirty="0">
                <a:solidFill>
                  <a:srgbClr val="3FC1B0"/>
                </a:solidFill>
                <a:latin typeface="Calibri" pitchFamily="34" charset="0"/>
                <a:ea typeface="Calibri" pitchFamily="34" charset="-122"/>
                <a:cs typeface="Calibri" pitchFamily="34" charset="-120"/>
              </a:rPr>
              <a:t>→</a:t>
            </a:r>
            <a:endParaRPr lang="en-US" sz="1400" dirty="0"/>
          </a:p>
        </p:txBody>
      </p:sp>
      <p:sp>
        <p:nvSpPr>
          <p:cNvPr id="9" name="Text 6"/>
          <p:cNvSpPr/>
          <p:nvPr/>
        </p:nvSpPr>
        <p:spPr>
          <a:xfrm>
            <a:off x="6858000" y="1691640"/>
            <a:ext cx="4663440" cy="603504"/>
          </a:xfrm>
          <a:prstGeom prst="rect">
            <a:avLst/>
          </a:prstGeom>
          <a:noFill/>
          <a:ln/>
        </p:spPr>
        <p:txBody>
          <a:bodyPr wrap="square" rtlCol="0" anchor="ctr"/>
          <a:lstStyle/>
          <a:p>
            <a:pPr marL="0" indent="0">
              <a:buNone/>
            </a:pPr>
            <a:r>
              <a:rPr lang="en-US" sz="1150" i="1" dirty="0">
                <a:solidFill>
                  <a:srgbClr val="5B6584"/>
                </a:solidFill>
                <a:latin typeface="Calibri" pitchFamily="34" charset="0"/>
                <a:ea typeface="Calibri" pitchFamily="34" charset="-122"/>
                <a:cs typeface="Calibri" pitchFamily="34" charset="-120"/>
              </a:rPr>
              <a:t>Change state, persist, then refresh dashboard</a:t>
            </a:r>
            <a:endParaRPr lang="en-US" sz="1150" dirty="0"/>
          </a:p>
        </p:txBody>
      </p:sp>
      <p:sp>
        <p:nvSpPr>
          <p:cNvPr id="10" name="Shape 7"/>
          <p:cNvSpPr/>
          <p:nvPr/>
        </p:nvSpPr>
        <p:spPr>
          <a:xfrm>
            <a:off x="548640" y="2295144"/>
            <a:ext cx="11064240" cy="603504"/>
          </a:xfrm>
          <a:prstGeom prst="rect">
            <a:avLst/>
          </a:prstGeom>
          <a:solidFill>
            <a:srgbClr val="FFFFFF"/>
          </a:solidFill>
          <a:ln/>
        </p:spPr>
        <p:txBody>
          <a:bodyPr/>
          <a:lstStyle/>
          <a:p>
            <a:endParaRPr lang="en-US"/>
          </a:p>
        </p:txBody>
      </p:sp>
      <p:sp>
        <p:nvSpPr>
          <p:cNvPr id="11" name="Shape 8"/>
          <p:cNvSpPr/>
          <p:nvPr/>
        </p:nvSpPr>
        <p:spPr>
          <a:xfrm>
            <a:off x="685800" y="2377440"/>
            <a:ext cx="438912" cy="438912"/>
          </a:xfrm>
          <a:prstGeom prst="ellipse">
            <a:avLst/>
          </a:prstGeom>
          <a:solidFill>
            <a:srgbClr val="D98324"/>
          </a:solidFill>
          <a:ln/>
        </p:spPr>
        <p:txBody>
          <a:bodyPr/>
          <a:lstStyle/>
          <a:p>
            <a:endParaRPr lang="en-US"/>
          </a:p>
        </p:txBody>
      </p:sp>
      <p:pic>
        <p:nvPicPr>
          <p:cNvPr id="12" name="Image 1" descr="/home/claude/deck/icon_alert.png"/>
          <p:cNvPicPr>
            <a:picLocks noChangeAspect="1"/>
          </p:cNvPicPr>
          <p:nvPr/>
        </p:nvPicPr>
        <p:blipFill>
          <a:blip r:embed="rId3"/>
          <a:stretch>
            <a:fillRect/>
          </a:stretch>
        </p:blipFill>
        <p:spPr>
          <a:xfrm>
            <a:off x="799917" y="2491557"/>
            <a:ext cx="210678" cy="210678"/>
          </a:xfrm>
          <a:prstGeom prst="rect">
            <a:avLst/>
          </a:prstGeom>
        </p:spPr>
      </p:pic>
      <p:sp>
        <p:nvSpPr>
          <p:cNvPr id="13" name="Text 9"/>
          <p:cNvSpPr/>
          <p:nvPr/>
        </p:nvSpPr>
        <p:spPr>
          <a:xfrm>
            <a:off x="1325880" y="2295144"/>
            <a:ext cx="5120640" cy="603504"/>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Logout does not reopen login</a:t>
            </a:r>
            <a:endParaRPr lang="en-US" sz="1150" dirty="0"/>
          </a:p>
        </p:txBody>
      </p:sp>
      <p:sp>
        <p:nvSpPr>
          <p:cNvPr id="14" name="Text 10"/>
          <p:cNvSpPr/>
          <p:nvPr/>
        </p:nvSpPr>
        <p:spPr>
          <a:xfrm>
            <a:off x="6446520" y="2295144"/>
            <a:ext cx="365760" cy="603504"/>
          </a:xfrm>
          <a:prstGeom prst="rect">
            <a:avLst/>
          </a:prstGeom>
          <a:noFill/>
          <a:ln/>
        </p:spPr>
        <p:txBody>
          <a:bodyPr wrap="square" rtlCol="0" anchor="ctr"/>
          <a:lstStyle/>
          <a:p>
            <a:pPr marL="0" indent="0" algn="ctr">
              <a:buNone/>
            </a:pPr>
            <a:r>
              <a:rPr lang="en-US" sz="1400" dirty="0">
                <a:solidFill>
                  <a:srgbClr val="3FC1B0"/>
                </a:solidFill>
                <a:latin typeface="Calibri" pitchFamily="34" charset="0"/>
                <a:ea typeface="Calibri" pitchFamily="34" charset="-122"/>
                <a:cs typeface="Calibri" pitchFamily="34" charset="-120"/>
              </a:rPr>
              <a:t>→</a:t>
            </a:r>
            <a:endParaRPr lang="en-US" sz="1400" dirty="0"/>
          </a:p>
        </p:txBody>
      </p:sp>
      <p:sp>
        <p:nvSpPr>
          <p:cNvPr id="15" name="Text 11"/>
          <p:cNvSpPr/>
          <p:nvPr/>
        </p:nvSpPr>
        <p:spPr>
          <a:xfrm>
            <a:off x="6858000" y="2295144"/>
            <a:ext cx="4663440" cy="603504"/>
          </a:xfrm>
          <a:prstGeom prst="rect">
            <a:avLst/>
          </a:prstGeom>
          <a:noFill/>
          <a:ln/>
        </p:spPr>
        <p:txBody>
          <a:bodyPr wrap="square" rtlCol="0" anchor="ctr"/>
          <a:lstStyle/>
          <a:p>
            <a:pPr marL="0" indent="0">
              <a:buNone/>
            </a:pPr>
            <a:r>
              <a:rPr lang="en-US" sz="1150" i="1" dirty="0">
                <a:solidFill>
                  <a:srgbClr val="5B6584"/>
                </a:solidFill>
                <a:latin typeface="Calibri" pitchFamily="34" charset="0"/>
                <a:ea typeface="Calibri" pitchFamily="34" charset="-122"/>
                <a:cs typeface="Calibri" pitchFamily="34" charset="-120"/>
              </a:rPr>
              <a:t>Clear session state and reopen login</a:t>
            </a:r>
            <a:endParaRPr lang="en-US" sz="1150" dirty="0"/>
          </a:p>
        </p:txBody>
      </p:sp>
      <p:sp>
        <p:nvSpPr>
          <p:cNvPr id="16" name="Shape 12"/>
          <p:cNvSpPr/>
          <p:nvPr/>
        </p:nvSpPr>
        <p:spPr>
          <a:xfrm>
            <a:off x="548640" y="2898648"/>
            <a:ext cx="11064240" cy="603504"/>
          </a:xfrm>
          <a:prstGeom prst="rect">
            <a:avLst/>
          </a:prstGeom>
          <a:solidFill>
            <a:srgbClr val="F4F7FD"/>
          </a:solidFill>
          <a:ln/>
        </p:spPr>
        <p:txBody>
          <a:bodyPr/>
          <a:lstStyle/>
          <a:p>
            <a:endParaRPr lang="en-US"/>
          </a:p>
        </p:txBody>
      </p:sp>
      <p:sp>
        <p:nvSpPr>
          <p:cNvPr id="17" name="Shape 13"/>
          <p:cNvSpPr/>
          <p:nvPr/>
        </p:nvSpPr>
        <p:spPr>
          <a:xfrm>
            <a:off x="685800" y="2980944"/>
            <a:ext cx="438912" cy="438912"/>
          </a:xfrm>
          <a:prstGeom prst="ellipse">
            <a:avLst/>
          </a:prstGeom>
          <a:solidFill>
            <a:srgbClr val="D98324"/>
          </a:solidFill>
          <a:ln/>
        </p:spPr>
        <p:txBody>
          <a:bodyPr/>
          <a:lstStyle/>
          <a:p>
            <a:endParaRPr lang="en-US"/>
          </a:p>
        </p:txBody>
      </p:sp>
      <p:pic>
        <p:nvPicPr>
          <p:cNvPr id="18" name="Image 2" descr="/home/claude/deck/icon_alert.png"/>
          <p:cNvPicPr>
            <a:picLocks noChangeAspect="1"/>
          </p:cNvPicPr>
          <p:nvPr/>
        </p:nvPicPr>
        <p:blipFill>
          <a:blip r:embed="rId3"/>
          <a:stretch>
            <a:fillRect/>
          </a:stretch>
        </p:blipFill>
        <p:spPr>
          <a:xfrm>
            <a:off x="799917" y="3095061"/>
            <a:ext cx="210678" cy="210678"/>
          </a:xfrm>
          <a:prstGeom prst="rect">
            <a:avLst/>
          </a:prstGeom>
        </p:spPr>
      </p:pic>
      <p:sp>
        <p:nvSpPr>
          <p:cNvPr id="19" name="Text 14"/>
          <p:cNvSpPr/>
          <p:nvPr/>
        </p:nvSpPr>
        <p:spPr>
          <a:xfrm>
            <a:off x="1325880" y="2898648"/>
            <a:ext cx="5120640" cy="603504"/>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Weak credential protection (XOR/Base64)</a:t>
            </a:r>
            <a:endParaRPr lang="en-US" sz="1150" dirty="0"/>
          </a:p>
        </p:txBody>
      </p:sp>
      <p:sp>
        <p:nvSpPr>
          <p:cNvPr id="20" name="Text 15"/>
          <p:cNvSpPr/>
          <p:nvPr/>
        </p:nvSpPr>
        <p:spPr>
          <a:xfrm>
            <a:off x="6446520" y="2898648"/>
            <a:ext cx="365760" cy="603504"/>
          </a:xfrm>
          <a:prstGeom prst="rect">
            <a:avLst/>
          </a:prstGeom>
          <a:noFill/>
          <a:ln/>
        </p:spPr>
        <p:txBody>
          <a:bodyPr wrap="square" rtlCol="0" anchor="ctr"/>
          <a:lstStyle/>
          <a:p>
            <a:pPr marL="0" indent="0" algn="ctr">
              <a:buNone/>
            </a:pPr>
            <a:r>
              <a:rPr lang="en-US" sz="1400" dirty="0">
                <a:solidFill>
                  <a:srgbClr val="3FC1B0"/>
                </a:solidFill>
                <a:latin typeface="Calibri" pitchFamily="34" charset="0"/>
                <a:ea typeface="Calibri" pitchFamily="34" charset="-122"/>
                <a:cs typeface="Calibri" pitchFamily="34" charset="-120"/>
              </a:rPr>
              <a:t>→</a:t>
            </a:r>
            <a:endParaRPr lang="en-US" sz="1400" dirty="0"/>
          </a:p>
        </p:txBody>
      </p:sp>
      <p:sp>
        <p:nvSpPr>
          <p:cNvPr id="21" name="Text 16"/>
          <p:cNvSpPr/>
          <p:nvPr/>
        </p:nvSpPr>
        <p:spPr>
          <a:xfrm>
            <a:off x="6858000" y="2898648"/>
            <a:ext cx="4663440" cy="603504"/>
          </a:xfrm>
          <a:prstGeom prst="rect">
            <a:avLst/>
          </a:prstGeom>
          <a:noFill/>
          <a:ln/>
        </p:spPr>
        <p:txBody>
          <a:bodyPr wrap="square" rtlCol="0" anchor="ctr"/>
          <a:lstStyle/>
          <a:p>
            <a:pPr marL="0" indent="0">
              <a:buNone/>
            </a:pPr>
            <a:r>
              <a:rPr lang="en-US" sz="1150" i="1" dirty="0">
                <a:solidFill>
                  <a:srgbClr val="5B6584"/>
                </a:solidFill>
                <a:latin typeface="Calibri" pitchFamily="34" charset="0"/>
                <a:ea typeface="Calibri" pitchFamily="34" charset="-122"/>
                <a:cs typeface="Calibri" pitchFamily="34" charset="-120"/>
              </a:rPr>
              <a:t>Use modern password hashing with salts</a:t>
            </a:r>
            <a:endParaRPr lang="en-US" sz="1150" dirty="0"/>
          </a:p>
        </p:txBody>
      </p:sp>
      <p:sp>
        <p:nvSpPr>
          <p:cNvPr id="22" name="Shape 17"/>
          <p:cNvSpPr/>
          <p:nvPr/>
        </p:nvSpPr>
        <p:spPr>
          <a:xfrm>
            <a:off x="548640" y="3502152"/>
            <a:ext cx="11064240" cy="603504"/>
          </a:xfrm>
          <a:prstGeom prst="rect">
            <a:avLst/>
          </a:prstGeom>
          <a:solidFill>
            <a:srgbClr val="FFFFFF"/>
          </a:solidFill>
          <a:ln/>
        </p:spPr>
        <p:txBody>
          <a:bodyPr/>
          <a:lstStyle/>
          <a:p>
            <a:endParaRPr lang="en-US"/>
          </a:p>
        </p:txBody>
      </p:sp>
      <p:sp>
        <p:nvSpPr>
          <p:cNvPr id="23" name="Shape 18"/>
          <p:cNvSpPr/>
          <p:nvPr/>
        </p:nvSpPr>
        <p:spPr>
          <a:xfrm>
            <a:off x="685800" y="3584448"/>
            <a:ext cx="438912" cy="438912"/>
          </a:xfrm>
          <a:prstGeom prst="ellipse">
            <a:avLst/>
          </a:prstGeom>
          <a:solidFill>
            <a:srgbClr val="D98324"/>
          </a:solidFill>
          <a:ln/>
        </p:spPr>
        <p:txBody>
          <a:bodyPr/>
          <a:lstStyle/>
          <a:p>
            <a:endParaRPr lang="en-US"/>
          </a:p>
        </p:txBody>
      </p:sp>
      <p:pic>
        <p:nvPicPr>
          <p:cNvPr id="24" name="Image 3" descr="/home/claude/deck/icon_alert.png"/>
          <p:cNvPicPr>
            <a:picLocks noChangeAspect="1"/>
          </p:cNvPicPr>
          <p:nvPr/>
        </p:nvPicPr>
        <p:blipFill>
          <a:blip r:embed="rId3"/>
          <a:stretch>
            <a:fillRect/>
          </a:stretch>
        </p:blipFill>
        <p:spPr>
          <a:xfrm>
            <a:off x="799917" y="3698565"/>
            <a:ext cx="210678" cy="210678"/>
          </a:xfrm>
          <a:prstGeom prst="rect">
            <a:avLst/>
          </a:prstGeom>
        </p:spPr>
      </p:pic>
      <p:sp>
        <p:nvSpPr>
          <p:cNvPr id="25" name="Text 19"/>
          <p:cNvSpPr/>
          <p:nvPr/>
        </p:nvSpPr>
        <p:spPr>
          <a:xfrm>
            <a:off x="1325880" y="3502152"/>
            <a:ext cx="5120640" cy="603504"/>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Raw payment data stored in files</a:t>
            </a:r>
            <a:endParaRPr lang="en-US" sz="1150" dirty="0"/>
          </a:p>
        </p:txBody>
      </p:sp>
      <p:sp>
        <p:nvSpPr>
          <p:cNvPr id="26" name="Text 20"/>
          <p:cNvSpPr/>
          <p:nvPr/>
        </p:nvSpPr>
        <p:spPr>
          <a:xfrm>
            <a:off x="6446520" y="3502152"/>
            <a:ext cx="365760" cy="603504"/>
          </a:xfrm>
          <a:prstGeom prst="rect">
            <a:avLst/>
          </a:prstGeom>
          <a:noFill/>
          <a:ln/>
        </p:spPr>
        <p:txBody>
          <a:bodyPr wrap="square" rtlCol="0" anchor="ctr"/>
          <a:lstStyle/>
          <a:p>
            <a:pPr marL="0" indent="0" algn="ctr">
              <a:buNone/>
            </a:pPr>
            <a:r>
              <a:rPr lang="en-US" sz="1400" dirty="0">
                <a:solidFill>
                  <a:srgbClr val="3FC1B0"/>
                </a:solidFill>
                <a:latin typeface="Calibri" pitchFamily="34" charset="0"/>
                <a:ea typeface="Calibri" pitchFamily="34" charset="-122"/>
                <a:cs typeface="Calibri" pitchFamily="34" charset="-120"/>
              </a:rPr>
              <a:t>→</a:t>
            </a:r>
            <a:endParaRPr lang="en-US" sz="1400" dirty="0"/>
          </a:p>
        </p:txBody>
      </p:sp>
      <p:sp>
        <p:nvSpPr>
          <p:cNvPr id="27" name="Text 21"/>
          <p:cNvSpPr/>
          <p:nvPr/>
        </p:nvSpPr>
        <p:spPr>
          <a:xfrm>
            <a:off x="6858000" y="3502152"/>
            <a:ext cx="4663440" cy="603504"/>
          </a:xfrm>
          <a:prstGeom prst="rect">
            <a:avLst/>
          </a:prstGeom>
          <a:noFill/>
          <a:ln/>
        </p:spPr>
        <p:txBody>
          <a:bodyPr wrap="square" rtlCol="0" anchor="ctr"/>
          <a:lstStyle/>
          <a:p>
            <a:pPr marL="0" indent="0">
              <a:buNone/>
            </a:pPr>
            <a:r>
              <a:rPr lang="en-US" sz="1150" i="1" dirty="0">
                <a:solidFill>
                  <a:srgbClr val="5B6584"/>
                </a:solidFill>
                <a:latin typeface="Calibri" pitchFamily="34" charset="0"/>
                <a:ea typeface="Calibri" pitchFamily="34" charset="-122"/>
                <a:cs typeface="Calibri" pitchFamily="34" charset="-120"/>
              </a:rPr>
              <a:t>Proper encryption / key management</a:t>
            </a:r>
            <a:endParaRPr lang="en-US" sz="1150" dirty="0"/>
          </a:p>
        </p:txBody>
      </p:sp>
      <p:sp>
        <p:nvSpPr>
          <p:cNvPr id="28" name="Shape 22"/>
          <p:cNvSpPr/>
          <p:nvPr/>
        </p:nvSpPr>
        <p:spPr>
          <a:xfrm>
            <a:off x="548640" y="4105656"/>
            <a:ext cx="11064240" cy="603504"/>
          </a:xfrm>
          <a:prstGeom prst="rect">
            <a:avLst/>
          </a:prstGeom>
          <a:solidFill>
            <a:srgbClr val="F4F7FD"/>
          </a:solidFill>
          <a:ln/>
        </p:spPr>
        <p:txBody>
          <a:bodyPr/>
          <a:lstStyle/>
          <a:p>
            <a:endParaRPr lang="en-US"/>
          </a:p>
        </p:txBody>
      </p:sp>
      <p:sp>
        <p:nvSpPr>
          <p:cNvPr id="29" name="Shape 23"/>
          <p:cNvSpPr/>
          <p:nvPr/>
        </p:nvSpPr>
        <p:spPr>
          <a:xfrm>
            <a:off x="685800" y="4187952"/>
            <a:ext cx="438912" cy="438912"/>
          </a:xfrm>
          <a:prstGeom prst="ellipse">
            <a:avLst/>
          </a:prstGeom>
          <a:solidFill>
            <a:srgbClr val="D98324"/>
          </a:solidFill>
          <a:ln/>
        </p:spPr>
        <p:txBody>
          <a:bodyPr/>
          <a:lstStyle/>
          <a:p>
            <a:endParaRPr lang="en-US"/>
          </a:p>
        </p:txBody>
      </p:sp>
      <p:pic>
        <p:nvPicPr>
          <p:cNvPr id="30" name="Image 4" descr="/home/claude/deck/icon_alert.png"/>
          <p:cNvPicPr>
            <a:picLocks noChangeAspect="1"/>
          </p:cNvPicPr>
          <p:nvPr/>
        </p:nvPicPr>
        <p:blipFill>
          <a:blip r:embed="rId3"/>
          <a:stretch>
            <a:fillRect/>
          </a:stretch>
        </p:blipFill>
        <p:spPr>
          <a:xfrm>
            <a:off x="799917" y="4302069"/>
            <a:ext cx="210678" cy="210678"/>
          </a:xfrm>
          <a:prstGeom prst="rect">
            <a:avLst/>
          </a:prstGeom>
        </p:spPr>
      </p:pic>
      <p:sp>
        <p:nvSpPr>
          <p:cNvPr id="31" name="Text 24"/>
          <p:cNvSpPr/>
          <p:nvPr/>
        </p:nvSpPr>
        <p:spPr>
          <a:xfrm>
            <a:off x="1325880" y="4105656"/>
            <a:ext cx="5120640" cy="603504"/>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Large SubscriptionManager class</a:t>
            </a:r>
            <a:endParaRPr lang="en-US" sz="1150" dirty="0"/>
          </a:p>
        </p:txBody>
      </p:sp>
      <p:sp>
        <p:nvSpPr>
          <p:cNvPr id="32" name="Text 25"/>
          <p:cNvSpPr/>
          <p:nvPr/>
        </p:nvSpPr>
        <p:spPr>
          <a:xfrm>
            <a:off x="6446520" y="4105656"/>
            <a:ext cx="365760" cy="603504"/>
          </a:xfrm>
          <a:prstGeom prst="rect">
            <a:avLst/>
          </a:prstGeom>
          <a:noFill/>
          <a:ln/>
        </p:spPr>
        <p:txBody>
          <a:bodyPr wrap="square" rtlCol="0" anchor="ctr"/>
          <a:lstStyle/>
          <a:p>
            <a:pPr marL="0" indent="0" algn="ctr">
              <a:buNone/>
            </a:pPr>
            <a:r>
              <a:rPr lang="en-US" sz="1400" dirty="0">
                <a:solidFill>
                  <a:srgbClr val="3FC1B0"/>
                </a:solidFill>
                <a:latin typeface="Calibri" pitchFamily="34" charset="0"/>
                <a:ea typeface="Calibri" pitchFamily="34" charset="-122"/>
                <a:cs typeface="Calibri" pitchFamily="34" charset="-120"/>
              </a:rPr>
              <a:t>→</a:t>
            </a:r>
            <a:endParaRPr lang="en-US" sz="1400" dirty="0"/>
          </a:p>
        </p:txBody>
      </p:sp>
      <p:sp>
        <p:nvSpPr>
          <p:cNvPr id="33" name="Text 26"/>
          <p:cNvSpPr/>
          <p:nvPr/>
        </p:nvSpPr>
        <p:spPr>
          <a:xfrm>
            <a:off x="6858000" y="4105656"/>
            <a:ext cx="4663440" cy="603504"/>
          </a:xfrm>
          <a:prstGeom prst="rect">
            <a:avLst/>
          </a:prstGeom>
          <a:noFill/>
          <a:ln/>
        </p:spPr>
        <p:txBody>
          <a:bodyPr wrap="square" rtlCol="0" anchor="ctr"/>
          <a:lstStyle/>
          <a:p>
            <a:pPr marL="0" indent="0">
              <a:buNone/>
            </a:pPr>
            <a:r>
              <a:rPr lang="en-US" sz="1150" i="1" dirty="0">
                <a:solidFill>
                  <a:srgbClr val="5B6584"/>
                </a:solidFill>
                <a:latin typeface="Calibri" pitchFamily="34" charset="0"/>
                <a:ea typeface="Calibri" pitchFamily="34" charset="-122"/>
                <a:cs typeface="Calibri" pitchFamily="34" charset="-120"/>
              </a:rPr>
              <a:t>Refactor into focused view/controller classes</a:t>
            </a:r>
            <a:endParaRPr lang="en-US" sz="1150" dirty="0"/>
          </a:p>
        </p:txBody>
      </p:sp>
      <p:sp>
        <p:nvSpPr>
          <p:cNvPr id="34" name="Shape 27"/>
          <p:cNvSpPr/>
          <p:nvPr/>
        </p:nvSpPr>
        <p:spPr>
          <a:xfrm>
            <a:off x="548640" y="4709160"/>
            <a:ext cx="11064240" cy="603504"/>
          </a:xfrm>
          <a:prstGeom prst="rect">
            <a:avLst/>
          </a:prstGeom>
          <a:solidFill>
            <a:srgbClr val="FFFFFF"/>
          </a:solidFill>
          <a:ln/>
        </p:spPr>
        <p:txBody>
          <a:bodyPr/>
          <a:lstStyle/>
          <a:p>
            <a:endParaRPr lang="en-US"/>
          </a:p>
        </p:txBody>
      </p:sp>
      <p:sp>
        <p:nvSpPr>
          <p:cNvPr id="35" name="Shape 28"/>
          <p:cNvSpPr/>
          <p:nvPr/>
        </p:nvSpPr>
        <p:spPr>
          <a:xfrm>
            <a:off x="685800" y="4791456"/>
            <a:ext cx="438912" cy="438912"/>
          </a:xfrm>
          <a:prstGeom prst="ellipse">
            <a:avLst/>
          </a:prstGeom>
          <a:solidFill>
            <a:srgbClr val="D98324"/>
          </a:solidFill>
          <a:ln/>
        </p:spPr>
        <p:txBody>
          <a:bodyPr/>
          <a:lstStyle/>
          <a:p>
            <a:endParaRPr lang="en-US"/>
          </a:p>
        </p:txBody>
      </p:sp>
      <p:pic>
        <p:nvPicPr>
          <p:cNvPr id="36" name="Image 5" descr="/home/claude/deck/icon_alert.png"/>
          <p:cNvPicPr>
            <a:picLocks noChangeAspect="1"/>
          </p:cNvPicPr>
          <p:nvPr/>
        </p:nvPicPr>
        <p:blipFill>
          <a:blip r:embed="rId3"/>
          <a:stretch>
            <a:fillRect/>
          </a:stretch>
        </p:blipFill>
        <p:spPr>
          <a:xfrm>
            <a:off x="799917" y="4905573"/>
            <a:ext cx="210678" cy="210678"/>
          </a:xfrm>
          <a:prstGeom prst="rect">
            <a:avLst/>
          </a:prstGeom>
        </p:spPr>
      </p:pic>
      <p:sp>
        <p:nvSpPr>
          <p:cNvPr id="37" name="Text 29"/>
          <p:cNvSpPr/>
          <p:nvPr/>
        </p:nvSpPr>
        <p:spPr>
          <a:xfrm>
            <a:off x="1325880" y="4709160"/>
            <a:ext cx="5120640" cy="603504"/>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Budgets are not persisted</a:t>
            </a:r>
            <a:endParaRPr lang="en-US" sz="1150" dirty="0"/>
          </a:p>
        </p:txBody>
      </p:sp>
      <p:sp>
        <p:nvSpPr>
          <p:cNvPr id="38" name="Text 30"/>
          <p:cNvSpPr/>
          <p:nvPr/>
        </p:nvSpPr>
        <p:spPr>
          <a:xfrm>
            <a:off x="6446520" y="4709160"/>
            <a:ext cx="365760" cy="603504"/>
          </a:xfrm>
          <a:prstGeom prst="rect">
            <a:avLst/>
          </a:prstGeom>
          <a:noFill/>
          <a:ln/>
        </p:spPr>
        <p:txBody>
          <a:bodyPr wrap="square" rtlCol="0" anchor="ctr"/>
          <a:lstStyle/>
          <a:p>
            <a:pPr marL="0" indent="0" algn="ctr">
              <a:buNone/>
            </a:pPr>
            <a:r>
              <a:rPr lang="en-US" sz="1400" dirty="0">
                <a:solidFill>
                  <a:srgbClr val="3FC1B0"/>
                </a:solidFill>
                <a:latin typeface="Calibri" pitchFamily="34" charset="0"/>
                <a:ea typeface="Calibri" pitchFamily="34" charset="-122"/>
                <a:cs typeface="Calibri" pitchFamily="34" charset="-120"/>
              </a:rPr>
              <a:t>→</a:t>
            </a:r>
            <a:endParaRPr lang="en-US" sz="1400" dirty="0"/>
          </a:p>
        </p:txBody>
      </p:sp>
      <p:sp>
        <p:nvSpPr>
          <p:cNvPr id="39" name="Text 31"/>
          <p:cNvSpPr/>
          <p:nvPr/>
        </p:nvSpPr>
        <p:spPr>
          <a:xfrm>
            <a:off x="6858000" y="4709160"/>
            <a:ext cx="4663440" cy="603504"/>
          </a:xfrm>
          <a:prstGeom prst="rect">
            <a:avLst/>
          </a:prstGeom>
          <a:noFill/>
          <a:ln/>
        </p:spPr>
        <p:txBody>
          <a:bodyPr wrap="square" rtlCol="0" anchor="ctr"/>
          <a:lstStyle/>
          <a:p>
            <a:pPr marL="0" indent="0">
              <a:buNone/>
            </a:pPr>
            <a:r>
              <a:rPr lang="en-US" sz="1150" i="1" dirty="0">
                <a:solidFill>
                  <a:srgbClr val="5B6584"/>
                </a:solidFill>
                <a:latin typeface="Calibri" pitchFamily="34" charset="0"/>
                <a:ea typeface="Calibri" pitchFamily="34" charset="-122"/>
                <a:cs typeface="Calibri" pitchFamily="34" charset="-120"/>
              </a:rPr>
              <a:t>Persist per-user budget settings</a:t>
            </a:r>
            <a:endParaRPr lang="en-US" sz="1150" dirty="0"/>
          </a:p>
        </p:txBody>
      </p:sp>
      <p:sp>
        <p:nvSpPr>
          <p:cNvPr id="40" name="Text 32"/>
          <p:cNvSpPr/>
          <p:nvPr/>
        </p:nvSpPr>
        <p:spPr>
          <a:xfrm>
            <a:off x="457200" y="6473952"/>
            <a:ext cx="7315200" cy="274320"/>
          </a:xfrm>
          <a:prstGeom prst="rect">
            <a:avLst/>
          </a:prstGeom>
          <a:noFill/>
          <a:ln/>
        </p:spPr>
        <p:txBody>
          <a:bodyPr wrap="square" rtlCol="0" anchor="ctr"/>
          <a:lstStyle/>
          <a:p>
            <a:pPr marL="0" indent="0" algn="l">
              <a:buNone/>
            </a:pPr>
            <a:endParaRPr lang="en-US" sz="900" dirty="0"/>
          </a:p>
        </p:txBody>
      </p:sp>
      <p:sp>
        <p:nvSpPr>
          <p:cNvPr id="41" name="Text 33"/>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12</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3FC1B0"/>
                </a:solidFill>
                <a:latin typeface="Calibri" pitchFamily="34" charset="0"/>
                <a:ea typeface="Calibri" pitchFamily="34" charset="-122"/>
                <a:cs typeface="Calibri" pitchFamily="34" charset="-120"/>
              </a:rPr>
              <a:t>WHO BUILT WHAT</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Team Contributions</a:t>
            </a:r>
            <a:endParaRPr lang="en-US" sz="3000" dirty="0"/>
          </a:p>
        </p:txBody>
      </p:sp>
      <p:sp>
        <p:nvSpPr>
          <p:cNvPr id="4" name="Shape 2"/>
          <p:cNvSpPr/>
          <p:nvPr/>
        </p:nvSpPr>
        <p:spPr>
          <a:xfrm>
            <a:off x="1479176" y="2331720"/>
            <a:ext cx="2681344" cy="3104478"/>
          </a:xfrm>
          <a:prstGeom prst="roundRect">
            <a:avLst>
              <a:gd name="adj" fmla="val 2778"/>
            </a:avLst>
          </a:prstGeom>
          <a:solidFill>
            <a:schemeClr val="bg1"/>
          </a:solidFill>
          <a:ln/>
        </p:spPr>
        <p:txBody>
          <a:bodyPr/>
          <a:lstStyle/>
          <a:p>
            <a:endParaRPr lang="en-US"/>
          </a:p>
        </p:txBody>
      </p:sp>
      <p:sp>
        <p:nvSpPr>
          <p:cNvPr id="5" name="Shape 3"/>
          <p:cNvSpPr/>
          <p:nvPr/>
        </p:nvSpPr>
        <p:spPr>
          <a:xfrm>
            <a:off x="2217420" y="2514600"/>
            <a:ext cx="822960" cy="822960"/>
          </a:xfrm>
          <a:prstGeom prst="ellipse">
            <a:avLst/>
          </a:prstGeom>
          <a:solidFill>
            <a:srgbClr val="3FC1B0"/>
          </a:solidFill>
          <a:ln/>
        </p:spPr>
        <p:txBody>
          <a:bodyPr/>
          <a:lstStyle/>
          <a:p>
            <a:endParaRPr lang="en-US" dirty="0"/>
          </a:p>
        </p:txBody>
      </p:sp>
      <p:pic>
        <p:nvPicPr>
          <p:cNvPr id="6" name="Image 0" descr="/home/claude/deck/icon_users.png"/>
          <p:cNvPicPr>
            <a:picLocks noChangeAspect="1"/>
          </p:cNvPicPr>
          <p:nvPr/>
        </p:nvPicPr>
        <p:blipFill>
          <a:blip r:embed="rId3"/>
          <a:stretch>
            <a:fillRect/>
          </a:stretch>
        </p:blipFill>
        <p:spPr>
          <a:xfrm>
            <a:off x="2431551" y="2694181"/>
            <a:ext cx="395021" cy="395021"/>
          </a:xfrm>
          <a:prstGeom prst="rect">
            <a:avLst/>
          </a:prstGeom>
        </p:spPr>
      </p:pic>
      <p:sp>
        <p:nvSpPr>
          <p:cNvPr id="7" name="Text 4"/>
          <p:cNvSpPr/>
          <p:nvPr/>
        </p:nvSpPr>
        <p:spPr>
          <a:xfrm>
            <a:off x="1188720" y="3451860"/>
            <a:ext cx="3154680" cy="457200"/>
          </a:xfrm>
          <a:prstGeom prst="rect">
            <a:avLst/>
          </a:prstGeom>
          <a:noFill/>
          <a:ln/>
        </p:spPr>
        <p:txBody>
          <a:bodyPr wrap="square" rtlCol="0" anchor="ctr"/>
          <a:lstStyle/>
          <a:p>
            <a:pPr marL="0" indent="0" algn="ctr">
              <a:buNone/>
            </a:pPr>
            <a:r>
              <a:rPr lang="en-US" sz="1500" b="1" dirty="0">
                <a:latin typeface="Calibri" pitchFamily="34" charset="0"/>
                <a:ea typeface="Calibri" pitchFamily="34" charset="-122"/>
                <a:cs typeface="Calibri" pitchFamily="34" charset="-120"/>
              </a:rPr>
              <a:t>Raiyan Choudhury</a:t>
            </a:r>
            <a:endParaRPr lang="en-US" sz="1500" dirty="0"/>
          </a:p>
        </p:txBody>
      </p:sp>
      <p:sp>
        <p:nvSpPr>
          <p:cNvPr id="8" name="Text 5"/>
          <p:cNvSpPr/>
          <p:nvPr/>
        </p:nvSpPr>
        <p:spPr>
          <a:xfrm>
            <a:off x="1325880" y="3983844"/>
            <a:ext cx="3063240" cy="1280160"/>
          </a:xfrm>
          <a:prstGeom prst="rect">
            <a:avLst/>
          </a:prstGeom>
          <a:noFill/>
          <a:ln/>
        </p:spPr>
        <p:txBody>
          <a:bodyPr wrap="square" rtlCol="0" anchor="t"/>
          <a:lstStyle/>
          <a:p>
            <a:pPr marL="0" indent="0" algn="ctr">
              <a:buNone/>
            </a:pPr>
            <a:r>
              <a:rPr lang="en-US" sz="1300" dirty="0">
                <a:latin typeface="Calibri" pitchFamily="34" charset="0"/>
                <a:ea typeface="Calibri" pitchFamily="34" charset="-122"/>
                <a:cs typeface="Calibri" pitchFamily="34" charset="-120"/>
              </a:rPr>
              <a:t>EncryptionUtils, SubscriptionManager, Program Designer, Debugging</a:t>
            </a:r>
            <a:endParaRPr lang="en-US" sz="1300" dirty="0"/>
          </a:p>
        </p:txBody>
      </p:sp>
      <p:sp>
        <p:nvSpPr>
          <p:cNvPr id="9" name="Shape 6"/>
          <p:cNvSpPr/>
          <p:nvPr/>
        </p:nvSpPr>
        <p:spPr>
          <a:xfrm>
            <a:off x="4389120" y="2194560"/>
            <a:ext cx="3520440" cy="3291840"/>
          </a:xfrm>
          <a:prstGeom prst="roundRect">
            <a:avLst>
              <a:gd name="adj" fmla="val 2778"/>
            </a:avLst>
          </a:prstGeom>
          <a:solidFill>
            <a:schemeClr val="bg1"/>
          </a:solidFill>
          <a:ln/>
        </p:spPr>
        <p:txBody>
          <a:bodyPr/>
          <a:lstStyle/>
          <a:p>
            <a:endParaRPr lang="en-US"/>
          </a:p>
        </p:txBody>
      </p:sp>
      <p:sp>
        <p:nvSpPr>
          <p:cNvPr id="10" name="Shape 7"/>
          <p:cNvSpPr/>
          <p:nvPr/>
        </p:nvSpPr>
        <p:spPr>
          <a:xfrm>
            <a:off x="5737860" y="2514600"/>
            <a:ext cx="822960" cy="822960"/>
          </a:xfrm>
          <a:prstGeom prst="ellipse">
            <a:avLst/>
          </a:prstGeom>
          <a:solidFill>
            <a:srgbClr val="3FC1B0"/>
          </a:solidFill>
          <a:ln/>
        </p:spPr>
        <p:txBody>
          <a:bodyPr/>
          <a:lstStyle/>
          <a:p>
            <a:endParaRPr lang="en-US"/>
          </a:p>
        </p:txBody>
      </p:sp>
      <p:pic>
        <p:nvPicPr>
          <p:cNvPr id="11" name="Image 1" descr="/home/claude/deck/icon_users.png"/>
          <p:cNvPicPr>
            <a:picLocks noChangeAspect="1"/>
          </p:cNvPicPr>
          <p:nvPr/>
        </p:nvPicPr>
        <p:blipFill>
          <a:blip r:embed="rId3"/>
          <a:stretch>
            <a:fillRect/>
          </a:stretch>
        </p:blipFill>
        <p:spPr>
          <a:xfrm>
            <a:off x="5951830" y="2728570"/>
            <a:ext cx="395021" cy="395021"/>
          </a:xfrm>
          <a:prstGeom prst="rect">
            <a:avLst/>
          </a:prstGeom>
        </p:spPr>
      </p:pic>
      <p:sp>
        <p:nvSpPr>
          <p:cNvPr id="12" name="Text 8"/>
          <p:cNvSpPr/>
          <p:nvPr/>
        </p:nvSpPr>
        <p:spPr>
          <a:xfrm>
            <a:off x="4572000" y="3474720"/>
            <a:ext cx="3154680" cy="457200"/>
          </a:xfrm>
          <a:prstGeom prst="rect">
            <a:avLst/>
          </a:prstGeom>
          <a:noFill/>
          <a:ln/>
        </p:spPr>
        <p:txBody>
          <a:bodyPr wrap="square" rtlCol="0" anchor="ctr"/>
          <a:lstStyle/>
          <a:p>
            <a:pPr marL="0" indent="0" algn="ctr">
              <a:buNone/>
            </a:pPr>
            <a:r>
              <a:rPr lang="en-US" sz="1500" b="1" dirty="0">
                <a:latin typeface="Calibri" pitchFamily="34" charset="0"/>
                <a:ea typeface="Calibri" pitchFamily="34" charset="-122"/>
                <a:cs typeface="Calibri" pitchFamily="34" charset="-120"/>
              </a:rPr>
              <a:t>Tafsir Hasan</a:t>
            </a:r>
            <a:endParaRPr lang="en-US" sz="1500" dirty="0"/>
          </a:p>
        </p:txBody>
      </p:sp>
      <p:sp>
        <p:nvSpPr>
          <p:cNvPr id="13" name="Text 9"/>
          <p:cNvSpPr/>
          <p:nvPr/>
        </p:nvSpPr>
        <p:spPr>
          <a:xfrm>
            <a:off x="4617720" y="4023360"/>
            <a:ext cx="3063240" cy="1280160"/>
          </a:xfrm>
          <a:prstGeom prst="rect">
            <a:avLst/>
          </a:prstGeom>
          <a:noFill/>
          <a:ln/>
        </p:spPr>
        <p:txBody>
          <a:bodyPr wrap="square" rtlCol="0" anchor="t"/>
          <a:lstStyle/>
          <a:p>
            <a:pPr marL="0" indent="0" algn="ctr">
              <a:buNone/>
            </a:pPr>
            <a:r>
              <a:rPr lang="en-US" sz="1300" dirty="0">
                <a:latin typeface="Calibri" pitchFamily="34" charset="0"/>
                <a:ea typeface="Calibri" pitchFamily="34" charset="-122"/>
                <a:cs typeface="Calibri" pitchFamily="34" charset="-120"/>
              </a:rPr>
              <a:t>MonthlySubscription, AnnualSubscription, Cancelable, FileManager</a:t>
            </a:r>
            <a:endParaRPr lang="en-US" sz="1300" dirty="0"/>
          </a:p>
        </p:txBody>
      </p:sp>
      <p:sp>
        <p:nvSpPr>
          <p:cNvPr id="14" name="Shape 10"/>
          <p:cNvSpPr/>
          <p:nvPr/>
        </p:nvSpPr>
        <p:spPr>
          <a:xfrm>
            <a:off x="8183880" y="2194560"/>
            <a:ext cx="3520440" cy="3291840"/>
          </a:xfrm>
          <a:prstGeom prst="roundRect">
            <a:avLst>
              <a:gd name="adj" fmla="val 2778"/>
            </a:avLst>
          </a:prstGeom>
          <a:solidFill>
            <a:schemeClr val="bg1"/>
          </a:solidFill>
          <a:ln/>
        </p:spPr>
        <p:txBody>
          <a:bodyPr/>
          <a:lstStyle/>
          <a:p>
            <a:endParaRPr lang="en-US"/>
          </a:p>
        </p:txBody>
      </p:sp>
      <p:sp>
        <p:nvSpPr>
          <p:cNvPr id="15" name="Shape 11"/>
          <p:cNvSpPr/>
          <p:nvPr/>
        </p:nvSpPr>
        <p:spPr>
          <a:xfrm>
            <a:off x="9532620" y="2514600"/>
            <a:ext cx="822960" cy="822960"/>
          </a:xfrm>
          <a:prstGeom prst="ellipse">
            <a:avLst/>
          </a:prstGeom>
          <a:solidFill>
            <a:srgbClr val="3FC1B0"/>
          </a:solidFill>
          <a:ln/>
        </p:spPr>
        <p:txBody>
          <a:bodyPr/>
          <a:lstStyle/>
          <a:p>
            <a:endParaRPr lang="en-US"/>
          </a:p>
        </p:txBody>
      </p:sp>
      <p:pic>
        <p:nvPicPr>
          <p:cNvPr id="16" name="Image 2" descr="/home/claude/deck/icon_users.png"/>
          <p:cNvPicPr>
            <a:picLocks noChangeAspect="1"/>
          </p:cNvPicPr>
          <p:nvPr/>
        </p:nvPicPr>
        <p:blipFill>
          <a:blip r:embed="rId3"/>
          <a:stretch>
            <a:fillRect/>
          </a:stretch>
        </p:blipFill>
        <p:spPr>
          <a:xfrm>
            <a:off x="9746590" y="2728570"/>
            <a:ext cx="395021" cy="395021"/>
          </a:xfrm>
          <a:prstGeom prst="rect">
            <a:avLst/>
          </a:prstGeom>
        </p:spPr>
      </p:pic>
      <p:sp>
        <p:nvSpPr>
          <p:cNvPr id="17" name="Text 12"/>
          <p:cNvSpPr/>
          <p:nvPr/>
        </p:nvSpPr>
        <p:spPr>
          <a:xfrm>
            <a:off x="8366760" y="3474720"/>
            <a:ext cx="3154680" cy="457200"/>
          </a:xfrm>
          <a:prstGeom prst="rect">
            <a:avLst/>
          </a:prstGeom>
          <a:noFill/>
          <a:ln/>
        </p:spPr>
        <p:txBody>
          <a:bodyPr wrap="square" rtlCol="0" anchor="ctr"/>
          <a:lstStyle/>
          <a:p>
            <a:pPr marL="0" indent="0" algn="ctr">
              <a:buNone/>
            </a:pPr>
            <a:r>
              <a:rPr lang="en-US" sz="1500" b="1" dirty="0">
                <a:latin typeface="Calibri" pitchFamily="34" charset="0"/>
                <a:ea typeface="Calibri" pitchFamily="34" charset="-122"/>
                <a:cs typeface="Calibri" pitchFamily="34" charset="-120"/>
              </a:rPr>
              <a:t>Hassan Shayer Palok</a:t>
            </a:r>
            <a:endParaRPr lang="en-US" sz="1500" dirty="0"/>
          </a:p>
        </p:txBody>
      </p:sp>
      <p:sp>
        <p:nvSpPr>
          <p:cNvPr id="18" name="Text 13"/>
          <p:cNvSpPr/>
          <p:nvPr/>
        </p:nvSpPr>
        <p:spPr>
          <a:xfrm>
            <a:off x="8412480" y="4023360"/>
            <a:ext cx="3063240" cy="1280160"/>
          </a:xfrm>
          <a:prstGeom prst="rect">
            <a:avLst/>
          </a:prstGeom>
          <a:noFill/>
          <a:ln/>
        </p:spPr>
        <p:txBody>
          <a:bodyPr wrap="square" rtlCol="0" anchor="t"/>
          <a:lstStyle/>
          <a:p>
            <a:pPr marL="0" indent="0" algn="ctr">
              <a:buNone/>
            </a:pPr>
            <a:r>
              <a:rPr lang="en-US" sz="1300" dirty="0">
                <a:latin typeface="Calibri" pitchFamily="34" charset="0"/>
                <a:ea typeface="Calibri" pitchFamily="34" charset="-122"/>
                <a:cs typeface="Calibri" pitchFamily="34" charset="-120"/>
              </a:rPr>
              <a:t>Subscription, LoginManager, Main, SubscriptionWindow</a:t>
            </a:r>
            <a:endParaRPr lang="en-US" sz="1300" dirty="0"/>
          </a:p>
        </p:txBody>
      </p:sp>
      <p:sp>
        <p:nvSpPr>
          <p:cNvPr id="19" name="Text 14"/>
          <p:cNvSpPr/>
          <p:nvPr/>
        </p:nvSpPr>
        <p:spPr>
          <a:xfrm>
            <a:off x="457200" y="6473952"/>
            <a:ext cx="7315200" cy="274320"/>
          </a:xfrm>
          <a:prstGeom prst="rect">
            <a:avLst/>
          </a:prstGeom>
          <a:noFill/>
          <a:ln/>
        </p:spPr>
        <p:txBody>
          <a:bodyPr wrap="square" rtlCol="0" anchor="ctr"/>
          <a:lstStyle/>
          <a:p>
            <a:pPr marL="0" indent="0" algn="l">
              <a:buNone/>
            </a:pPr>
            <a:endParaRPr lang="en-US" sz="900" dirty="0"/>
          </a:p>
        </p:txBody>
      </p:sp>
      <p:sp>
        <p:nvSpPr>
          <p:cNvPr id="20" name="Text 15"/>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8892C4"/>
                </a:solidFill>
                <a:latin typeface="Calibri" pitchFamily="34" charset="0"/>
                <a:ea typeface="Calibri" pitchFamily="34" charset="-122"/>
                <a:cs typeface="Calibri" pitchFamily="34" charset="-120"/>
              </a:rPr>
              <a:t>13</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WRAP UP</a:t>
            </a:r>
            <a:endParaRPr lang="en-US" sz="13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Conclusion</a:t>
            </a:r>
            <a:endParaRPr lang="en-US" sz="3000" dirty="0"/>
          </a:p>
        </p:txBody>
      </p:sp>
      <p:sp>
        <p:nvSpPr>
          <p:cNvPr id="4" name="Text 2"/>
          <p:cNvSpPr/>
          <p:nvPr/>
        </p:nvSpPr>
        <p:spPr>
          <a:xfrm>
            <a:off x="548640" y="1691640"/>
            <a:ext cx="5852160" cy="2103120"/>
          </a:xfrm>
          <a:prstGeom prst="rect">
            <a:avLst/>
          </a:prstGeom>
          <a:noFill/>
          <a:ln/>
        </p:spPr>
        <p:txBody>
          <a:bodyPr wrap="square" rtlCol="0" anchor="t"/>
          <a:lstStyle/>
          <a:p>
            <a:pPr marL="0" indent="0">
              <a:lnSpc>
                <a:spcPct val="130000"/>
              </a:lnSpc>
              <a:buNone/>
            </a:pPr>
            <a:r>
              <a:rPr lang="en-US" sz="1450" dirty="0">
                <a:solidFill>
                  <a:srgbClr val="1B1F3B"/>
                </a:solidFill>
                <a:latin typeface="Calibri" pitchFamily="34" charset="0"/>
                <a:ea typeface="Calibri" pitchFamily="34" charset="-122"/>
                <a:cs typeface="Calibri" pitchFamily="34" charset="-120"/>
              </a:rPr>
              <a:t>Subscription Manager is a substantial Java Swing desktop application combining subscription tracking, budgeting, authentication, local persistence and administrative functionality — built around an abstract Subscription model with concrete monthly and annual implementations.</a:t>
            </a:r>
            <a:endParaRPr lang="en-US" sz="1450" dirty="0"/>
          </a:p>
        </p:txBody>
      </p:sp>
      <p:sp>
        <p:nvSpPr>
          <p:cNvPr id="5" name="Text 3"/>
          <p:cNvSpPr/>
          <p:nvPr/>
        </p:nvSpPr>
        <p:spPr>
          <a:xfrm>
            <a:off x="548640" y="3794760"/>
            <a:ext cx="5852160" cy="1828800"/>
          </a:xfrm>
          <a:prstGeom prst="rect">
            <a:avLst/>
          </a:prstGeom>
          <a:noFill/>
          <a:ln/>
        </p:spPr>
        <p:txBody>
          <a:bodyPr wrap="square" rtlCol="0" anchor="t"/>
          <a:lstStyle/>
          <a:p>
            <a:pPr marL="0" indent="0">
              <a:lnSpc>
                <a:spcPct val="130000"/>
              </a:lnSpc>
              <a:buNone/>
            </a:pPr>
            <a:r>
              <a:rPr lang="en-US" sz="1450" dirty="0">
                <a:solidFill>
                  <a:srgbClr val="1B1F3B"/>
                </a:solidFill>
                <a:latin typeface="Calibri" pitchFamily="34" charset="0"/>
                <a:ea typeface="Calibri" pitchFamily="34" charset="-122"/>
                <a:cs typeface="Calibri" pitchFamily="34" charset="-120"/>
              </a:rPr>
              <a:t>It demonstrates abstraction, inheritance, polymorphism, encapsulation, interface implementation, constructor overloading and method overriding — all connected to real calculations, file persistence, and an event-driven Swing interface.</a:t>
            </a:r>
            <a:endParaRPr lang="en-US" sz="1450" dirty="0"/>
          </a:p>
        </p:txBody>
      </p:sp>
      <p:sp>
        <p:nvSpPr>
          <p:cNvPr id="6" name="Shape 4"/>
          <p:cNvSpPr/>
          <p:nvPr/>
        </p:nvSpPr>
        <p:spPr>
          <a:xfrm>
            <a:off x="6766560" y="1691640"/>
            <a:ext cx="4846320" cy="3931920"/>
          </a:xfrm>
          <a:prstGeom prst="roundRect">
            <a:avLst>
              <a:gd name="adj" fmla="val 2326"/>
            </a:avLst>
          </a:prstGeom>
          <a:solidFill>
            <a:srgbClr val="F4F7FD"/>
          </a:solidFill>
          <a:ln/>
        </p:spPr>
        <p:txBody>
          <a:bodyPr/>
          <a:lstStyle/>
          <a:p>
            <a:endParaRPr lang="en-US"/>
          </a:p>
        </p:txBody>
      </p:sp>
      <p:sp>
        <p:nvSpPr>
          <p:cNvPr id="7" name="Text 5"/>
          <p:cNvSpPr/>
          <p:nvPr/>
        </p:nvSpPr>
        <p:spPr>
          <a:xfrm>
            <a:off x="7040880" y="1920240"/>
            <a:ext cx="438912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Final Assessment</a:t>
            </a:r>
            <a:endParaRPr lang="en-US" sz="1400" dirty="0"/>
          </a:p>
        </p:txBody>
      </p:sp>
      <p:sp>
        <p:nvSpPr>
          <p:cNvPr id="8" name="Text 6"/>
          <p:cNvSpPr/>
          <p:nvPr/>
        </p:nvSpPr>
        <p:spPr>
          <a:xfrm>
            <a:off x="7040880" y="2423160"/>
            <a:ext cx="1463040" cy="502920"/>
          </a:xfrm>
          <a:prstGeom prst="rect">
            <a:avLst/>
          </a:prstGeom>
          <a:noFill/>
          <a:ln/>
        </p:spPr>
        <p:txBody>
          <a:bodyPr wrap="square" rtlCol="0" anchor="t"/>
          <a:lstStyle/>
          <a:p>
            <a:pPr marL="0" indent="0">
              <a:buNone/>
            </a:pPr>
            <a:r>
              <a:rPr lang="en-US" sz="1150" b="1" dirty="0">
                <a:solidFill>
                  <a:srgbClr val="1E2761"/>
                </a:solidFill>
                <a:latin typeface="Calibri" pitchFamily="34" charset="0"/>
                <a:ea typeface="Calibri" pitchFamily="34" charset="-122"/>
                <a:cs typeface="Calibri" pitchFamily="34" charset="-120"/>
              </a:rPr>
              <a:t>OOP</a:t>
            </a:r>
            <a:endParaRPr lang="en-US" sz="1150" dirty="0"/>
          </a:p>
        </p:txBody>
      </p:sp>
      <p:sp>
        <p:nvSpPr>
          <p:cNvPr id="9" name="Text 7"/>
          <p:cNvSpPr/>
          <p:nvPr/>
        </p:nvSpPr>
        <p:spPr>
          <a:xfrm>
            <a:off x="8503920" y="2423160"/>
            <a:ext cx="2926080" cy="502920"/>
          </a:xfrm>
          <a:prstGeom prst="rect">
            <a:avLst/>
          </a:prstGeom>
          <a:noFill/>
          <a:ln/>
        </p:spPr>
        <p:txBody>
          <a:bodyPr wrap="square" rtlCol="0" anchor="t"/>
          <a:lstStyle/>
          <a:p>
            <a:pPr marL="0" indent="0">
              <a:buNone/>
            </a:pPr>
            <a:r>
              <a:rPr lang="en-US" sz="1050" dirty="0">
                <a:solidFill>
                  <a:srgbClr val="5B6584"/>
                </a:solidFill>
                <a:latin typeface="Calibri" pitchFamily="34" charset="0"/>
                <a:ea typeface="Calibri" pitchFamily="34" charset="-122"/>
                <a:cs typeface="Calibri" pitchFamily="34" charset="-120"/>
              </a:rPr>
              <a:t>Strong integration into real workflows</a:t>
            </a:r>
            <a:endParaRPr lang="en-US" sz="1050" dirty="0"/>
          </a:p>
        </p:txBody>
      </p:sp>
      <p:sp>
        <p:nvSpPr>
          <p:cNvPr id="10" name="Text 8"/>
          <p:cNvSpPr/>
          <p:nvPr/>
        </p:nvSpPr>
        <p:spPr>
          <a:xfrm>
            <a:off x="7040880" y="3044952"/>
            <a:ext cx="1463040" cy="502920"/>
          </a:xfrm>
          <a:prstGeom prst="rect">
            <a:avLst/>
          </a:prstGeom>
          <a:noFill/>
          <a:ln/>
        </p:spPr>
        <p:txBody>
          <a:bodyPr wrap="square" rtlCol="0" anchor="t"/>
          <a:lstStyle/>
          <a:p>
            <a:pPr marL="0" indent="0">
              <a:buNone/>
            </a:pPr>
            <a:r>
              <a:rPr lang="en-US" sz="1150" b="1" dirty="0">
                <a:solidFill>
                  <a:srgbClr val="1E2761"/>
                </a:solidFill>
                <a:latin typeface="Calibri" pitchFamily="34" charset="0"/>
                <a:ea typeface="Calibri" pitchFamily="34" charset="-122"/>
                <a:cs typeface="Calibri" pitchFamily="34" charset="-120"/>
              </a:rPr>
              <a:t>GUI</a:t>
            </a:r>
            <a:endParaRPr lang="en-US" sz="1150" dirty="0"/>
          </a:p>
        </p:txBody>
      </p:sp>
      <p:sp>
        <p:nvSpPr>
          <p:cNvPr id="11" name="Text 9"/>
          <p:cNvSpPr/>
          <p:nvPr/>
        </p:nvSpPr>
        <p:spPr>
          <a:xfrm>
            <a:off x="8503920" y="3044952"/>
            <a:ext cx="2926080" cy="502920"/>
          </a:xfrm>
          <a:prstGeom prst="rect">
            <a:avLst/>
          </a:prstGeom>
          <a:noFill/>
          <a:ln/>
        </p:spPr>
        <p:txBody>
          <a:bodyPr wrap="square" rtlCol="0" anchor="t"/>
          <a:lstStyle/>
          <a:p>
            <a:pPr marL="0" indent="0">
              <a:buNone/>
            </a:pPr>
            <a:r>
              <a:rPr lang="en-US" sz="1050" dirty="0">
                <a:solidFill>
                  <a:srgbClr val="5B6584"/>
                </a:solidFill>
                <a:latin typeface="Calibri" pitchFamily="34" charset="0"/>
                <a:ea typeface="Calibri" pitchFamily="34" charset="-122"/>
                <a:cs typeface="Calibri" pitchFamily="34" charset="-120"/>
              </a:rPr>
              <a:t>Broad Swing interface coverage</a:t>
            </a:r>
            <a:endParaRPr lang="en-US" sz="1050" dirty="0"/>
          </a:p>
        </p:txBody>
      </p:sp>
      <p:sp>
        <p:nvSpPr>
          <p:cNvPr id="12" name="Text 10"/>
          <p:cNvSpPr/>
          <p:nvPr/>
        </p:nvSpPr>
        <p:spPr>
          <a:xfrm>
            <a:off x="7040880" y="3666744"/>
            <a:ext cx="1463040" cy="502920"/>
          </a:xfrm>
          <a:prstGeom prst="rect">
            <a:avLst/>
          </a:prstGeom>
          <a:noFill/>
          <a:ln/>
        </p:spPr>
        <p:txBody>
          <a:bodyPr wrap="square" rtlCol="0" anchor="t"/>
          <a:lstStyle/>
          <a:p>
            <a:pPr marL="0" indent="0">
              <a:buNone/>
            </a:pPr>
            <a:r>
              <a:rPr lang="en-US" sz="1150" b="1" dirty="0">
                <a:solidFill>
                  <a:srgbClr val="1E2761"/>
                </a:solidFill>
                <a:latin typeface="Calibri" pitchFamily="34" charset="0"/>
                <a:ea typeface="Calibri" pitchFamily="34" charset="-122"/>
                <a:cs typeface="Calibri" pitchFamily="34" charset="-120"/>
              </a:rPr>
              <a:t>Persistence</a:t>
            </a:r>
            <a:endParaRPr lang="en-US" sz="1150" dirty="0"/>
          </a:p>
        </p:txBody>
      </p:sp>
      <p:sp>
        <p:nvSpPr>
          <p:cNvPr id="13" name="Text 11"/>
          <p:cNvSpPr/>
          <p:nvPr/>
        </p:nvSpPr>
        <p:spPr>
          <a:xfrm>
            <a:off x="8503920" y="3666744"/>
            <a:ext cx="2926080" cy="502920"/>
          </a:xfrm>
          <a:prstGeom prst="rect">
            <a:avLst/>
          </a:prstGeom>
          <a:noFill/>
          <a:ln/>
        </p:spPr>
        <p:txBody>
          <a:bodyPr wrap="square" rtlCol="0" anchor="t"/>
          <a:lstStyle/>
          <a:p>
            <a:pPr marL="0" indent="0">
              <a:buNone/>
            </a:pPr>
            <a:r>
              <a:rPr lang="en-US" sz="1050" dirty="0">
                <a:solidFill>
                  <a:srgbClr val="5B6584"/>
                </a:solidFill>
                <a:latin typeface="Calibri" pitchFamily="34" charset="0"/>
                <a:ea typeface="Calibri" pitchFamily="34" charset="-122"/>
                <a:cs typeface="Calibri" pitchFamily="34" charset="-120"/>
              </a:rPr>
              <a:t>Functional local file-based storage</a:t>
            </a:r>
            <a:endParaRPr lang="en-US" sz="1050" dirty="0"/>
          </a:p>
        </p:txBody>
      </p:sp>
      <p:sp>
        <p:nvSpPr>
          <p:cNvPr id="14" name="Text 12"/>
          <p:cNvSpPr/>
          <p:nvPr/>
        </p:nvSpPr>
        <p:spPr>
          <a:xfrm>
            <a:off x="7040880" y="4288536"/>
            <a:ext cx="1463040" cy="502920"/>
          </a:xfrm>
          <a:prstGeom prst="rect">
            <a:avLst/>
          </a:prstGeom>
          <a:noFill/>
          <a:ln/>
        </p:spPr>
        <p:txBody>
          <a:bodyPr wrap="square" rtlCol="0" anchor="t"/>
          <a:lstStyle/>
          <a:p>
            <a:pPr marL="0" indent="0">
              <a:buNone/>
            </a:pPr>
            <a:r>
              <a:rPr lang="en-US" sz="1150" b="1" dirty="0">
                <a:solidFill>
                  <a:srgbClr val="1E2761"/>
                </a:solidFill>
                <a:latin typeface="Calibri" pitchFamily="34" charset="0"/>
                <a:ea typeface="Calibri" pitchFamily="34" charset="-122"/>
                <a:cs typeface="Calibri" pitchFamily="34" charset="-120"/>
              </a:rPr>
              <a:t>Security</a:t>
            </a:r>
            <a:endParaRPr lang="en-US" sz="1150" dirty="0"/>
          </a:p>
        </p:txBody>
      </p:sp>
      <p:sp>
        <p:nvSpPr>
          <p:cNvPr id="15" name="Text 13"/>
          <p:cNvSpPr/>
          <p:nvPr/>
        </p:nvSpPr>
        <p:spPr>
          <a:xfrm>
            <a:off x="8503920" y="4288536"/>
            <a:ext cx="2926080" cy="502920"/>
          </a:xfrm>
          <a:prstGeom prst="rect">
            <a:avLst/>
          </a:prstGeom>
          <a:noFill/>
          <a:ln/>
        </p:spPr>
        <p:txBody>
          <a:bodyPr wrap="square" rtlCol="0" anchor="t"/>
          <a:lstStyle/>
          <a:p>
            <a:pPr marL="0" indent="0">
              <a:buNone/>
            </a:pPr>
            <a:r>
              <a:rPr lang="en-US" sz="1050" dirty="0">
                <a:solidFill>
                  <a:srgbClr val="5B6584"/>
                </a:solidFill>
                <a:latin typeface="Calibri" pitchFamily="34" charset="0"/>
                <a:ea typeface="Calibri" pitchFamily="34" charset="-122"/>
                <a:cs typeface="Calibri" pitchFamily="34" charset="-120"/>
              </a:rPr>
              <a:t>Basic controls; hashing needs work</a:t>
            </a:r>
            <a:endParaRPr lang="en-US" sz="1050" dirty="0"/>
          </a:p>
        </p:txBody>
      </p:sp>
      <p:sp>
        <p:nvSpPr>
          <p:cNvPr id="16" name="Text 14"/>
          <p:cNvSpPr/>
          <p:nvPr/>
        </p:nvSpPr>
        <p:spPr>
          <a:xfrm>
            <a:off x="7040880" y="4910328"/>
            <a:ext cx="1463040" cy="502920"/>
          </a:xfrm>
          <a:prstGeom prst="rect">
            <a:avLst/>
          </a:prstGeom>
          <a:noFill/>
          <a:ln/>
        </p:spPr>
        <p:txBody>
          <a:bodyPr wrap="square" rtlCol="0" anchor="t"/>
          <a:lstStyle/>
          <a:p>
            <a:pPr marL="0" indent="0">
              <a:buNone/>
            </a:pPr>
            <a:r>
              <a:rPr lang="en-US" sz="1150" b="1" dirty="0">
                <a:solidFill>
                  <a:srgbClr val="1E2761"/>
                </a:solidFill>
                <a:latin typeface="Calibri" pitchFamily="34" charset="0"/>
                <a:ea typeface="Calibri" pitchFamily="34" charset="-122"/>
                <a:cs typeface="Calibri" pitchFamily="34" charset="-120"/>
              </a:rPr>
              <a:t>Testing</a:t>
            </a:r>
            <a:endParaRPr lang="en-US" sz="1150" dirty="0"/>
          </a:p>
        </p:txBody>
      </p:sp>
      <p:sp>
        <p:nvSpPr>
          <p:cNvPr id="17" name="Text 15"/>
          <p:cNvSpPr/>
          <p:nvPr/>
        </p:nvSpPr>
        <p:spPr>
          <a:xfrm>
            <a:off x="8503920" y="4910328"/>
            <a:ext cx="2926080" cy="502920"/>
          </a:xfrm>
          <a:prstGeom prst="rect">
            <a:avLst/>
          </a:prstGeom>
          <a:noFill/>
          <a:ln/>
        </p:spPr>
        <p:txBody>
          <a:bodyPr wrap="square" rtlCol="0" anchor="t"/>
          <a:lstStyle/>
          <a:p>
            <a:pPr marL="0" indent="0">
              <a:buNone/>
            </a:pPr>
            <a:r>
              <a:rPr lang="en-US" sz="1050" dirty="0">
                <a:solidFill>
                  <a:srgbClr val="5B6584"/>
                </a:solidFill>
                <a:latin typeface="Calibri" pitchFamily="34" charset="0"/>
                <a:ea typeface="Calibri" pitchFamily="34" charset="-122"/>
                <a:cs typeface="Calibri" pitchFamily="34" charset="-120"/>
              </a:rPr>
              <a:t>No automated test suite supplied</a:t>
            </a:r>
            <a:endParaRPr lang="en-US" sz="1050" dirty="0"/>
          </a:p>
        </p:txBody>
      </p:sp>
      <p:sp>
        <p:nvSpPr>
          <p:cNvPr id="18" name="Text 16"/>
          <p:cNvSpPr/>
          <p:nvPr/>
        </p:nvSpPr>
        <p:spPr>
          <a:xfrm>
            <a:off x="457200" y="6473952"/>
            <a:ext cx="7315200" cy="274320"/>
          </a:xfrm>
          <a:prstGeom prst="rect">
            <a:avLst/>
          </a:prstGeom>
          <a:noFill/>
          <a:ln/>
        </p:spPr>
        <p:txBody>
          <a:bodyPr wrap="square" rtlCol="0" anchor="ctr"/>
          <a:lstStyle/>
          <a:p>
            <a:pPr marL="0" indent="0" algn="l">
              <a:buNone/>
            </a:pPr>
            <a:endParaRPr lang="en-US" sz="900" dirty="0"/>
          </a:p>
        </p:txBody>
      </p:sp>
      <p:sp>
        <p:nvSpPr>
          <p:cNvPr id="19" name="Text 17"/>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14</a:t>
            </a:r>
            <a:endParaRPr lang="en-US" sz="9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71C364-9929-42B6-9B64-848939228A7F}"/>
              </a:ext>
            </a:extLst>
          </p:cNvPr>
          <p:cNvSpPr txBox="1"/>
          <p:nvPr/>
        </p:nvSpPr>
        <p:spPr>
          <a:xfrm>
            <a:off x="4796118" y="2875002"/>
            <a:ext cx="5934635" cy="553998"/>
          </a:xfrm>
          <a:prstGeom prst="rect">
            <a:avLst/>
          </a:prstGeom>
          <a:noFill/>
        </p:spPr>
        <p:txBody>
          <a:bodyPr wrap="square" rtlCol="0">
            <a:spAutoFit/>
          </a:bodyPr>
          <a:lstStyle/>
          <a:p>
            <a:r>
              <a:rPr lang="en-US" sz="3000" b="1" dirty="0">
                <a:latin typeface="Times New Roman" panose="02020603050405020304" pitchFamily="18" charset="0"/>
                <a:cs typeface="Times New Roman" panose="02020603050405020304" pitchFamily="18" charset="0"/>
              </a:rPr>
              <a:t>THANK YOU </a:t>
            </a:r>
            <a:r>
              <a:rPr lang="en-US" sz="1500" b="1" dirty="0">
                <a:latin typeface="Times New Roman" panose="02020603050405020304" pitchFamily="18" charset="0"/>
                <a:cs typeface="Times New Roman" panose="02020603050405020304" pitchFamily="18" charset="0"/>
              </a:rPr>
              <a:t>Everyon</a:t>
            </a:r>
            <a:r>
              <a:rPr lang="en-US" sz="1300" b="1" dirty="0">
                <a:latin typeface="Times New Roman" panose="02020603050405020304" pitchFamily="18" charset="0"/>
                <a:cs typeface="Times New Roman" panose="02020603050405020304" pitchFamily="18" charset="0"/>
              </a:rPr>
              <a:t>e</a:t>
            </a:r>
            <a:endParaRPr lang="en-US" sz="3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17149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Wisp">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142</TotalTime>
  <Words>911</Words>
  <Application>Microsoft Office PowerPoint</Application>
  <PresentationFormat>Widescreen</PresentationFormat>
  <Paragraphs>244</Paragraphs>
  <Slides>21</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Cambria</vt:lpstr>
      <vt:lpstr>Century Gothic</vt:lpstr>
      <vt:lpstr>Times New Roman</vt:lpstr>
      <vt:lpstr>Wingdings 3</vt:lpstr>
      <vt:lpstr>Wisp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Raiyan Choudhury</cp:lastModifiedBy>
  <cp:revision>4</cp:revision>
  <dcterms:created xsi:type="dcterms:W3CDTF">2026-08-15T19:52:56Z</dcterms:created>
  <dcterms:modified xsi:type="dcterms:W3CDTF">2026-08-18T04:04:34Z</dcterms:modified>
</cp:coreProperties>
</file>